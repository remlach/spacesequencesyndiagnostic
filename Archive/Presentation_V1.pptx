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100" Type="http://schemas.openxmlformats.org/officeDocument/2006/relationships/viewProps" Target="viewProps.xml" /><Relationship Id="rId99" Type="http://schemas.openxmlformats.org/officeDocument/2006/relationships/presProps" Target="presProps.xml" /><Relationship Id="rId1" Type="http://schemas.openxmlformats.org/officeDocument/2006/relationships/slideMaster" Target="slideMasters/slideMaster1.xml" /><Relationship Id="rId102" Type="http://schemas.openxmlformats.org/officeDocument/2006/relationships/tableStyles" Target="tableStyles.xml" /><Relationship Id="rId10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p5xsd/files/osfstorage"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4.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5.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6.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9.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0.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3.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4.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7.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8.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9.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0.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1.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5.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6.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7.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8.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0.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1.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2.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3.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4.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5.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6.png"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7.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8.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9.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0.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1.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2.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3.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4.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5.png"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6.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7.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8.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9.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0.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1.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2.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3.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4.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5.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6.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Untitled</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RL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From: </a:t>
            </a:r>
            <a:r>
              <a:rPr>
                <a:hlinkClick r:id="rId2"/>
              </a:rPr>
              <a:t>https://osf.io/p5xsd/files/osfstorage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0. Load and prepare data</a:t>
            </a:r>
          </a:p>
        </p:txBody>
      </p:sp>
      <p:sp>
        <p:nvSpPr>
          <p:cNvPr id="3" name="Content Placeholder 2"/>
          <p:cNvSpPr>
            <a:spLocks noGrp="1"/>
          </p:cNvSpPr>
          <p:nvPr>
            <p:ph idx="1"/>
          </p:nvPr>
        </p:nvSpPr>
        <p:spPr/>
        <p:txBody>
          <a:bodyPr/>
          <a:lstStyle/>
          <a:p>
            <a:pPr lvl="0" indent="0" marL="0">
              <a:spcBef>
                <a:spcPts val="3000"/>
              </a:spcBef>
              <a:buNone/>
            </a:pPr>
            <a:r>
              <a:rPr b="1"/>
              <a:t>0.1 Load data:</a:t>
            </a:r>
          </a:p>
          <a:p>
            <a:pPr lvl="0" indent="0" marL="0">
              <a:buNone/>
            </a:pPr>
            <a:r>
              <a:rPr/>
              <a:t>The permutation takes to long to allow for re-computing the code each time, so load it:</a:t>
            </a:r>
          </a:p>
          <a:p>
            <a:pPr lvl="0" indent="0" marL="0">
              <a:spcBef>
                <a:spcPts val="3000"/>
              </a:spcBef>
              <a:buNone/>
            </a:pPr>
            <a:r>
              <a:rPr b="1"/>
              <a:t>0.1.1. Ward Data</a:t>
            </a:r>
          </a:p>
          <a:p>
            <a:pPr lvl="0" indent="0" marL="0">
              <a:spcBef>
                <a:spcPts val="3000"/>
              </a:spcBef>
              <a:buNone/>
            </a:pPr>
            <a:r>
              <a:rPr b="1"/>
              <a:t>0.1.1. Rothen Data</a:t>
            </a:r>
          </a:p>
          <a:p>
            <a:pPr lvl="0" indent="0" marL="0">
              <a:spcBef>
                <a:spcPts val="3000"/>
              </a:spcBef>
              <a:buNone/>
            </a:pPr>
            <a:r>
              <a:rPr b="1"/>
              <a:t>0.1.2. Rename variables to match datasets</a:t>
            </a:r>
          </a:p>
          <a:p>
            <a:pPr lvl="0" indent="0" marL="0">
              <a:spcBef>
                <a:spcPts val="3000"/>
              </a:spcBef>
              <a:buNone/>
            </a:pPr>
            <a:r>
              <a:rPr b="1"/>
              <a:t>0.2 Merge data:</a:t>
            </a:r>
          </a:p>
          <a:p>
            <a:pPr lvl="0" indent="0" marL="0">
              <a:spcBef>
                <a:spcPts val="3000"/>
              </a:spcBef>
              <a:buNone/>
            </a:pPr>
            <a:r>
              <a:rPr b="1"/>
              <a:t>0.3 Wrangle dataset</a:t>
            </a:r>
          </a:p>
          <a:p>
            <a:pPr lvl="0" indent="0" marL="0">
              <a:spcBef>
                <a:spcPts val="3000"/>
              </a:spcBef>
              <a:buNone/>
            </a:pPr>
            <a:r>
              <a:rPr b="1"/>
              <a:t>0.4 Filter ID’s</a:t>
            </a:r>
          </a:p>
          <a:p>
            <a:pPr lvl="0" indent="0" marL="0">
              <a:spcBef>
                <a:spcPts val="3000"/>
              </a:spcBef>
              <a:buNone/>
            </a:pPr>
            <a:r>
              <a:rPr b="1"/>
              <a:t>0.4 Standardize/scale coordinates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Compute Consistency: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Calculating consistency Each stimulus is represented by three xy coordinates - (x1, y1), (x2, y2), (x3, y3) - from the three repetitions. For each stimulus, the area of the triangle bounded by the coordinates is calculated as follows:</a:t>
                </a:r>
              </a:p>
              <a:p>
                <a:pPr lvl="0" indent="0" marL="0">
                  <a:buNone/>
                </a:pPr>
                <a14:m>
                  <m:oMath xmlns:m="http://schemas.openxmlformats.org/officeDocument/2006/math">
                    <m:r>
                      <m:t>A</m:t>
                    </m:r>
                    <m:r>
                      <m:t>r</m:t>
                    </m:r>
                    <m:r>
                      <m:t>e</m:t>
                    </m:r>
                    <m:r>
                      <m:t>a</m:t>
                    </m:r>
                    <m:r>
                      <m:rPr>
                        <m:sty m:val="p"/>
                      </m:rPr>
                      <m:t>=</m:t>
                    </m:r>
                    <m:d>
                      <m:dPr>
                        <m:begChr m:val="("/>
                        <m:endChr m:val=")"/>
                        <m:sepChr m:val=""/>
                        <m:grow/>
                      </m:dPr>
                      <m:e>
                        <m:r>
                          <m:t>x</m:t>
                        </m:r>
                        <m:r>
                          <m:t>1</m:t>
                        </m:r>
                        <m:r>
                          <m:t>y</m:t>
                        </m:r>
                        <m:r>
                          <m:t>2</m:t>
                        </m:r>
                        <m:r>
                          <m:rPr>
                            <m:sty m:val="p"/>
                          </m:rPr>
                          <m:t>+</m:t>
                        </m:r>
                        <m:r>
                          <m:t>x</m:t>
                        </m:r>
                        <m:r>
                          <m:t>2</m:t>
                        </m:r>
                        <m:r>
                          <m:t>y</m:t>
                        </m:r>
                        <m:r>
                          <m:t>3</m:t>
                        </m:r>
                        <m:r>
                          <m:rPr>
                            <m:sty m:val="p"/>
                          </m:rPr>
                          <m:t>+</m:t>
                        </m:r>
                        <m:r>
                          <m:t>x</m:t>
                        </m:r>
                        <m:r>
                          <m:t>3</m:t>
                        </m:r>
                        <m:r>
                          <m:t>y</m:t>
                        </m:r>
                        <m:r>
                          <m:t>1</m:t>
                        </m:r>
                        <m:r>
                          <m:rPr>
                            <m:sty m:val="p"/>
                          </m:rPr>
                          <m:t>–</m:t>
                        </m:r>
                        <m:r>
                          <m:t>x</m:t>
                        </m:r>
                        <m:r>
                          <m:t>1</m:t>
                        </m:r>
                        <m:r>
                          <m:t>y</m:t>
                        </m:r>
                        <m:r>
                          <m:t>3</m:t>
                        </m:r>
                        <m:r>
                          <m:rPr>
                            <m:sty m:val="p"/>
                          </m:rPr>
                          <m:t>–</m:t>
                        </m:r>
                        <m:r>
                          <m:t>x</m:t>
                        </m:r>
                        <m:r>
                          <m:t>2</m:t>
                        </m:r>
                        <m:r>
                          <m:t>y</m:t>
                        </m:r>
                        <m:r>
                          <m:t>1</m:t>
                        </m:r>
                        <m:r>
                          <m:rPr>
                            <m:sty m:val="p"/>
                          </m:rPr>
                          <m:t>–</m:t>
                        </m:r>
                        <m:r>
                          <m:t>x</m:t>
                        </m:r>
                        <m:r>
                          <m:t>3</m:t>
                        </m:r>
                        <m:r>
                          <m:t>y</m:t>
                        </m:r>
                        <m:r>
                          <m:t>2</m:t>
                        </m:r>
                      </m:e>
                    </m:d>
                    <m:r>
                      <m:rPr>
                        <m:sty m:val="p"/>
                      </m:rPr>
                      <m:t>/</m:t>
                    </m:r>
                    <m:r>
                      <m:t>2</m:t>
                    </m:r>
                  </m:oMath>
                </a14:m>
              </a:p>
              <a:p>
                <a:pPr lvl="0" indent="0" marL="0">
                  <a:buNone/>
                </a:pPr>
                <a:r>
                  <a:rPr/>
                  <a:t>The mean area is calculated by adding together the area for each stimulus and dividing by 29. This unit is transformed into a percentage area taking into account the different pixel resolution of each participant.</a:t>
                </a:r>
                <a:br/>
                <a:r>
                  <a:rPr/>
                  <a:t>Mean area = $(Summed area / 29) * 100 / Screen area $ Where: </a:t>
                </a:r>
                <a14:m>
                  <m:oMath xmlns:m="http://schemas.openxmlformats.org/officeDocument/2006/math">
                    <m:r>
                      <m:t>S</m:t>
                    </m:r>
                    <m:r>
                      <m:t>c</m:t>
                    </m:r>
                    <m:r>
                      <m:t>r</m:t>
                    </m:r>
                    <m:r>
                      <m:t>e</m:t>
                    </m:r>
                    <m:r>
                      <m:t>e</m:t>
                    </m:r>
                    <m:r>
                      <m:t>n</m:t>
                    </m:r>
                    <m:r>
                      <m:t>a</m:t>
                    </m:r>
                    <m:r>
                      <m:t>r</m:t>
                    </m:r>
                    <m:r>
                      <m:t>e</m:t>
                    </m:r>
                    <m:r>
                      <m:t>a</m:t>
                    </m:r>
                    <m:r>
                      <m:rPr>
                        <m:sty m:val="p"/>
                      </m:rPr>
                      <m:t>=</m:t>
                    </m:r>
                    <m:r>
                      <m:t>X</m:t>
                    </m:r>
                    <m:r>
                      <m:t>p</m:t>
                    </m:r>
                    <m:r>
                      <m:t>i</m:t>
                    </m:r>
                    <m:r>
                      <m:t>x</m:t>
                    </m:r>
                    <m:r>
                      <m:t>e</m:t>
                    </m:r>
                    <m:r>
                      <m:t>l</m:t>
                    </m:r>
                    <m:r>
                      <m:t>s</m:t>
                    </m:r>
                    <m:r>
                      <m:rPr>
                        <m:sty m:val="p"/>
                      </m:rPr>
                      <m:t>*</m:t>
                    </m:r>
                    <m:r>
                      <m:t>Y</m:t>
                    </m:r>
                    <m:r>
                      <m:t>p</m:t>
                    </m:r>
                    <m:r>
                      <m:t>i</m:t>
                    </m:r>
                    <m:r>
                      <m:t>x</m:t>
                    </m:r>
                    <m:r>
                      <m:t>e</m:t>
                    </m:r>
                    <m:r>
                      <m:t>l</m:t>
                    </m:r>
                    <m:r>
                      <m:t>s</m:t>
                    </m:r>
                  </m:oMath>
                </a14:m>
              </a:p>
              <a:p>
                <a:pPr lvl="0" indent="0" marL="0">
                  <a:buNone/>
                </a:pPr>
                <a:r>
                  <a:rPr i="1"/>
                  <a:t>Note: 29 since 29 stimuli</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Compute Permuted consistency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Replicate Rothen methods. Might take some time to compute.</a:t>
                </a:r>
              </a:p>
              <a:p>
                <a:pPr lvl="0" indent="0" marL="0">
                  <a:buNone/>
                </a:pPr>
                <a:r>
                  <a:rPr i="1"/>
                  <a:t>Calculating chance levels of consistency To create permuted datasets for each participant: the 87 xy coordinates are randomly shuffled so they are no longer linked to the original data labels (“Monday”, “5”, “April”, etc.). The mean area of the triangles based on the shuffled coordinates is computed (as described above), and the whole process is repeated 1000 times to obtain a subject-specific distribution of chance levels of consistency. A z-score is calculated comparing the observed consistency against the mean and SD of the permuted data:</a:t>
                </a:r>
              </a:p>
              <a:p>
                <a:pPr lvl="0" indent="0" marL="0">
                  <a:buNone/>
                </a:pPr>
                <a14:m>
                  <m:oMath xmlns:m="http://schemas.openxmlformats.org/officeDocument/2006/math">
                    <m:r>
                      <m:t>Z</m:t>
                    </m:r>
                    <m:r>
                      <m:rPr>
                        <m:sty m:val="p"/>
                      </m:rPr>
                      <m:t>=</m:t>
                    </m:r>
                    <m:d>
                      <m:dPr>
                        <m:begChr m:val="["/>
                        <m:endChr m:val="]"/>
                        <m:sepChr m:val=""/>
                        <m:grow/>
                      </m:dPr>
                      <m:e>
                        <m:d>
                          <m:dPr>
                            <m:begChr m:val="("/>
                            <m:endChr m:val=")"/>
                            <m:sepChr m:val=""/>
                            <m:grow/>
                          </m:dPr>
                          <m:e>
                            <m:r>
                              <m:t>o</m:t>
                            </m:r>
                            <m:r>
                              <m:t>b</m:t>
                            </m:r>
                            <m:r>
                              <m:t>s</m:t>
                            </m:r>
                            <m:r>
                              <m:t>e</m:t>
                            </m:r>
                            <m:r>
                              <m:t>r</m:t>
                            </m:r>
                            <m:r>
                              <m:t>v</m:t>
                            </m:r>
                            <m:r>
                              <m:t>e</m:t>
                            </m:r>
                            <m:r>
                              <m:t>d</m:t>
                            </m:r>
                            <m:r>
                              <m:t>c</m:t>
                            </m:r>
                            <m:r>
                              <m:t>o</m:t>
                            </m:r>
                            <m:r>
                              <m:t>n</m:t>
                            </m:r>
                            <m:r>
                              <m:t>s</m:t>
                            </m:r>
                            <m:r>
                              <m:t>i</m:t>
                            </m:r>
                            <m:r>
                              <m:t>s</m:t>
                            </m:r>
                            <m:r>
                              <m:t>t</m:t>
                            </m:r>
                            <m:r>
                              <m:t>e</m:t>
                            </m:r>
                            <m:r>
                              <m:t>n</m:t>
                            </m:r>
                            <m:r>
                              <m:t>c</m:t>
                            </m:r>
                            <m:r>
                              <m:t>y</m:t>
                            </m:r>
                          </m:e>
                        </m:d>
                        <m:r>
                          <m:rPr>
                            <m:sty m:val="p"/>
                          </m:rPr>
                          <m:t>–</m:t>
                        </m:r>
                        <m:d>
                          <m:dPr>
                            <m:begChr m:val="("/>
                            <m:endChr m:val=")"/>
                            <m:sepChr m:val=""/>
                            <m:grow/>
                          </m:dPr>
                          <m:e>
                            <m:r>
                              <m:t>m</m:t>
                            </m:r>
                            <m:r>
                              <m:t>e</m:t>
                            </m:r>
                            <m:r>
                              <m:t>a</m:t>
                            </m:r>
                            <m:r>
                              <m:t>n</m:t>
                            </m:r>
                            <m:r>
                              <m:t>c</m:t>
                            </m:r>
                            <m:r>
                              <m:t>o</m:t>
                            </m:r>
                            <m:r>
                              <m:t>n</m:t>
                            </m:r>
                            <m:r>
                              <m:t>s</m:t>
                            </m:r>
                            <m:r>
                              <m:t>i</m:t>
                            </m:r>
                            <m:r>
                              <m:t>s</m:t>
                            </m:r>
                            <m:r>
                              <m:t>t</m:t>
                            </m:r>
                            <m:r>
                              <m:t>e</m:t>
                            </m:r>
                            <m:r>
                              <m:t>n</m:t>
                            </m:r>
                            <m:r>
                              <m:t>c</m:t>
                            </m:r>
                            <m:r>
                              <m:t>y</m:t>
                            </m:r>
                            <m:r>
                              <m:t>o</m:t>
                            </m:r>
                            <m:r>
                              <m:t>f</m:t>
                            </m:r>
                            <m:r>
                              <m:t>p</m:t>
                            </m:r>
                            <m:r>
                              <m:t>e</m:t>
                            </m:r>
                            <m:r>
                              <m:t>r</m:t>
                            </m:r>
                            <m:r>
                              <m:t>m</m:t>
                            </m:r>
                            <m:r>
                              <m:t>u</m:t>
                            </m:r>
                            <m:r>
                              <m:t>t</m:t>
                            </m:r>
                            <m:r>
                              <m:t>e</m:t>
                            </m:r>
                            <m:r>
                              <m:t>d</m:t>
                            </m:r>
                            <m:r>
                              <m:t>d</m:t>
                            </m:r>
                            <m:r>
                              <m:t>a</m:t>
                            </m:r>
                            <m:r>
                              <m:t>t</m:t>
                            </m:r>
                            <m:r>
                              <m:t>a</m:t>
                            </m:r>
                          </m:e>
                        </m:d>
                      </m:e>
                    </m:d>
                    <m:r>
                      <m:rPr>
                        <m:sty m:val="p"/>
                      </m:rPr>
                      <m:t>/</m:t>
                    </m:r>
                    <m:d>
                      <m:dPr>
                        <m:begChr m:val="("/>
                        <m:endChr m:val=")"/>
                        <m:sepChr m:val=""/>
                        <m:grow/>
                      </m:dPr>
                      <m:e>
                        <m:r>
                          <m:t>S</m:t>
                        </m:r>
                        <m:r>
                          <m:t>D</m:t>
                        </m:r>
                        <m:r>
                          <m:t>o</m:t>
                        </m:r>
                        <m:r>
                          <m:t>f</m:t>
                        </m:r>
                        <m:r>
                          <m:t>p</m:t>
                        </m:r>
                        <m:r>
                          <m:t>e</m:t>
                        </m:r>
                        <m:r>
                          <m:t>r</m:t>
                        </m:r>
                        <m:r>
                          <m:t>m</m:t>
                        </m:r>
                        <m:r>
                          <m:t>u</m:t>
                        </m:r>
                        <m:r>
                          <m:t>t</m:t>
                        </m:r>
                        <m:r>
                          <m:t>e</m:t>
                        </m:r>
                        <m:r>
                          <m:t>d</m:t>
                        </m:r>
                        <m:r>
                          <m:t>d</m:t>
                        </m:r>
                        <m:r>
                          <m:t>a</m:t>
                        </m:r>
                        <m:r>
                          <m:t>t</m:t>
                        </m:r>
                        <m:r>
                          <m:t>a</m:t>
                        </m:r>
                      </m:e>
                    </m:d>
                  </m:oMath>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Compute SD as in Ward</a:t>
            </a:r>
          </a:p>
        </p:txBody>
      </p:sp>
      <p:sp>
        <p:nvSpPr>
          <p:cNvPr id="3" name="Content Placeholder 2"/>
          <p:cNvSpPr>
            <a:spLocks noGrp="1"/>
          </p:cNvSpPr>
          <p:nvPr>
            <p:ph idx="1"/>
          </p:nvPr>
        </p:nvSpPr>
        <p:spPr/>
        <p:txBody>
          <a:bodyPr/>
          <a:lstStyle/>
          <a:p>
            <a:pPr lvl="0" indent="0" marL="0">
              <a:buNone/>
            </a:pPr>
            <a:r>
              <a:rPr/>
              <a:t>As in Ward:</a:t>
            </a:r>
          </a:p>
          <a:p>
            <a:pPr lvl="0" indent="0" marL="0">
              <a:buNone/>
            </a:pPr>
            <a:r>
              <a:rPr/>
              <a:t>“</a:t>
            </a:r>
            <a:r>
              <a:rPr i="1"/>
              <a:t>Specifically, the standard deviation of the x-coordinates and/or the standard deviation of the y-coordinates (measured across all trials) should exceed a proposed value of 0.075 for a normalized screen with width and height of 1 unit.</a:t>
            </a:r>
            <a:r>
              <a:rPr/>
              <a:t>”</a:t>
            </a:r>
          </a:p>
          <a:p>
            <a:pPr lvl="0" indent="0" marL="0">
              <a:buNone/>
            </a:pPr>
            <a:r>
              <a:rPr/>
              <a:t>“</a:t>
            </a:r>
            <a:r>
              <a:rPr i="1"/>
              <a:t>A participant who produced a horizontal straight-line form would have a very low standard deviation in the y-coordinates but a high standard deviation in x-coordinates, and a participant with a vertical line would have the reverse profile. A participant with a circular spatial form would be high on both. A participant who clicks randomly around the screen would also be high on both x and y standard deviation, but would fail the consistency tests (the triangles would be large).</a:t>
            </a:r>
            <a:r>
              <a:rPr/>
              <a:t>”</a:t>
            </a:r>
          </a:p>
          <a:p>
            <a:pPr lvl="0" indent="0">
              <a:buNone/>
            </a:pPr>
            <a:r>
              <a:rPr>
                <a:latin typeface="Courier"/>
              </a:rPr>
              <a:t>[1] 0.2030271</a:t>
            </a:r>
          </a:p>
          <a:p>
            <a:pPr lvl="0" indent="0">
              <a:buNone/>
            </a:pPr>
            <a:r>
              <a:rPr>
                <a:latin typeface="Courier"/>
              </a:rPr>
              <a:t>[1] 0.2018569</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Compute line intersections</a:t>
            </a:r>
          </a:p>
        </p:txBody>
      </p:sp>
      <p:sp>
        <p:nvSpPr>
          <p:cNvPr id="3" name="Content Placeholder 2"/>
          <p:cNvSpPr>
            <a:spLocks noGrp="1"/>
          </p:cNvSpPr>
          <p:nvPr>
            <p:ph idx="1"/>
          </p:nvPr>
        </p:nvSpPr>
        <p:spPr/>
        <p:txBody>
          <a:bodyPr/>
          <a:lstStyle/>
          <a:p>
            <a:pPr lvl="0" indent="0" marL="0">
              <a:buNone/>
            </a:pPr>
            <a:r>
              <a:rPr/>
              <a:t>An idea I have is to look into the lines and order of the forms. I would exclude when lines crosses. (since we expect forms the lines crossing means no form is formed). Needs refinement.</a:t>
            </a:r>
          </a:p>
          <a:p>
            <a:pPr lvl="0" indent="0" marL="0">
              <a:buNone/>
            </a:pPr>
            <a:r>
              <a:rPr/>
              <a:t>I think that the number of stimuli per condition should be taken into account (i.e. 9 numbers, 7 days, 12 months). Hence would need to be divided by this number of stimulus.</a:t>
            </a:r>
          </a:p>
          <a:p>
            <a:pPr lvl="0" indent="0" marL="0">
              <a:buNone/>
            </a:pPr>
            <a:r>
              <a:rPr/>
              <a:t>In each condition the connected x and y generates a segment, hence the number of segment is </a:t>
            </a:r>
            <a:r>
              <a:rPr>
                <a:latin typeface="Courier"/>
              </a:rPr>
              <a:t>length(stimuli)-1</a:t>
            </a:r>
            <a:r>
              <a:rPr/>
              <a:t>. Moreover, currently, each stimuli is connected by 3 segment, one for each (of the 3) repetition. So dividing by 3, we have the average number of segment crossings per condition. Next we sum these for each ID Ideally we should compute the number of crossings across the repetitions, in addition to make it more complex it would also be computationally more demanding, and I don’t believe it would lead to a significant difference.</a:t>
            </a:r>
          </a:p>
          <a:p>
            <a:pPr lvl="0" indent="0" marL="0">
              <a:buNone/>
            </a:pPr>
            <a:r>
              <a:rPr/>
              <a:t>To do: - Maybe the easier would be to have the average number of crossing per segment.</a:t>
            </a:r>
          </a:p>
          <a:p>
            <a:pPr lvl="0" indent="0" marL="0">
              <a:buNone/>
            </a:pPr>
            <a:r>
              <a:rPr/>
              <a:t>IMPORTANT: data frame needs to be informed of stimulus order to make sense!</a:t>
            </a:r>
          </a:p>
          <a:p>
            <a:pPr lvl="0" indent="0" marL="0">
              <a:spcBef>
                <a:spcPts val="3000"/>
              </a:spcBef>
              <a:buNone/>
            </a:pPr>
            <a:r>
              <a:rPr b="1"/>
              <a:t>4.1 Random walk</a:t>
            </a:r>
          </a:p>
          <a:p>
            <a:pPr lvl="0" indent="0" marL="0">
              <a:buNone/>
            </a:pPr>
            <a:r>
              <a:rPr/>
              <a:t>There are thee way of dealing with repetitions: - compute separately the line crossing across repetitions - compute the line crossing as if we had a very long line (i.e. 1_1 -&gt; 2_1 -&gt; 3_1 -&gt; 4_1, … 7_3 -&gt; 8_3 -&gt; 9_3) (_x = repetition). - do a random walk across repetitions. (But I don’t know if it makes any sense practically).</a:t>
            </a:r>
          </a:p>
          <a:p>
            <a:pPr lvl="0" indent="0" marL="0">
              <a:spcBef>
                <a:spcPts val="3000"/>
              </a:spcBef>
              <a:buNone/>
            </a:pPr>
            <a:r>
              <a:rPr b="1"/>
              <a:t>4.2. Line intersections</a:t>
            </a:r>
          </a:p>
          <a:p>
            <a:pPr lvl="0" indent="0" marL="0">
              <a:buNone/>
            </a:pPr>
            <a:r>
              <a:rPr/>
              <a:t>Arbitrary threshold of 0.25.</a:t>
            </a:r>
          </a:p>
          <a:p>
            <a:pPr lvl="0" indent="0" marL="0">
              <a:buNone/>
            </a:pPr>
            <a:r>
              <a:rPr>
                <a:latin typeface="Courier"/>
              </a:rPr>
              <a:t>GA_lineInter</a:t>
            </a:r>
            <a:r>
              <a:rPr/>
              <a:t> is the general average of all repetitions and conditions, of the chances that two segments </a:t>
            </a:r>
            <a:r>
              <a:rPr i="1"/>
              <a:t>within each Condition and repetition</a:t>
            </a:r>
            <a:r>
              <a:rPr/>
              <a:t> would cross. That is, for each IDXConditionXrepetition separatedly, we computed the number of segments that crosses in ordered stimuli (note the number of segment is the number of stimuli - 1), divided by the number of segments. This gives, for each IDXConditionXrepetition separately, the chances that two segments intersect. This chance is then averaged for each ID. This also means that conditions with more stimuli might have smaller averages (?). Could also compute the median.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5. Questionnaire Classification based</a:t>
            </a:r>
          </a:p>
        </p:txBody>
      </p:sp>
      <p:sp>
        <p:nvSpPr>
          <p:cNvPr id="4" name="Text Placeholder 3"/>
          <p:cNvSpPr>
            <a:spLocks noGrp="1"/>
          </p:cNvSpPr>
          <p:nvPr>
            <p:ph idx="2" sz="half" type="body"/>
          </p:nvPr>
        </p:nvSpPr>
        <p:spPr/>
        <p:txBody>
          <a:bodyPr/>
          <a:lstStyle/>
          <a:p>
            <a:pPr lvl="0" indent="0" marL="0">
              <a:buNone/>
            </a:pPr>
            <a:r>
              <a:rPr/>
              <a:t>see ´SynQuest´</a:t>
            </a:r>
          </a:p>
          <a:p>
            <a:pPr lvl="0" indent="0">
              <a:buNone/>
            </a:pPr>
            <a:r>
              <a:rPr>
                <a:latin typeface="Courier"/>
              </a:rPr>
              <a:t>[1] NA</a:t>
            </a:r>
          </a:p>
          <a:p>
            <a:pPr lvl="0" indent="0" marL="0">
              <a:buNone/>
            </a:pPr>
            <a:r>
              <a:rPr/>
              <a:t>With this criteria alone NA % would qualify as 3S</a:t>
            </a:r>
          </a:p>
          <a:p>
            <a:pPr lvl="0" indent="0" marL="0">
              <a:spcBef>
                <a:spcPts val="3000"/>
              </a:spcBef>
              <a:buNone/>
            </a:pPr>
            <a:r>
              <a:rPr b="1"/>
              <a:t>5.2. Consistency</a:t>
            </a:r>
          </a:p>
          <a:p>
            <a:pPr lvl="0" indent="0" marL="0">
              <a:buNone/>
            </a:pPr>
            <a:r>
              <a:rPr/>
              <a:t>see ´SynCons´</a:t>
            </a:r>
          </a:p>
          <a:p>
            <a:pPr lvl="0" indent="0">
              <a:buNone/>
            </a:pPr>
            <a:r>
              <a:rPr>
                <a:latin typeface="Courier"/>
              </a:rPr>
              <a:t>[1] 331</a:t>
            </a:r>
          </a:p>
          <a:p>
            <a:pPr lvl="0" indent="0" marL="0">
              <a:buNone/>
            </a:pPr>
            <a:r>
              <a:rPr/>
              <a:t>With this criteria alone 70.8779443 % would qualify as 3S</a:t>
            </a:r>
          </a:p>
          <a:p>
            <a:pPr lvl="0" indent="0" marL="0">
              <a:spcBef>
                <a:spcPts val="3000"/>
              </a:spcBef>
              <a:buNone/>
            </a:pPr>
            <a:r>
              <a:rPr b="1"/>
              <a:t>5.3. SD</a:t>
            </a:r>
          </a:p>
          <a:p>
            <a:pPr lvl="0" indent="0" marL="0">
              <a:buNone/>
            </a:pPr>
            <a:r>
              <a:rPr/>
              <a:t>With this criteria alone 93.3618844 % would qualify as 3S</a:t>
            </a:r>
          </a:p>
          <a:p>
            <a:pPr lvl="0" indent="0" marL="0">
              <a:spcBef>
                <a:spcPts val="3000"/>
              </a:spcBef>
              <a:buNone/>
            </a:pPr>
            <a:r>
              <a:rPr b="1"/>
              <a:t>5.4. Permuted z-score</a:t>
            </a:r>
          </a:p>
          <a:p>
            <a:pPr lvl="0" indent="0" marL="0">
              <a:buNone/>
            </a:pPr>
            <a:r>
              <a:rPr/>
              <a:t>see ´SynPermzs´</a:t>
            </a:r>
          </a:p>
          <a:p>
            <a:pPr lvl="0" indent="0" marL="0">
              <a:buNone/>
            </a:pPr>
            <a:r>
              <a:rPr/>
              <a:t>Note this might vary due to the randomisation process involved in the permutation. Some sd are 0, leadiong to NaN in the z score. The two additional lines are to take this into account.</a:t>
            </a:r>
          </a:p>
          <a:p>
            <a:pPr lvl="0" indent="0" marL="0">
              <a:buNone/>
            </a:pPr>
            <a:r>
              <a:rPr/>
              <a:t>With this criteria alone 94.6466809 % would qualify as 3S</a:t>
            </a:r>
          </a:p>
          <a:p>
            <a:pPr lvl="0" indent="0" marL="0">
              <a:spcBef>
                <a:spcPts val="3000"/>
              </a:spcBef>
              <a:buNone/>
            </a:pPr>
            <a:r>
              <a:rPr b="1"/>
              <a:t>5.4. Summary plot for each criteria:</a:t>
            </a:r>
          </a:p>
          <a:p>
            <a:pPr lvl="0" indent="0">
              <a:buNone/>
            </a:pPr>
            <a:r>
              <a:rPr>
                <a:latin typeface="Courier"/>
              </a:rPr>
              <a:t>  [1] "1005_SeMi" "101_Elin"  "1025_MaJo" "1027_ReEd" "103_PG"    "10_AS"    
  [7] "1107_GeBe" "1178_AlCa" "1188_MiBo" "1198_LiKe" "1230_FeKe" "12_CH"    
 [13] "13_vz"     "146_ChSa"  "147_MeWi"  "148_KaHe"  "150_AnTa"  "156_LoGr" 
 [19] "157_OlJe"  "158_JuWa"  "160_ToPa"  "161_FrCo"  "1_LD"      "2002_PaKr"
 [25] "2006_MeFu" "2008_SaMa" "2009_YaAh" "2010_SoBr" "2011_CoSc" "2012_FiDo"
 [31] "2013_ChKi" "2014_DeMl" "2015_RhPo" "2016_PaPu" "2017_MaEl" "2018_KaAr"
 [37] "2019_RiDa" "201_PaMi"  "2020_FrHa" "2021_GiBo" "2022_ChPo" "2023_ChHu"
 [43] "202_NiBl"  "204_KaHo"  "205_ZiLi"  "209_LuSm"  "210_ChWa"  "214_ChKw" 
 [49] "214_LuBe"  "215_JaWi"  "217_PhKe"  "219_AlMu"  "28301"     "28307"    
 [55] "28521"     "28563"     "28740"     "28746"     "28777"     "28779"    
 [61] "28796"     "28803"     "29043"     "29048"     "29053"     "29058"    
 [67] "29063"     "29104"     "29119"     "29123"     "29128"     "29134"    
 [73] "29147"     "29151"     "29153"     "29154"     "29157"     "29166"    
 [79] "29172"     "29180"     "29189"     "29195"     "29207"     "29213"    
 [85] "29216"     "29255"     "29289"     "29291"     "29303"     "29306"    
 [91] "29320"     "29324"     "29332"     "29346"     "29352"     "29367"    
 [97] "29395"     "29400"     "29403"     "29408"     "29426"     "29434"    
[103] "29436"     "29457"     "29463"     "29485"     "29489"     "29497"    
[109] "29514"     "29526"     "29530"     "29535"     "29544"     "29548"    
[115] "29571"     "29578"     "29599"     "29704"     "29711"     "29775"    
[121] "29784"     "29818"     "29844"     "29851"     "29863"     "29864"    
[127] "29995"     "30103"     "30159"     "30259"     "30321"     "30642"    
[133] "30648"     "30650"     "30653"     "30658"     "30662"     "30679"    
[139] "30681"     "30686"     "30694"     "30721"     "30756"     "30799"    
[145] "30838"     "30883"     "30889"     "30892"     "30893"     "30900"    
[151] "30937"     "30984"     "31065"     "31076"     "31236"     "31403"    
[157] "31406"     "31795"     "31887"     "33010"     "33160"     "33168"    
[163] "33344"     "33531"     "34096"     "34433"     "34464"     "34469"    
[169] "34732"     "34757"     "35430"     "35556"     "35732"     "36062"    
[175] "36067"     "36096"     "36660"     "36820"     "36828"     "36911"    
[181] "36918"     "37578"     "38175"     "38176"     "38626"     "38637"    
[187] "38750"     "38791"     "38815"     "38822"     "38908"     "39188"    
[193] "39200"     "39208"     "39216"     "39217"     "39236"     "39237"    
[199] "39254"     "39266"     "39285"     "39381"     "39386"     "39492"    
[205] "39524"     "3_GA"      "40048"     "40867"     "410_ChAd"  "424_ToWi" 
[211] "42698"     "43416"     "44133"     "44140"     "44183"     "44293"    
[217] "44298"     "44306"     "44307"     "44308"     "44309"     "44341"    
[223] "44347"     "44351"     "44371"     "44415"     "44427"     "44453"    
[229] "44489"     "44540"     "44582"     "44588"     "44589"     "44590"    
[235] "44618"     "44627"     "44666"     "44672"     "44685"     "44695"    
[241] "44731"     "44733"     "44773"     "44784"     "44787"     "44833"    
[247] "44857"     "44871"     "44973"     "45041"     "45043"     "45047"    
[253] "45169"     "45290"     "45292"     "45299"     "45300"     "45363"    
[259] "45369"     "45376"     "45475"     "45714"     "45720"     "45727"    
[265] "45728"     "45731"     "45733"     "45734"     "45736"     "45743"    
[271] "45748"     "45759"     "45760"     "45763"     "45775"     "45776"    
[277] "45782"     "45791"     "45819"     "45829"     "45878"     "45905"    
[283] "45920"     "45948"     "46082"     "46110"     "46125"     "46126"    
[289] "46130"     "46150"     "46214"     "46264"     "46288"     "46293"    
[295] "46299"     "46308"     "46313"     "46315"     "46320"     "46363"    
[301] "46378"     "46419"     "46439"     "46473"     "46555"     "46583"    
[307] "46603"     "46604"     "46613"     "46636"     "46639"     "46693"    
[313] "46706"     "46730"     "46740"     "46742"     "46746"     "46751"    
[319] "46802"     "46811"     "46868"     "47191"     "47246"     "480_BeHe" 
[325] "48114"     "48243"     "48245"     "48249"     "482_MiSa"  "48373"    
[331] "48398"     "48522"     "48587"     "48830"     "48989"     "49011"    
[337] "49326"     "49369"     "49393"     "49395"     "49399"     "49410"    
[343] "49701"     "49733"     "4_JB"      "50392"     "52064"     "52269"    
[349] "52783"     "52960"     "53238"     "53252"     "53284"     "532_DePa" 
[355] "53343"     "53347"     "53351"     "53357"     "53381"     "53417"    
[361] "53432"     "53461"     "53494"     "53535"     "53725"     "53727"    
[367] "53730"     "53732"     "53751"     "53759"     "538_RoBr"  "55397"    
[373] "55459"     "55515"     "55774"     "56173"     "56211"     "593_FrPo" 
[379] "59738"     "59741"     "59742"     "59749"     "59750"     "59752"    
[385] "59774"     "59778"     "59780"     "59785"     "59791"     "59798"    
[391] "59803"     "59808"     "59813"     "59820"     "59830"     "59831"    
[397] "59854"     "60241"     "60242"     "60246"     "60314"     "62624"    
[403] "62777"     "62784"     "62793"     "62797"     "62807"     "62811"    
[409] "62812"     "62816"     "62848"     "62868"     "62874"     "62882"    
[415] "62886"     "62899"     "62934"     "62943"     "63028"     "63127"    
[421] "63156"     "63158"     "63170"     "63233"     "63309"     "63482"    
[427] "63695"     "63742"     "6_gks"     "755_FrIn"  "792_AnMa"  "806_AmSq" 
[433] "867_SaSe"  "887_MaEi"  "896_MaSc"  "933_ClDa" </a:t>
            </a:r>
          </a:p>
          <a:p>
            <a:pPr lvl="0" indent="0">
              <a:buNone/>
            </a:pPr>
            <a:r>
              <a:rPr>
                <a:latin typeface="Courier"/>
              </a:rPr>
              <a:t>  [1] "1005_SeMi" "101_Elin"  "1025_MaJo" "1027_ReEd" "103_PG"    "10_AS"    
  [7] "1107_GeBe" "1178_AlCa" "1188_MiBo" "1198_LiKe" "1230_FeKe" "12_CH"    
 [13] "13_vz"     "146_ChSa"  "147_MeWi"  "148_KaHe"  "149_MaRo"  "150_AnTa" 
 [19] "156_LoGr"  "157_OlJe"  "158_JuWa"  "160_ToPa"  "161_FrCo"  "1_LD"     
 [25] "2002_PaKr" "2006_MeFu" "2008_SaMa" "2009_YaAh" "2010_SoBr" "2011_CoSc"
 [31] "2012_FiDo" "2013_ChKi" "2014_DeMl" "2015_RhPo" "2016_PaPu" "2017_MaEl"
 [37] "2018_KaAr" "2019_RiDa" "201_PaMi"  "2020_FrHa" "2021_GiBo" "2022_ChPo"
 [43] "2023_ChHu" "202_NiBl"  "204_KaHo"  "205_ZiLi"  "209_LuSm"  "210_ChWa" 
 [49] "214_ChKw"  "214_LuBe"  "215_JaWi"  "217_PhKe"  "219_AlMu"  "28301"    
 [55] "28307"     "28521"     "28563"     "28740"     "28746"     "28777"    
 [61] "28779"     "28796"     "28803"     "29043"     "29048"     "29053"    
 [67] "29058"     "29063"     "29104"     "29119"     "29123"     "29128"    
 [73] "29134"     "29147"     "29151"     "29153"     "29154"     "29157"    
 [79] "29166"     "29172"     "29180"     "29189"     "29195"     "29207"    
 [85] "29213"     "29216"     "29255"     "29289"     "29291"     "29303"    
 [91] "29306"     "29320"     "29324"     "29332"     "29346"     "29352"    
 [97] "29367"     "29395"     "29400"     "29403"     "29408"     "29426"    
[103] "29434"     "29436"     "29457"     "29463"     "29485"     "29489"    
[109] "29497"     "29514"     "29526"     "29530"     "29535"     "29544"    
[115] "29548"     "29571"     "29578"     "29599"     "29696"     "29704"    
[121] "29711"     "29775"     "29784"     "29818"     "29844"     "29851"    
[127] "29863"     "29864"     "29995"     "30103"     "30159"     "30259"    
[133] "30321"     "30642"     "30648"     "30650"     "30653"     "30658"    
[139] "30662"     "30679"     "30681"     "30686"     "30694"     "30721"    
[145] "30725"     "30756"     "30799"     "30838"     "30883"     "30889"    
[151] "30892"     "30893"     "30900"     "30937"     "30984"     "31065"    
[157] "31076"     "31236"     "31403"     "31406"     "31561"     "31795"    
[163] "32074"     "32633"     "33010"     "33160"     "33344"     "33531"    
[169] "34096"     "34433"     "34464"     "34469"     "34732"     "35430"    
[175] "35554"     "35992"     "36062"     "36067"     "36196"     "36828"    
[181] "37055"     "37578"     "37652"     "38175"     "38176"     "38444"    
[187] "38637"     "38750"     "38813"     "38815"     "38908"     "39188"    
[193] "39200"     "39208"     "39216"     "39217"     "39236"     "39237"    
[199] "39254"     "39266"     "39285"     "39381"     "39386"     "39492"    
[205] "39524"     "3_GA"      "40048"     "40867"     "410_ChAd"  "424_ToWi" 
[211] "42698"     "43416"     "44133"     "44140"     "44183"     "44293"    
[217] "44296"     "44298"     "44306"     "44307"     "44308"     "44309"    
[223] "44340"     "44341"     "44347"     "44351"     "44371"     "44427"    
[229] "44489"     "44540"     "44582"     "44588"     "44589"     "44590"    
[235] "44618"     "44627"     "44666"     "44672"     "44685"     "44695"    
[241] "44731"     "44733"     "44773"     "44784"     "44787"     "44833"    
[247] "44857"     "44871"     "44956"     "44973"     "45041"     "45043"    
[253] "45047"     "45169"     "45280"     "45290"     "45292"     "45299"    
[259] "45300"     "45369"     "45376"     "45475"     "45714"     "45720"    
[265] "45727"     "45728"     "45731"     "45733"     "45734"     "45736"    
[271] "45743"     "45748"     "45759"     "45760"     "45763"     "45775"    
[277] "45776"     "45782"     "45791"     "45819"     "45829"     "45878"    
[283] "45905"     "45920"     "45948"     "46110"     "46125"     "46126"    
[289] "46150"     "46214"     "46264"     "46288"     "46293"     "46297"    
[295] "46299"     "46308"     "46313"     "46315"     "46320"     "46358"    
[301] "46378"     "46419"     "46439"     "46473"     "46480"     "46555"    
[307] "46583"     "46603"     "46604"     "46613"     "46636"     "46639"    
[313] "46693"     "46706"     "46730"     "46740"     "46742"     "46746"    
[319] "46751"     "46802"     "46811"     "46868"     "47191"     "47246"    
[325] "480_BeHe"  "48114"     "48243"     "48245"     "48249"     "482_MiSa" 
[331] "48373"     "48398"     "48522"     "48587"     "48830"     "48989"    
[337] "49011"     "49369"     "49393"     "49395"     "49399"     "49410"    
[343] "49547"     "49701"     "49733"     "4_JB"      "50392"     "52064"    
[349] "52269"     "52783"     "52960"     "53238"     "53284"     "532_DePa" 
[355] "53343"     "53347"     "53351"     "53357"     "53381"     "53417"    
[361] "53432"     "53461"     "53494"     "53535"     "53725"     "53727"    
[367] "53730"     "53732"     "53751"     "53759"     "538_RoBr"  "55397"    
[373] "55459"     "55515"     "55774"     "56173"     "593_FrPo"  "59738"    
[379] "59741"     "59742"     "59749"     "59750"     "59752"     "59774"    
[385] "59778"     "59780"     "59785"     "59791"     "59798"     "59803"    
[391] "59808"     "59813"     "59820"     "59830"     "59831"     "59854"    
[397] "60241"     "60242"     "60246"     "60314"     "62624"     "62777"    
[403] "62784"     "62793"     "62797"     "62807"     "62811"     "62812"    
[409] "62816"     "62848"     "62868"     "62874"     "62882"     "62886"    
[415] "62899"     "62934"     "62943"     "63028"     "63127"     "63156"    
[421] "63158"     "63170"     "63233"     "63309"     "63482"     "63695"    
[427] "63742"     "6_gks"     "755_FrIn"  "792_AnMa"  "806_AmSq"  "867_SaSe" 
[433] "887_MaEi"  "896_MaSc"  "933_ClDa"  "34405"     "36795"     "37643"    
[439] "37928"     "38181"     "39032"     "44141"    </a:t>
            </a:r>
          </a:p>
        </p:txBody>
      </p:sp>
      <p:pic>
        <p:nvPicPr>
          <p:cNvPr descr="Presentation_V1_files/figure-pptx/unnamed-chunk-25-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5.5 Plot desities</a:t>
            </a:r>
          </a:p>
          <a:p>
            <a:pPr lvl="0" indent="0" marL="0">
              <a:buNone/>
            </a:pPr>
            <a:r>
              <a:rPr/>
              <a:t>This plot exites me the most, indicates that those who self report synesthesia seem to have less line crossings than non synesthetes. Also indicates that most do not have line crossings.</a:t>
            </a:r>
          </a:p>
        </p:txBody>
      </p:sp>
      <p:pic>
        <p:nvPicPr>
          <p:cNvPr descr="Presentation_V1_files/figure-pptx/unnamed-chunk-26-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 A tibble: 2 × 3
  SynQuest `median(Consistency)` `sd(Consistency)`
  &lt;lgl&gt;                    &lt;dbl&gt;             &lt;dbl&gt;
1 FALSE                   0.0966             0.755
2 TRUE                    0.102              0.338</a:t>
            </a:r>
          </a:p>
          <a:p>
            <a:pPr lvl="0" indent="0">
              <a:buNone/>
            </a:pPr>
            <a:r>
              <a:rPr>
                <a:latin typeface="Courier"/>
              </a:rPr>
              <a:t># A tibble: 2 × 3
  SynQuest `median(GA_lineInter)` `sd(GA_lineInter)`
  &lt;lgl&gt;                     &lt;dbl&gt;              &lt;dbl&gt;
1 FALSE                     3.02                5.53
2 TRUE                      0.320               3.25</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6.Figure Mega plot</a:t>
            </a:r>
          </a:p>
        </p:txBody>
      </p:sp>
      <p:sp>
        <p:nvSpPr>
          <p:cNvPr id="4" name="Text Placeholder 3"/>
          <p:cNvSpPr>
            <a:spLocks noGrp="1"/>
          </p:cNvSpPr>
          <p:nvPr>
            <p:ph idx="2" sz="half" type="body"/>
          </p:nvPr>
        </p:nvSpPr>
        <p:spPr/>
        <p:txBody>
          <a:bodyPr/>
          <a:lstStyle/>
          <a:p>
            <a:pPr lvl="0" indent="0" marL="0">
              <a:buNone/>
            </a:pPr>
            <a:r>
              <a:rPr/>
              <a:t>This exports many pdf’s. It plots each ID and condition z-score x and y coordinates. Since each coordinate is repeated 3 times, these are represented by triangles. The line paths connect average coordinates to visualize forms (stimulus are ordered, i.e. 1 to 9, monday to sunday, january to december). Finally in the top right corner, each dots indicates if the ID would pass / fails depending on the criteria:</a:t>
            </a:r>
          </a:p>
          <a:p>
            <a:pPr lvl="0"/>
            <a:r>
              <a:rPr/>
              <a:t>Questionnaire </a:t>
            </a:r>
            <a:r>
              <a:rPr>
                <a:latin typeface="Courier"/>
              </a:rPr>
              <a:t>SynQuest</a:t>
            </a:r>
          </a:p>
          <a:p>
            <a:pPr lvl="0"/>
            <a:r>
              <a:rPr/>
              <a:t>Consistency </a:t>
            </a:r>
            <a:r>
              <a:rPr>
                <a:latin typeface="Courier"/>
              </a:rPr>
              <a:t>SynCons</a:t>
            </a:r>
          </a:p>
          <a:p>
            <a:pPr lvl="0"/>
            <a:r>
              <a:rPr/>
              <a:t>SD </a:t>
            </a:r>
            <a:r>
              <a:rPr>
                <a:latin typeface="Courier"/>
              </a:rPr>
              <a:t>SynSD</a:t>
            </a:r>
          </a:p>
          <a:p>
            <a:pPr lvl="0"/>
            <a:r>
              <a:rPr/>
              <a:t>Permuted z-score </a:t>
            </a:r>
            <a:r>
              <a:rPr>
                <a:latin typeface="Courier"/>
              </a:rPr>
              <a:t>SynPermzs</a:t>
            </a:r>
          </a:p>
          <a:p>
            <a:pPr lvl="0" indent="0" marL="0">
              <a:spcBef>
                <a:spcPts val="3000"/>
              </a:spcBef>
              <a:buNone/>
            </a:pPr>
            <a:r>
              <a:rPr b="1"/>
              <a:t>6.1. ID issues:</a:t>
            </a:r>
          </a:p>
          <a:p>
            <a:pPr lvl="0" indent="0" marL="0">
              <a:buNone/>
            </a:pPr>
            <a:r>
              <a:rPr/>
              <a:t>Maybe could automatize by pulling the inconsistent but with few line crossings.</a:t>
            </a:r>
          </a:p>
          <a:p>
            <a:pPr lvl="0" indent="0" marL="0">
              <a:spcBef>
                <a:spcPts val="3000"/>
              </a:spcBef>
              <a:buNone/>
            </a:pPr>
            <a:r>
              <a:rPr b="1"/>
              <a:t>6.1.1 Inconsitent ID’s that pass line criteria:</a:t>
            </a:r>
          </a:p>
        </p:txBody>
      </p:sp>
      <p:pic>
        <p:nvPicPr>
          <p:cNvPr descr="Presentation_V1_files/figure-pptx/unnamed-chunk-3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9 × 5
# Groups:   Cond, repetition [9]
  Cond    repetition triangle_area nLineCross GA_lineInter
  &lt;chr&gt;        &lt;int&gt;         &lt;dbl&gt;      &lt;dbl&gt;        &lt;dbl&gt;
1 month            1           20           0        0.246
2 month            2           20           0        0.246
3 month            3           20           0        0.246
4 weekday          1         1472.          0        0.246
5 weekday          2         1472.          2        0.246
6 weekday          3         1472.          0        0.246
7 number           1         1385           0        0.246
8 number           2         1385           0        0.246
9 number           3         1385           1        0.246</a:t>
            </a:r>
          </a:p>
        </p:txBody>
      </p:sp>
      <p:pic>
        <p:nvPicPr>
          <p:cNvPr descr="Presentation_V1_files/figure-pptx/unnamed-chunk-3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A tibble: 1 × 3
# Groups:   ID [1]
  ID    Consistency GA_lineInter
  &lt;chr&gt;       &lt;dbl&gt;        &lt;dbl&gt;
1 45776       0.367        0.176</a:t>
            </a:r>
          </a:p>
          <a:p>
            <a:pPr lvl="0" indent="0">
              <a:buNone/>
            </a:pPr>
            <a:r>
              <a:rPr>
                <a:latin typeface="Courier"/>
              </a:rPr>
              <a:t># A tibble: 3 × 3
# Groups:   Cond [3]
  Cond    triangle_area nLineCross
  &lt;chr&gt;           &lt;dbl&gt;      &lt;dbl&gt;
1 month           765            1
2 weekday           0.5          0
3 number          767            0</a:t>
            </a:r>
          </a:p>
          <a:p>
            <a:pPr lvl="0" indent="0">
              <a:buNone/>
            </a:pPr>
            <a:r>
              <a:rPr>
                <a:latin typeface="Courier"/>
              </a:rPr>
              <a:t># A tibble: 3 × 4
  Cond          Mx        My nStim
  &lt;chr&gt;      &lt;dbl&gt;     &lt;dbl&gt; &lt;int&gt;
1 month   1.23e-17 -4.93e-17    36
2 number  1.48e-16  8.33e-17    30
3 weekday 6.34e-17  2.22e-15    21</a:t>
            </a:r>
          </a:p>
          <a:p>
            <a:pPr lvl="0" indent="0">
              <a:buNone/>
            </a:pPr>
            <a:r>
              <a:rPr>
                <a:latin typeface="Courier"/>
              </a:rPr>
              <a:t># A tibble: 3 × 6
  Cond       Mx    My   SDx   SDy nStim
  &lt;chr&gt;   &lt;dbl&gt; &lt;dbl&gt; &lt;dbl&gt; &lt;dbl&gt; &lt;int&gt;
1 month    830.  512.  612. 335.     36
2 number   830.  487.  575. 102.     30
3 weekday 1019.  520.  652.  19.2    21</a:t>
            </a:r>
          </a:p>
          <a:p>
            <a:pPr lvl="0" indent="0">
              <a:buNone/>
            </a:pPr>
            <a:r>
              <a:rPr>
                <a:latin typeface="Courier"/>
              </a:rPr>
              <a:t># A tibble: 29 × 7
# Groups:   Cond [3]
   Cond  stimulus    Mx     My   SDx    SDy nStim
   &lt;chr&gt; &lt;chr&gt;    &lt;dbl&gt;  &lt;dbl&gt; &lt;dbl&gt;  &lt;dbl&gt; &lt;int&gt;
 1 month April     300.  379   232.  126.       3
 2 month August    662   579.  466.   34.0      3
 3 month December 1844. 1001.   10.7   9.02     3
 4 month February  698.   87   311.   20.1      3
 5 month January   104.   94    79.1 102.       3
 6 month July      325.  529.  314.   22.7      3
 7 month June     1052.  431.  584.  124.       3
 8 month March    1377    88.3 590.   37.1      3
 9 month May       700.  364   391.   59.0      3
10 month November 1084. 1000.  157.   20.2      3
# ℹ 19 more rows</a:t>
            </a:r>
          </a:p>
          <a:p>
            <a:pPr lvl="0" indent="0">
              <a:buNone/>
            </a:pPr>
            <a:r>
              <a:rPr>
                <a:latin typeface="Courier"/>
              </a:rPr>
              <a:t># A tibble: 3 × 3
  Cond    Mwidth Mheight
  &lt;chr&gt;    &lt;dbl&gt;   &lt;dbl&gt;
1 month     1920    1057
2 number    1920    1057
3 weekday   1920    1057</a:t>
            </a:r>
          </a:p>
          <a:p>
            <a:pPr lvl="0" indent="0">
              <a:buNone/>
            </a:pPr>
            <a:r>
              <a:rPr>
                <a:latin typeface="Courier"/>
              </a:rPr>
              <a:t># A tibble: 87 × 38
# Groups:   ID, stimulus [29]
   stimulus     x     y width height group ID    dataSource trial_index trial_id
   &lt;chr&gt;    &lt;dbl&gt; &lt;dbl&gt; &lt;dbl&gt;  &lt;dbl&gt; &lt;chr&gt; &lt;chr&gt; &lt;chr&gt;            &lt;dbl&gt;    &lt;dbl&gt;
 1 January     56    38  1920   1057 Syn   45776 Ward                76  1426066
 2 January     60    32  1920   1057 Syn   45776 Ward                48  1426038
 3 January    195   212  1920   1057 Syn   45776 Ward                20  1425987
 4 February   353   110  1920   1057 Syn   45776 Ward                 4  1425960
 5 February   783    73  1920   1057 Syn   45776 Ward                43  1426032
 6 February   957    78  1920   1057 Syn   45776 Ward                71  1426061
 7 March      696   124  1920   1057 Syn   45776 Ward                 5  1425961
 8 March     1710    50  1920   1057 Syn   45776 Ward                69  1426059
 9 March     1725    91  1920   1057 Syn   45776 Ward                30  1426006
10 April      151   292  1920   1057 Syn   45776 Ward                34  1426014
# ℹ 77 more rows
# ℹ 28 more variables: session_id &lt;dbl&gt;, rt &lt;dbl&gt;, Cond &lt;chr&gt;, Nrep &lt;int&gt;,
#   repetition &lt;int&gt;, X_mean &lt;dbl&gt;, Y_mean &lt;dbl&gt;, x_zs &lt;dbl[,1]&gt;,
#   y_zs &lt;dbl[,1]&gt;, X_mean_zs &lt;dbl&gt;, Y_mean_zs &lt;dbl&gt;, triangle_area &lt;dbl&gt;,
#   Screen_area &lt;dbl&gt;, Consistency &lt;dbl&gt;, xSc &lt;dbl&gt;, ySc &lt;dbl&gt;, SD_IDx &lt;dbl&gt;,
#   SD_IDy &lt;dbl&gt;, nSegments &lt;dbl&gt;, nLineCross &lt;dbl&gt;, meanLineCross &lt;dbl&gt;,
#   GA_lineInter &lt;dbl&gt;, mean_lineInter &lt;dbl&gt;, SynLine &lt;lgl&gt;, SynQuest &lt;lgl&gt;, …</a:t>
            </a:r>
          </a:p>
          <a:p>
            <a:pPr lvl="0" indent="0" marL="0">
              <a:spcBef>
                <a:spcPts val="3000"/>
              </a:spcBef>
              <a:buNone/>
            </a:pPr>
            <a:r>
              <a:rPr b="1"/>
              <a:t>6.1.1 Not pass SD ID’s that pass line criteria:</a:t>
            </a:r>
          </a:p>
        </p:txBody>
      </p:sp>
      <p:pic>
        <p:nvPicPr>
          <p:cNvPr descr="Presentation_V1_files/figure-pptx/unnamed-chunk-36-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Fig Distributions</a:t>
            </a:r>
          </a:p>
        </p:txBody>
      </p:sp>
      <p:pic>
        <p:nvPicPr>
          <p:cNvPr descr="Presentation_V1_files/figure-pptx/unnamed-chunk-37-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V1_files/figure-pptx/unnamed-chunk-38-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Laboratory or Sandkiste</a:t>
            </a:r>
          </a:p>
        </p:txBody>
      </p:sp>
      <p:pic>
        <p:nvPicPr>
          <p:cNvPr descr="Presentation_V1_files/figure-pptx/unnamed-chunk-39-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V1_files/figure-pptx/unnamed-chunk-39-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V1_files/figure-pptx/unnamed-chunk-39-3.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Cohen’s k,consistency, Specificity and Accuracy</a:t>
            </a:r>
          </a:p>
        </p:txBody>
      </p:sp>
      <p:sp>
        <p:nvSpPr>
          <p:cNvPr id="3" name="Content Placeholder 2"/>
          <p:cNvSpPr>
            <a:spLocks noGrp="1"/>
          </p:cNvSpPr>
          <p:nvPr>
            <p:ph idx="1"/>
          </p:nvPr>
        </p:nvSpPr>
        <p:spPr/>
        <p:txBody>
          <a:bodyPr/>
          <a:lstStyle/>
          <a:p>
            <a:pPr lvl="0" indent="0">
              <a:buNone/>
            </a:pPr>
            <a:r>
              <a:rPr>
                <a:latin typeface="Courier"/>
              </a:rPr>
              <a:t> Cohen's Kappa for 2 Raters (Weights: unweighted)
 Subjects = 467 
   Raters = 2 
    Kappa = -0.0979 
        z = -2.12 
  p-value = 0.0342 </a:t>
            </a:r>
          </a:p>
          <a:p>
            <a:pPr lvl="0" indent="0">
              <a:buNone/>
            </a:pPr>
            <a:r>
              <a:rPr>
                <a:latin typeface="Courier"/>
              </a:rPr>
              <a:t> Cohen's Kappa for 2 Raters (Weights: unweighted)
 Subjects = 467 
   Raters = 2 
    Kappa = 0.187 
        z = 4.35 
  p-value = 1.34e-05 </a:t>
            </a:r>
          </a:p>
          <a:p>
            <a:pPr lvl="0" indent="0">
              <a:buNone/>
            </a:pPr>
            <a:r>
              <a:rPr>
                <a:latin typeface="Courier"/>
              </a:rPr>
              <a:t> Light's Kappa for m Raters
 Subjects = 467 
   Raters = 4 
    Kappa = 0.244 
        z = 1.06 
  p-value = 0.288 </a:t>
            </a:r>
          </a:p>
          <a:p>
            <a:pPr lvl="0" indent="0">
              <a:buNone/>
            </a:pPr>
            <a:r>
              <a:rPr>
                <a:latin typeface="Courier"/>
              </a:rPr>
              <a:t> Fleiss' Kappa for m Raters
 Subjects = 467 
   Raters = 4 
    Kappa = 0.233 
        z = 12.3 
  p-value = 0 </a:t>
            </a:r>
          </a:p>
          <a:p>
            <a:pPr lvl="0" indent="0">
              <a:buNone/>
            </a:pPr>
            <a:r>
              <a:rPr>
                <a:latin typeface="Courier"/>
              </a:rPr>
              <a:t> Fleiss' Kappa for m Raters (exact value)
 Subjects = 467 
   Raters = 4 
    Kappa = 0.245 </a:t>
            </a:r>
          </a:p>
          <a:p>
            <a:pPr lvl="0" indent="0" marL="0">
              <a:spcBef>
                <a:spcPts val="3000"/>
              </a:spcBef>
              <a:buNone/>
            </a:pPr>
            <a:r>
              <a:rPr b="1"/>
              <a:t>7.1. Consistency</a:t>
            </a:r>
          </a:p>
          <a:p>
            <a:pPr lvl="0" indent="0">
              <a:buNone/>
            </a:pPr>
            <a:r>
              <a:rPr>
                <a:latin typeface="Courier"/>
              </a:rPr>
              <a:t>Accuracy:    0.60</a:t>
            </a:r>
          </a:p>
          <a:p>
            <a:pPr lvl="0" indent="0">
              <a:buNone/>
            </a:pPr>
            <a:r>
              <a:rPr>
                <a:latin typeface="Courier"/>
              </a:rPr>
              <a:t>Sensitivity: 0.59</a:t>
            </a:r>
          </a:p>
          <a:p>
            <a:pPr lvl="0" indent="0">
              <a:buNone/>
            </a:pPr>
            <a:r>
              <a:rPr>
                <a:latin typeface="Courier"/>
              </a:rPr>
              <a:t>Agreement:   0.60</a:t>
            </a:r>
          </a:p>
          <a:p>
            <a:pPr lvl="0" indent="0" marL="0">
              <a:spcBef>
                <a:spcPts val="3000"/>
              </a:spcBef>
              <a:buNone/>
            </a:pPr>
            <a:r>
              <a:rPr b="1"/>
              <a:t>7.2. Line Intersection:</a:t>
            </a:r>
          </a:p>
          <a:p>
            <a:pPr lvl="0" indent="0">
              <a:buNone/>
            </a:pPr>
            <a:r>
              <a:rPr>
                <a:latin typeface="Courier"/>
              </a:rPr>
              <a:t>Accuracy:    0.71</a:t>
            </a:r>
          </a:p>
          <a:p>
            <a:pPr lvl="0" indent="0">
              <a:buNone/>
            </a:pPr>
            <a:r>
              <a:rPr>
                <a:latin typeface="Courier"/>
              </a:rPr>
              <a:t>Sensitivity: 0.66</a:t>
            </a:r>
          </a:p>
          <a:p>
            <a:pPr lvl="0" indent="0">
              <a:buNone/>
            </a:pPr>
            <a:r>
              <a:rPr>
                <a:latin typeface="Courier"/>
              </a:rPr>
              <a:t>Agreement:   0.71</a:t>
            </a:r>
          </a:p>
          <a:p>
            <a:pPr lvl="0" indent="0" marL="0">
              <a:spcBef>
                <a:spcPts val="3000"/>
              </a:spcBef>
              <a:buNone/>
            </a:pPr>
            <a:r>
              <a:rPr b="1"/>
              <a:t>7.2.3. Tried to do it with different questionnaires cutoffs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Consistency</a:t>
            </a:r>
          </a:p>
        </p:txBody>
      </p:sp>
      <p:pic>
        <p:nvPicPr>
          <p:cNvPr descr="Presentation_V1_files/figure-pptx/unnamed-chunk-43-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V1_files/figure-pptx/unnamed-chunk-43-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9.00
n ID pass Quest:  142.000000
Accuracy:    0.55
Sensitivity: 0.68
Agreement:   0.55
|SynQuest | Med_Cons| SD_Cons|
|:--------|--------:|-------:|
|FALSE    |   0.1086|  0.6301|
|TRUE     |   0.0868|  0.1877|
|SynQuest | Med_Line| SD_Line|
|:--------|--------:|-------:|
|FALSE    |   0.0469|  0.3997|
|TRUE     |   0.0043|  0.0818|</a:t>
            </a:r>
          </a:p>
        </p:txBody>
      </p:sp>
      <p:pic>
        <p:nvPicPr>
          <p:cNvPr descr="Presentation_V1_files/figure-pptx/unnamed-chunk-43-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10.00
n ID pass Quest:  165.000000
Accuracy:    0.55
Sensitivity: 0.68
Agreement:   0.55
|SynQuest | Med_Cons| SD_Cons|
|:--------|--------:|-------:|
|FALSE    |   0.1135|  0.6463|
|TRUE     |   0.0786|  0.1677|
|SynQuest | Med_Line| SD_Line|
|:--------|--------:|-------:|
|FALSE    |   0.0592|  0.4050|
|TRUE     |   0.0043|  0.0718|</a:t>
            </a:r>
          </a:p>
        </p:txBody>
      </p:sp>
      <p:pic>
        <p:nvPicPr>
          <p:cNvPr descr="Presentation_V1_files/figure-pptx/unnamed-chunk-43-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11.00
n ID pass Quest:  184.000000
Accuracy:    0.55
Sensitivity: 0.68
Agreement:   0.55
|SynQuest | Med_Cons| SD_Cons|
|:--------|--------:|-------:|
|FALSE    |   0.1138|  0.6606|
|TRUE     |   0.0868|  0.1736|
|SynQuest | Med_Line| SD_Line|
|:--------|--------:|-------:|
|FALSE    |   0.0683|  0.4092|
|TRUE     |   0.0044|  0.0986|</a:t>
            </a:r>
          </a:p>
        </p:txBody>
      </p:sp>
      <p:pic>
        <p:nvPicPr>
          <p:cNvPr descr="Presentation_V1_files/figure-pptx/unnamed-chunk-43-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12.00
n ID pass Quest:  206.000000
Accuracy:    0.55
Sensitivity: 0.68
Agreement:   0.55
|SynQuest | Med_Cons| SD_Cons|
|:--------|--------:|-------:|
|FALSE    |   0.1157|  0.6783|
|TRUE     |   0.0892|  0.1783|
|SynQuest | Med_Line| SD_Line|
|:--------|--------:|-------:|
|FALSE    |   0.0759|  0.4122|
|TRUE     |   0.0086|  0.1701|</a:t>
            </a:r>
          </a:p>
        </p:txBody>
      </p:sp>
      <p:pic>
        <p:nvPicPr>
          <p:cNvPr descr="Presentation_V1_files/figure-pptx/unnamed-chunk-43-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13.00
n ID pass Quest:  224.000000
Accuracy:    0.55
Sensitivity: 0.68
Agreement:   0.55
|SynQuest | Med_Cons| SD_Cons|
|:--------|--------:|-------:|
|FALSE    |   0.1086|  0.6952|
|TRUE     |   0.0976|  0.1725|
|SynQuest | Med_Line| SD_Line|
|:--------|--------:|-------:|
|FALSE    |   0.0939|  0.4154|
|TRUE     |   0.0086|  0.1761|</a:t>
            </a:r>
          </a:p>
        </p:txBody>
      </p:sp>
      <p:pic>
        <p:nvPicPr>
          <p:cNvPr descr="Presentation_V1_files/figure-pptx/unnamed-chunk-43-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14.00
n ID pass Quest:  241.000000
Accuracy:    0.55
Sensitivity: 0.68
Agreement:   0.55
|SynQuest | Med_Cons| SD_Cons|
|:--------|--------:|-------:|
|FALSE    |   0.1083|  0.7115|
|TRUE     |   0.0990|  0.1699|
|SynQuest | Med_Line| SD_Line|
|:--------|--------:|-------:|
|FALSE    |   0.1133|  0.4179|
|TRUE     |   0.0086|  0.1822|</a:t>
            </a:r>
          </a:p>
        </p:txBody>
      </p:sp>
      <p:pic>
        <p:nvPicPr>
          <p:cNvPr descr="Presentation_V1_files/figure-pptx/unnamed-chunk-43-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15.00
n ID pass Quest:  259.000000
Accuracy:    0.55
Sensitivity: 0.68
Agreement:   0.55
|SynQuest | Med_Cons| SD_Cons|
|:--------|--------:|-------:|
|FALSE    |   0.1072|  0.7271|
|TRUE     |   0.0991|  0.2036|
|SynQuest | Med_Line| SD_Line|
|:--------|--------:|-------:|
|FALSE    |   0.1282|  0.4212|
|TRUE     |   0.0089|  0.1931|</a:t>
            </a:r>
          </a:p>
        </p:txBody>
      </p:sp>
      <p:pic>
        <p:nvPicPr>
          <p:cNvPr descr="Presentation_V1_files/figure-pptx/unnamed-chunk-43-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16.00
n ID pass Quest:  268.000000
Accuracy:    0.55
Sensitivity: 0.68
Agreement:   0.55
|SynQuest | Med_Cons| SD_Cons|
|:--------|--------:|-------:|
|FALSE    |   0.1086|  0.7368|
|TRUE     |   0.0991|  0.1998|
|SynQuest | Med_Line| SD_Line|
|:--------|--------:|-------:|
|FALSE    |   0.1356|  0.4224|
|TRUE     |   0.0089|  0.2002|</a:t>
            </a:r>
          </a:p>
        </p:txBody>
      </p:sp>
      <p:pic>
        <p:nvPicPr>
          <p:cNvPr descr="Presentation_V1_files/figure-pptx/unnamed-chunk-43-1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17.00
n ID pass Quest:  282.000000
Accuracy:    0.55
Sensitivity: 0.68
Agreement:   0.55
|SynQuest | Med_Cons| SD_Cons|
|:--------|--------:|-------:|
|FALSE    |   0.1169|  0.7530|
|TRUE     |   0.0992|  0.1951|
|SynQuest | Med_Line| SD_Line|
|:--------|--------:|-------:|
|FALSE    |   0.1526|  0.4234|
|TRUE     |   0.0126|  0.2159|</a:t>
            </a:r>
          </a:p>
        </p:txBody>
      </p:sp>
      <p:pic>
        <p:nvPicPr>
          <p:cNvPr descr="Presentation_V1_files/figure-pptx/unnamed-chunk-43-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18.00
n ID pass Quest:  299.000000
Accuracy:    0.55
Sensitivity: 0.68
Agreement:   0.55
|SynQuest | Med_Cons| SD_Cons|
|:--------|--------:|-------:|
|FALSE    |   0.1068|  0.7731|
|TRUE     |   0.1003|  0.2115|
|SynQuest | Med_Line| SD_Line|
|:--------|--------:|-------:|
|FALSE    |   0.1847|  0.4227|
|TRUE     |   0.0128|  0.2385|</a:t>
            </a:r>
          </a:p>
        </p:txBody>
      </p:sp>
      <p:pic>
        <p:nvPicPr>
          <p:cNvPr descr="Presentation_V1_files/figure-pptx/unnamed-chunk-43-1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19.00
n ID pass Quest:  315.000000
Accuracy:    0.55
Sensitivity: 0.68
Agreement:   0.55
|SynQuest | Med_Cons| SD_Cons|
|:--------|--------:|-------:|
|FALSE    |   0.0966|  0.7547|
|TRUE     |   0.1020|  0.3378|
|SynQuest | Med_Line| SD_Line|
|:--------|--------:|-------:|
|FALSE    |   0.2188|  0.4248|
|TRUE     |   0.0132|  0.2445|</a:t>
            </a:r>
          </a:p>
        </p:txBody>
      </p:sp>
      <p:pic>
        <p:nvPicPr>
          <p:cNvPr descr="Presentation_V1_files/figure-pptx/unnamed-chunk-43-1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20.00
n ID pass Quest:  328.000000
Accuracy:    0.55
Sensitivity: 0.68
Agreement:   0.55
|SynQuest | Med_Cons| SD_Cons|
|:--------|--------:|-------:|
|FALSE    |   0.0894|  0.7245|
|TRUE     |   0.1022|  0.4285|
|SynQuest | Med_Line| SD_Line|
|:--------|--------:|-------:|
|FALSE    |   0.2533|  0.4262|
|TRUE     |   0.0134|  0.2506|</a:t>
            </a:r>
          </a:p>
        </p:txBody>
      </p:sp>
      <p:pic>
        <p:nvPicPr>
          <p:cNvPr descr="Presentation_V1_files/figure-pptx/unnamed-chunk-43-1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21.00
n ID pass Quest:  340.000000
Accuracy:    0.55
Sensitivity: 0.68
Agreement:   0.55
|SynQuest | Med_Cons| SD_Cons|
|:--------|--------:|-------:|
|FALSE    |   0.0832|  0.7423|
|TRUE     |   0.1038|  0.4241|
|SynQuest | Med_Line| SD_Line|
|:--------|--------:|-------:|
|FALSE    |   0.3218|  0.4268|
|TRUE     |   0.0169|  0.2499|</a:t>
            </a:r>
          </a:p>
        </p:txBody>
      </p:sp>
      <p:pic>
        <p:nvPicPr>
          <p:cNvPr descr="Presentation_V1_files/figure-pptx/unnamed-chunk-43-1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22.00
n ID pass Quest:  354.000000
Accuracy:    0.55
Sensitivity: 0.68
Agreement:   0.55
|SynQuest | Med_Cons| SD_Cons|
|:--------|--------:|-------:|
|FALSE    |   0.0859|  0.7467|
|TRUE     |   0.1030|  0.4413|
|SynQuest | Med_Line| SD_Line|
|:--------|--------:|-------:|
|FALSE    |    0.459|  0.4262|
|TRUE     |    0.017|  0.2639|</a:t>
            </a:r>
          </a:p>
        </p:txBody>
      </p:sp>
      <p:pic>
        <p:nvPicPr>
          <p:cNvPr descr="Presentation_V1_files/figure-pptx/unnamed-chunk-43-1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23.00
n ID pass Quest:  367.000000
Accuracy:    0.55
Sensitivity: 0.68
Agreement:   0.55
|SynQuest | Med_Cons| SD_Cons|
|:--------|--------:|-------:|
|FALSE    |   0.0830|  0.7659|
|TRUE     |   0.1044|  0.4402|
|SynQuest | Med_Line| SD_Line|
|:--------|--------:|-------:|
|FALSE    |   0.5396|  0.4261|
|TRUE     |   0.0170|  0.2687|</a:t>
            </a:r>
          </a:p>
        </p:txBody>
      </p:sp>
      <p:pic>
        <p:nvPicPr>
          <p:cNvPr descr="Presentation_V1_files/figure-pptx/unnamed-chunk-43-1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24.00
n ID pass Quest:  373.000000
Accuracy:    0.55
Sensitivity: 0.68
Agreement:   0.55
|SynQuest | Med_Cons| SD_Cons|
|:--------|--------:|-------:|
|FALSE    |   0.0864|  0.7667|
|TRUE     |   0.1029|  0.4484|
|SynQuest | Med_Line| SD_Line|
|:--------|--------:|-------:|
|FALSE    |   0.5396|  0.4252|
|TRUE     |   0.0173|  0.2791|</a:t>
            </a:r>
          </a:p>
        </p:txBody>
      </p:sp>
      <p:pic>
        <p:nvPicPr>
          <p:cNvPr descr="Presentation_V1_files/figure-pptx/unnamed-chunk-43-1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25.00
n ID pass Quest:  385.000000
Accuracy:    0.55
Sensitivity: 0.68
Agreement:   0.55
|SynQuest | Med_Cons| SD_Cons|
|:--------|--------:|-------:|
|FALSE    |   0.0846|  0.7246|
|TRUE     |   0.1032|  0.5009|
|SynQuest | Med_Line| SD_Line|
|:--------|--------:|-------:|
|FALSE    |   0.5396|  0.4282|
|TRUE     |   0.0177|  0.2950|</a:t>
            </a:r>
          </a:p>
        </p:txBody>
      </p:sp>
      <p:pic>
        <p:nvPicPr>
          <p:cNvPr descr="Presentation_V1_files/figure-pptx/unnamed-chunk-43-1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26.00
n ID pass Quest:  399.000000
Accuracy:    0.55
Sensitivity: 0.68
Agreement:   0.55
|SynQuest | Med_Cons| SD_Cons|
|:--------|--------:|-------:|
|FALSE    |   0.0864|  0.7173|
|TRUE     |   0.1029|  0.5185|
|SynQuest | Med_Line| SD_Line|
|:--------|--------:|-------:|
|FALSE    |   0.5906|  0.4303|
|TRUE     |   0.0179|  0.3018|</a:t>
            </a:r>
          </a:p>
        </p:txBody>
      </p:sp>
      <p:pic>
        <p:nvPicPr>
          <p:cNvPr descr="Presentation_V1_files/figure-pptx/unnamed-chunk-43-2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27.00
n ID pass Quest:  410.000000
Accuracy:    0.55
Sensitivity: 0.68
Agreement:   0.55
|SynQuest | Med_Cons| SD_Cons|
|:--------|--------:|-------:|
|FALSE    |   0.0859|  0.7149|
|TRUE     |   0.1026|  0.5279|
|SynQuest | Med_Line| SD_Line|
|:--------|--------:|-------:|
|FALSE    |   0.5975|  0.4310|
|TRUE     |   0.0179|  0.3092|</a:t>
            </a:r>
          </a:p>
        </p:txBody>
      </p:sp>
      <p:pic>
        <p:nvPicPr>
          <p:cNvPr descr="Presentation_V1_files/figure-pptx/unnamed-chunk-43-2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28.00
n ID pass Quest:  426.000000
Accuracy:    0.55
Sensitivity: 0.68
Agreement:   0.55
|SynQuest | Med_Cons| SD_Cons|
|:--------|--------:|-------:|
|FALSE    |   0.0676|  0.7407|
|TRUE     |   0.1030|  0.5267|
|SynQuest | Med_Line| SD_Line|
|:--------|--------:|-------:|
|FALSE    |   0.6843|  0.4276|
|TRUE     |   0.0179|  0.3156|</a:t>
            </a:r>
          </a:p>
        </p:txBody>
      </p:sp>
      <p:pic>
        <p:nvPicPr>
          <p:cNvPr descr="Presentation_V1_files/figure-pptx/unnamed-chunk-43-2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29.00
n ID pass Quest:  433.000000
Accuracy:    0.55
Sensitivity: 0.68
Agreement:   0.55
|SynQuest | Med_Cons| SD_Cons|
|:--------|--------:|-------:|
|FALSE    |   0.0752|  0.7598|
|TRUE     |   0.1029|  0.5224|
|SynQuest | Med_Line| SD_Line|
|:--------|--------:|-------:|
|FALSE    |   0.6853|  0.4226|
|TRUE     |   0.0179|  0.3217|</a:t>
            </a:r>
          </a:p>
        </p:txBody>
      </p:sp>
      <p:pic>
        <p:nvPicPr>
          <p:cNvPr descr="Presentation_V1_files/figure-pptx/unnamed-chunk-43-2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30.00
n ID pass Quest:  440.000000
Accuracy:    0.55
Sensitivity: 0.68
Agreement:   0.55
|SynQuest | Med_Cons| SD_Cons|
|:--------|--------:|-------:|
|FALSE    |   0.0625|  0.7451|
|TRUE     |   0.1030|  0.5353|
|SynQuest | Med_Line| SD_Line|
|:--------|--------:|-------:|
|FALSE    |   0.6863|  0.4211|
|TRUE     |   0.0209|  0.3281|</a:t>
            </a:r>
          </a:p>
        </p:txBody>
      </p:sp>
      <p:pic>
        <p:nvPicPr>
          <p:cNvPr descr="Presentation_V1_files/figure-pptx/unnamed-chunk-43-2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31.00
n ID pass Quest:  446.000000
Accuracy:    0.55
Sensitivity: 0.68
Agreement:   0.55
|SynQuest | Med_Cons| SD_Cons|
|:--------|--------:|-------:|
|FALSE    |   0.0466|  0.7660|
|TRUE     |   0.1038|  0.5314|
|SynQuest | Med_Line| SD_Line|
|:--------|--------:|-------:|
|FALSE    |   0.6863|  0.4211|
|TRUE     |   0.0210|  0.3337|</a:t>
            </a:r>
          </a:p>
        </p:txBody>
      </p:sp>
      <p:pic>
        <p:nvPicPr>
          <p:cNvPr descr="Presentation_V1_files/figure-pptx/unnamed-chunk-43-2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32.00
n ID pass Quest:  453.000000
Accuracy:    0.55
Sensitivity: 0.68
Agreement:   0.55
|SynQuest | Med_Cons| SD_Cons|
|:--------|--------:|-------:|
|FALSE    |   0.0453|  0.6961|
|TRUE     |   0.1052|  0.5599|
|SynQuest | Med_Line| SD_Line|
|:--------|--------:|-------:|
|FALSE    |   0.7209|  0.4220|
|TRUE     |   0.0213|  0.3364|</a:t>
            </a:r>
          </a:p>
        </p:txBody>
      </p:sp>
      <p:pic>
        <p:nvPicPr>
          <p:cNvPr descr="Presentation_V1_files/figure-pptx/unnamed-chunk-43-2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33.00
n ID pass Quest:  457.000000
Accuracy:    0.55
Sensitivity: 0.68
Agreement:   0.55
|SynQuest | Med_Cons| SD_Cons|
|:--------|--------:|-------:|
|FALSE    |   0.0459|  0.7088|
|TRUE     |   0.1044|  0.5575|
|SynQuest | Med_Line| SD_Line|
|:--------|--------:|-------:|
|FALSE    |   0.7209|  0.4243|
|TRUE     |   0.0213|  0.3391|</a:t>
            </a:r>
          </a:p>
        </p:txBody>
      </p:sp>
      <p:pic>
        <p:nvPicPr>
          <p:cNvPr descr="Presentation_V1_files/figure-pptx/unnamed-chunk-43-2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34.00
n ID pass Quest:  466.000000
Accuracy:    0.55
Sensitivity: 0.68
Agreement:   0.55
|SynQuest | Med_Cons| SD_Cons|
|:--------|--------:|-------:|
|FALSE    |   0.0453|  0.6512|
|TRUE     |   0.1048|  0.5755|
|SynQuest | Med_Line| SD_Line|
|:--------|--------:|-------:|
|FALSE    |   0.8048|  0.4184|
|TRUE     |   0.0220|  0.3420|</a:t>
            </a:r>
          </a:p>
        </p:txBody>
      </p:sp>
      <p:pic>
        <p:nvPicPr>
          <p:cNvPr descr="Presentation_V1_files/figure-pptx/unnamed-chunk-43-2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35.00
n ID pass Quest:  478.000000
Accuracy:    0.55
Sensitivity: 0.68
Agreement:   0.55
|SynQuest | Med_Cons| SD_Cons|
|:--------|--------:|-------:|
|FALSE    |   0.0529|  0.6949|
|TRUE     |   0.1030|  0.5690|
|SynQuest | Med_Line| SD_Line|
|:--------|--------:|-------:|
|FALSE    |   0.7342|  0.4102|
|TRUE     |   0.0223|  0.3539|</a:t>
            </a:r>
          </a:p>
        </p:txBody>
      </p:sp>
      <p:pic>
        <p:nvPicPr>
          <p:cNvPr descr="Presentation_V1_files/figure-pptx/unnamed-chunk-43-2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36.00
n ID pass Quest:  488.000000
Accuracy:    0.55
Sensitivity: 0.68
Agreement:   0.55
|SynQuest | Med_Cons| SD_Cons|
|:--------|--------:|-------:|
|FALSE    |   0.0529|  0.6975|
|TRUE     |   0.1030|  0.5726|
|SynQuest | Med_Line| SD_Line|
|:--------|--------:|-------:|
|FALSE    |   0.7342|  0.4015|
|TRUE     |   0.0238|  0.3594|</a:t>
            </a:r>
          </a:p>
        </p:txBody>
      </p:sp>
      <p:pic>
        <p:nvPicPr>
          <p:cNvPr descr="Presentation_V1_files/figure-pptx/unnamed-chunk-43-3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37.00
n ID pass Quest:  491.000000
Accuracy:    0.55
Sensitivity: 0.68
Agreement:   0.55
|SynQuest | Med_Cons| SD_Cons|
|:--------|--------:|-------:|
|FALSE    |   0.0497|  0.7152|
|TRUE     |   0.1032|  0.5711|
|SynQuest | Med_Line| SD_Line|
|:--------|--------:|-------:|
|FALSE    |   0.7695|  0.4019|
|TRUE     |   0.0253|  0.3611|</a:t>
            </a:r>
          </a:p>
        </p:txBody>
      </p:sp>
      <p:pic>
        <p:nvPicPr>
          <p:cNvPr descr="Presentation_V1_files/figure-pptx/unnamed-chunk-43-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38.00
n ID pass Quest:  495.000000
Accuracy:    0.55
Sensitivity: 0.68
Agreement:   0.55
|SynQuest | Med_Cons| SD_Cons|
|:--------|--------:|-------:|
|FALSE    |   0.0497|  0.6812|
|TRUE     |   0.1032|  0.5774|
|SynQuest | Med_Line| SD_Line|
|:--------|--------:|-------:|
|FALSE    |   0.7695|  0.4018|
|TRUE     |   0.0254|  0.3633|</a:t>
            </a:r>
          </a:p>
        </p:txBody>
      </p:sp>
      <p:pic>
        <p:nvPicPr>
          <p:cNvPr descr="Presentation_V1_files/figure-pptx/unnamed-chunk-43-3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39.00
n ID pass Quest:  501.000000
Accuracy:    0.55
Sensitivity: 0.68
Agreement:   0.55
|SynQuest | Med_Cons| SD_Cons|
|:--------|--------:|-------:|
|FALSE    |   0.0545|  0.7206|
|TRUE     |   0.1029|  0.5740|
|SynQuest | Med_Line| SD_Line|
|:--------|--------:|-------:|
|FALSE    |   0.7695|  0.4034|
|TRUE     |   0.0257|  0.3671|</a:t>
            </a:r>
          </a:p>
        </p:txBody>
      </p:sp>
      <p:pic>
        <p:nvPicPr>
          <p:cNvPr descr="Presentation_V1_files/figure-pptx/unnamed-chunk-43-3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40.00
n ID pass Quest:  506.000000
Accuracy:    0.55
Sensitivity: 0.68
Agreement:   0.55
|SynQuest | Med_Cons| SD_Cons|
|:--------|--------:|-------:|
|FALSE    |   0.0466|  0.7022|
|TRUE     |   0.1030|  0.5785|
|SynQuest | Med_Line| SD_Line|
|:--------|--------:|-------:|
|FALSE    |   0.8048|  0.4012|
|TRUE     |   0.0261|  0.3689|</a:t>
            </a:r>
          </a:p>
        </p:txBody>
      </p:sp>
      <p:pic>
        <p:nvPicPr>
          <p:cNvPr descr="Presentation_V1_files/figure-pptx/unnamed-chunk-43-3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41.00
n ID pass Quest:  511.000000
Accuracy:    0.55
Sensitivity: 0.68
Agreement:   0.55
|SynQuest | Med_Cons| SD_Cons|
|:--------|--------:|-------:|
|FALSE    |   0.0417|  0.7274|
|TRUE     |   0.1032|  0.5787|
|SynQuest | Med_Line| SD_Line|
|:--------|--------:|-------:|
|FALSE    |   0.8649|  0.4099|
|TRUE     |   0.0266|  0.3700|</a:t>
            </a:r>
          </a:p>
        </p:txBody>
      </p:sp>
      <p:pic>
        <p:nvPicPr>
          <p:cNvPr descr="Presentation_V1_files/figure-pptx/unnamed-chunk-43-3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42.00
n ID pass Quest:  520.000000
Accuracy:    0.55
Sensitivity: 0.68
Agreement:   0.55
|SynQuest | Med_Cons| SD_Cons|
|:--------|--------:|-------:|
|FALSE    |   0.0098|  0.7709|
|TRUE     |   0.1026|  0.5799|
|SynQuest | Med_Line| SD_Line|
|:--------|--------:|-------:|
|FALSE    |   0.8769|  0.4152|
|TRUE     |   0.0297|  0.3742|</a:t>
            </a:r>
          </a:p>
        </p:txBody>
      </p:sp>
      <p:pic>
        <p:nvPicPr>
          <p:cNvPr descr="Presentation_V1_files/figure-pptx/unnamed-chunk-43-3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43.00
n ID pass Quest:  523.000000
Accuracy:    0.55
Sensitivity: 0.68
Agreement:   0.55
|SynQuest | Med_Cons| SD_Cons|
|:--------|--------:|-------:|
|FALSE    |   0.0049|  0.8318|
|TRUE     |   0.1024|  0.5783|
|SynQuest | Med_Line| SD_Line|
|:--------|--------:|-------:|
|FALSE    |   0.8814|  0.3825|
|TRUE     |   0.0297|  0.3746|</a:t>
            </a:r>
          </a:p>
        </p:txBody>
      </p:sp>
      <p:pic>
        <p:nvPicPr>
          <p:cNvPr descr="Presentation_V1_files/figure-pptx/unnamed-chunk-43-3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44.00
n ID pass Quest:  530.000000
Accuracy:    0.55
Sensitivity: 0.68
Agreement:   0.55
|SynQuest | Med_Cons| SD_Cons|
|:--------|--------:|-------:|
|FALSE    |    0.000|  0.0069|
|TRUE     |    0.103|  0.5919|
|SynQuest | Med_Line| SD_Line|
|:--------|--------:|-------:|
|FALSE    |   0.9909|  0.0666|
|TRUE     |   0.0298|  0.3750|</a:t>
            </a:r>
          </a:p>
        </p:txBody>
      </p:sp>
      <p:pic>
        <p:nvPicPr>
          <p:cNvPr descr="Presentation_V1_files/figure-pptx/unnamed-chunk-43-3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Questionnaire score:    45.00
n ID pass Quest:  537.000000
Accuracy:    0.55
Sensitivity: 0.68
Agreement:   0.55
|SynQuest | Med_Cons| SD_Cons|
|:--------|--------:|-------:|
|TRUE     |   0.1009|  0.5887|
|SynQuest | Med_Line| SD_Line|
|:--------|--------:|-------:|
|TRUE     |   0.0309|  0.3823|</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Line Intersect</a:t>
            </a:r>
          </a:p>
        </p:txBody>
      </p:sp>
      <p:pic>
        <p:nvPicPr>
          <p:cNvPr descr="Presentation_V1_files/figure-pptx/unnamed-chunk-44-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V1_files/figure-pptx/unnamed-chunk-44-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9.00
n ID pass Quest:  142.000000
Accuracy:    0.42
Sensitivity: 0.21
Agreement:   0.42
|SynQuest | Med_Cons| SD_Cons|
|:--------|--------:|-------:|
|FALSE    |   0.1086|  0.6301|
|TRUE     |   0.0868|  0.1877|
|SynQuest | Med_Line| SD_Line|
|:--------|--------:|-------:|
|FALSE    |   0.0469|  0.3997|
|TRUE     |   0.0043|  0.0818|</a:t>
            </a:r>
          </a:p>
        </p:txBody>
      </p:sp>
      <p:pic>
        <p:nvPicPr>
          <p:cNvPr descr="Presentation_V1_files/figure-pptx/unnamed-chunk-44-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10.00
n ID pass Quest:  165.000000
Accuracy:    0.47
Sensitivity: 0.28
Agreement:   0.47
|SynQuest | Med_Cons| SD_Cons|
|:--------|--------:|-------:|
|FALSE    |   0.1135|  0.6463|
|TRUE     |   0.0786|  0.1677|
|SynQuest | Med_Line| SD_Line|
|:--------|--------:|-------:|
|FALSE    |   0.0592|  0.4050|
|TRUE     |   0.0043|  0.0718|</a:t>
            </a:r>
          </a:p>
        </p:txBody>
      </p:sp>
      <p:pic>
        <p:nvPicPr>
          <p:cNvPr descr="Presentation_V1_files/figure-pptx/unnamed-chunk-44-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11.00
n ID pass Quest:  184.000000
Accuracy:    0.51
Sensitivity: 0.33
Agreement:   0.51
|SynQuest | Med_Cons| SD_Cons|
|:--------|--------:|-------:|
|FALSE    |   0.1138|  0.6606|
|TRUE     |   0.0868|  0.1736|
|SynQuest | Med_Line| SD_Line|
|:--------|--------:|-------:|
|FALSE    |   0.0683|  0.4092|
|TRUE     |   0.0044|  0.0986|</a:t>
            </a:r>
          </a:p>
        </p:txBody>
      </p:sp>
      <p:pic>
        <p:nvPicPr>
          <p:cNvPr descr="Presentation_V1_files/figure-pptx/unnamed-chunk-44-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12.00
n ID pass Quest:  206.000000
Accuracy:    0.54
Sensitivity: 0.38
Agreement:   0.54
|SynQuest | Med_Cons| SD_Cons|
|:--------|--------:|-------:|
|FALSE    |   0.1157|  0.6783|
|TRUE     |   0.0892|  0.1783|
|SynQuest | Med_Line| SD_Line|
|:--------|--------:|-------:|
|FALSE    |   0.0759|  0.4122|
|TRUE     |   0.0086|  0.1701|</a:t>
            </a:r>
          </a:p>
        </p:txBody>
      </p:sp>
      <p:pic>
        <p:nvPicPr>
          <p:cNvPr descr="Presentation_V1_files/figure-pptx/unnamed-chunk-44-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13.00
n ID pass Quest:  224.000000
Accuracy:    0.57
Sensitivity: 0.43
Agreement:   0.57
|SynQuest | Med_Cons| SD_Cons|
|:--------|--------:|-------:|
|FALSE    |   0.1086|  0.6952|
|TRUE     |   0.0976|  0.1725|
|SynQuest | Med_Line| SD_Line|
|:--------|--------:|-------:|
|FALSE    |   0.0939|  0.4154|
|TRUE     |   0.0086|  0.1761|</a:t>
            </a:r>
          </a:p>
        </p:txBody>
      </p:sp>
      <p:pic>
        <p:nvPicPr>
          <p:cNvPr descr="Presentation_V1_files/figure-pptx/unnamed-chunk-44-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14.00
n ID pass Quest:  241.000000
Accuracy:    0.61
Sensitivity: 0.48
Agreement:   0.61
|SynQuest | Med_Cons| SD_Cons|
|:--------|--------:|-------:|
|FALSE    |   0.1083|  0.7115|
|TRUE     |   0.0990|  0.1699|
|SynQuest | Med_Line| SD_Line|
|:--------|--------:|-------:|
|FALSE    |   0.1133|  0.4179|
|TRUE     |   0.0086|  0.1822|</a:t>
            </a:r>
          </a:p>
        </p:txBody>
      </p:sp>
      <p:pic>
        <p:nvPicPr>
          <p:cNvPr descr="Presentation_V1_files/figure-pptx/unnamed-chunk-44-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15.00
n ID pass Quest:  259.000000
Accuracy:    0.64
Sensitivity: 0.53
Agreement:   0.64
|SynQuest | Med_Cons| SD_Cons|
|:--------|--------:|-------:|
|FALSE    |   0.1072|  0.7271|
|TRUE     |   0.0991|  0.2036|
|SynQuest | Med_Line| SD_Line|
|:--------|--------:|-------:|
|FALSE    |   0.1282|  0.4212|
|TRUE     |   0.0089|  0.1931|</a:t>
            </a:r>
          </a:p>
        </p:txBody>
      </p:sp>
      <p:pic>
        <p:nvPicPr>
          <p:cNvPr descr="Presentation_V1_files/figure-pptx/unnamed-chunk-44-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16.00
n ID pass Quest:  268.000000
Accuracy:    0.65
Sensitivity: 0.55
Agreement:   0.65
|SynQuest | Med_Cons| SD_Cons|
|:--------|--------:|-------:|
|FALSE    |   0.1086|  0.7368|
|TRUE     |   0.0991|  0.1998|
|SynQuest | Med_Line| SD_Line|
|:--------|--------:|-------:|
|FALSE    |   0.1356|  0.4224|
|TRUE     |   0.0089|  0.2002|</a:t>
            </a:r>
          </a:p>
        </p:txBody>
      </p:sp>
      <p:pic>
        <p:nvPicPr>
          <p:cNvPr descr="Presentation_V1_files/figure-pptx/unnamed-chunk-44-1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17.00
n ID pass Quest:  282.000000
Accuracy:    0.67
Sensitivity: 0.59
Agreement:   0.67
|SynQuest | Med_Cons| SD_Cons|
|:--------|--------:|-------:|
|FALSE    |   0.1169|  0.7530|
|TRUE     |   0.0992|  0.1951|
|SynQuest | Med_Line| SD_Line|
|:--------|--------:|-------:|
|FALSE    |   0.1526|  0.4234|
|TRUE     |   0.0126|  0.2159|</a:t>
            </a:r>
          </a:p>
        </p:txBody>
      </p:sp>
      <p:pic>
        <p:nvPicPr>
          <p:cNvPr descr="Presentation_V1_files/figure-pptx/unnamed-chunk-44-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18.00
n ID pass Quest:  299.000000
Accuracy:    0.69
Sensitivity: 0.63
Agreement:   0.69
|SynQuest | Med_Cons| SD_Cons|
|:--------|--------:|-------:|
|FALSE    |   0.1068|  0.7731|
|TRUE     |   0.1003|  0.2115|
|SynQuest | Med_Line| SD_Line|
|:--------|--------:|-------:|
|FALSE    |   0.1847|  0.4227|
|TRUE     |   0.0128|  0.2385|</a:t>
            </a:r>
          </a:p>
        </p:txBody>
      </p:sp>
      <p:pic>
        <p:nvPicPr>
          <p:cNvPr descr="Presentation_V1_files/figure-pptx/unnamed-chunk-44-1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19.00
n ID pass Quest:  315.000000
Accuracy:    0.71
Sensitivity: 0.66
Agreement:   0.71
|SynQuest | Med_Cons| SD_Cons|
|:--------|--------:|-------:|
|FALSE    |   0.0966|  0.7547|
|TRUE     |   0.1020|  0.3378|
|SynQuest | Med_Line| SD_Line|
|:--------|--------:|-------:|
|FALSE    |   0.2188|  0.4248|
|TRUE     |   0.0132|  0.2445|</a:t>
            </a:r>
          </a:p>
        </p:txBody>
      </p:sp>
      <p:pic>
        <p:nvPicPr>
          <p:cNvPr descr="Presentation_V1_files/figure-pptx/unnamed-chunk-44-1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20.00
n ID pass Quest:  328.000000
Accuracy:    0.73
Sensitivity: 0.69
Agreement:   0.73
|SynQuest | Med_Cons| SD_Cons|
|:--------|--------:|-------:|
|FALSE    |   0.0894|  0.7245|
|TRUE     |   0.1022|  0.4285|
|SynQuest | Med_Line| SD_Line|
|:--------|--------:|-------:|
|FALSE    |   0.2533|  0.4262|
|TRUE     |   0.0134|  0.2506|</a:t>
            </a:r>
          </a:p>
        </p:txBody>
      </p:sp>
      <p:pic>
        <p:nvPicPr>
          <p:cNvPr descr="Presentation_V1_files/figure-pptx/unnamed-chunk-44-1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21.00
n ID pass Quest:  340.000000
Accuracy:    0.75
Sensitivity: 0.73
Agreement:   0.75
|SynQuest | Med_Cons| SD_Cons|
|:--------|--------:|-------:|
|FALSE    |   0.0832|  0.7423|
|TRUE     |   0.1038|  0.4241|
|SynQuest | Med_Line| SD_Line|
|:--------|--------:|-------:|
|FALSE    |   0.3218|  0.4268|
|TRUE     |   0.0169|  0.2499|</a:t>
            </a:r>
          </a:p>
        </p:txBody>
      </p:sp>
      <p:pic>
        <p:nvPicPr>
          <p:cNvPr descr="Presentation_V1_files/figure-pptx/unnamed-chunk-44-1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22.00
n ID pass Quest:  354.000000
Accuracy:    0.76
Sensitivity: 0.76
Agreement:   0.76
|SynQuest | Med_Cons| SD_Cons|
|:--------|--------:|-------:|
|FALSE    |   0.0859|  0.7467|
|TRUE     |   0.1030|  0.4413|
|SynQuest | Med_Line| SD_Line|
|:--------|--------:|-------:|
|FALSE    |    0.459|  0.4262|
|TRUE     |    0.017|  0.2639|</a:t>
            </a:r>
          </a:p>
        </p:txBody>
      </p:sp>
      <p:pic>
        <p:nvPicPr>
          <p:cNvPr descr="Presentation_V1_files/figure-pptx/unnamed-chunk-44-1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23.00
n ID pass Quest:  367.000000
Accuracy:    0.78
Sensitivity: 0.78
Agreement:   0.78
|SynQuest | Med_Cons| SD_Cons|
|:--------|--------:|-------:|
|FALSE    |   0.0830|  0.7659|
|TRUE     |   0.1044|  0.4402|
|SynQuest | Med_Line| SD_Line|
|:--------|--------:|-------:|
|FALSE    |   0.5396|  0.4261|
|TRUE     |   0.0170|  0.2687|</a:t>
            </a:r>
          </a:p>
        </p:txBody>
      </p:sp>
      <p:pic>
        <p:nvPicPr>
          <p:cNvPr descr="Presentation_V1_files/figure-pptx/unnamed-chunk-44-1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24.00
n ID pass Quest:  373.000000
Accuracy:    0.78
Sensitivity: 0.79
Agreement:   0.78
|SynQuest | Med_Cons| SD_Cons|
|:--------|--------:|-------:|
|FALSE    |   0.0864|  0.7667|
|TRUE     |   0.1029|  0.4484|
|SynQuest | Med_Line| SD_Line|
|:--------|--------:|-------:|
|FALSE    |   0.5396|  0.4252|
|TRUE     |   0.0173|  0.2791|</a:t>
            </a:r>
          </a:p>
        </p:txBody>
      </p:sp>
      <p:pic>
        <p:nvPicPr>
          <p:cNvPr descr="Presentation_V1_files/figure-pptx/unnamed-chunk-44-1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25.00
n ID pass Quest:  385.000000
Accuracy:    0.76
Sensitivity: 0.80
Agreement:   0.76
|SynQuest | Med_Cons| SD_Cons|
|:--------|--------:|-------:|
|FALSE    |   0.0846|  0.7246|
|TRUE     |   0.1032|  0.5009|
|SynQuest | Med_Line| SD_Line|
|:--------|--------:|-------:|
|FALSE    |   0.5396|  0.4282|
|TRUE     |   0.0177|  0.2950|</a:t>
            </a:r>
          </a:p>
        </p:txBody>
      </p:sp>
      <p:pic>
        <p:nvPicPr>
          <p:cNvPr descr="Presentation_V1_files/figure-pptx/unnamed-chunk-44-1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26.00
n ID pass Quest:  399.000000
Accuracy:    0.76
Sensitivity: 0.82
Agreement:   0.76
|SynQuest | Med_Cons| SD_Cons|
|:--------|--------:|-------:|
|FALSE    |   0.0864|  0.7173|
|TRUE     |   0.1029|  0.5185|
|SynQuest | Med_Line| SD_Line|
|:--------|--------:|-------:|
|FALSE    |   0.5906|  0.4303|
|TRUE     |   0.0179|  0.3018|</a:t>
            </a:r>
          </a:p>
        </p:txBody>
      </p:sp>
      <p:pic>
        <p:nvPicPr>
          <p:cNvPr descr="Presentation_V1_files/figure-pptx/unnamed-chunk-44-2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27.00
n ID pass Quest:  410.000000
Accuracy:    0.77
Sensitivity: 0.84
Agreement:   0.77
|SynQuest | Med_Cons| SD_Cons|
|:--------|--------:|-------:|
|FALSE    |   0.0859|  0.7149|
|TRUE     |   0.1026|  0.5279|
|SynQuest | Med_Line| SD_Line|
|:--------|--------:|-------:|
|FALSE    |   0.5975|  0.4310|
|TRUE     |   0.0179|  0.3092|</a:t>
            </a:r>
          </a:p>
        </p:txBody>
      </p:sp>
      <p:pic>
        <p:nvPicPr>
          <p:cNvPr descr="Presentation_V1_files/figure-pptx/unnamed-chunk-44-2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28.00
n ID pass Quest:  426.000000
Accuracy:    0.78
Sensitivity: 0.87
Agreement:   0.78
|SynQuest | Med_Cons| SD_Cons|
|:--------|--------:|-------:|
|FALSE    |   0.0676|  0.7407|
|TRUE     |   0.1030|  0.5267|
|SynQuest | Med_Line| SD_Line|
|:--------|--------:|-------:|
|FALSE    |   0.6843|  0.4276|
|TRUE     |   0.0179|  0.3156|</a:t>
            </a:r>
          </a:p>
        </p:txBody>
      </p:sp>
      <p:pic>
        <p:nvPicPr>
          <p:cNvPr descr="Presentation_V1_files/figure-pptx/unnamed-chunk-44-2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29.00
n ID pass Quest:  433.000000
Accuracy:    0.78
Sensitivity: 0.88
Agreement:   0.78
|SynQuest | Med_Cons| SD_Cons|
|:--------|--------:|-------:|
|FALSE    |   0.0752|  0.7598|
|TRUE     |   0.1029|  0.5224|
|SynQuest | Med_Line| SD_Line|
|:--------|--------:|-------:|
|FALSE    |   0.6853|  0.4226|
|TRUE     |   0.0179|  0.3217|</a:t>
            </a:r>
          </a:p>
        </p:txBody>
      </p:sp>
      <p:pic>
        <p:nvPicPr>
          <p:cNvPr descr="Presentation_V1_files/figure-pptx/unnamed-chunk-44-2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30.00
n ID pass Quest:  440.000000
Accuracy:    0.78
Sensitivity: 0.89
Agreement:   0.78
|SynQuest | Med_Cons| SD_Cons|
|:--------|--------:|-------:|
|FALSE    |   0.0625|  0.7451|
|TRUE     |   0.1030|  0.5353|
|SynQuest | Med_Line| SD_Line|
|:--------|--------:|-------:|
|FALSE    |   0.6863|  0.4211|
|TRUE     |   0.0209|  0.3281|</a:t>
            </a:r>
          </a:p>
        </p:txBody>
      </p:sp>
      <p:pic>
        <p:nvPicPr>
          <p:cNvPr descr="Presentation_V1_files/figure-pptx/unnamed-chunk-44-2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31.00
n ID pass Quest:  446.000000
Accuracy:    0.77
Sensitivity: 0.90
Agreement:   0.77
|SynQuest | Med_Cons| SD_Cons|
|:--------|--------:|-------:|
|FALSE    |   0.0466|  0.7660|
|TRUE     |   0.1038|  0.5314|
|SynQuest | Med_Line| SD_Line|
|:--------|--------:|-------:|
|FALSE    |   0.6863|  0.4211|
|TRUE     |   0.0210|  0.3337|</a:t>
            </a:r>
          </a:p>
        </p:txBody>
      </p:sp>
      <p:pic>
        <p:nvPicPr>
          <p:cNvPr descr="Presentation_V1_files/figure-pptx/unnamed-chunk-44-2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32.00
n ID pass Quest:  453.000000
Accuracy:    0.77
Sensitivity: 0.91
Agreement:   0.77
|SynQuest | Med_Cons| SD_Cons|
|:--------|--------:|-------:|
|FALSE    |   0.0453|  0.6961|
|TRUE     |   0.1052|  0.5599|
|SynQuest | Med_Line| SD_Line|
|:--------|--------:|-------:|
|FALSE    |   0.7209|  0.4220|
|TRUE     |   0.0213|  0.3364|</a:t>
            </a:r>
          </a:p>
        </p:txBody>
      </p:sp>
      <p:pic>
        <p:nvPicPr>
          <p:cNvPr descr="Presentation_V1_files/figure-pptx/unnamed-chunk-44-2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33.00
n ID pass Quest:  457.000000
Accuracy:    0.76
Sensitivity: 0.91
Agreement:   0.76
|SynQuest | Med_Cons| SD_Cons|
|:--------|--------:|-------:|
|FALSE    |   0.0459|  0.7088|
|TRUE     |   0.1044|  0.5575|
|SynQuest | Med_Line| SD_Line|
|:--------|--------:|-------:|
|FALSE    |   0.7209|  0.4243|
|TRUE     |   0.0213|  0.3391|</a:t>
            </a:r>
          </a:p>
        </p:txBody>
      </p:sp>
      <p:pic>
        <p:nvPicPr>
          <p:cNvPr descr="Presentation_V1_files/figure-pptx/unnamed-chunk-44-2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34.00
n ID pass Quest:  466.000000
Accuracy:    0.77
Sensitivity: 0.93
Agreement:   0.77
|SynQuest | Med_Cons| SD_Cons|
|:--------|--------:|-------:|
|FALSE    |   0.0453|  0.6512|
|TRUE     |   0.1048|  0.5755|
|SynQuest | Med_Line| SD_Line|
|:--------|--------:|-------:|
|FALSE    |   0.8048|  0.4184|
|TRUE     |   0.0220|  0.3420|</a:t>
            </a:r>
          </a:p>
        </p:txBody>
      </p:sp>
      <p:pic>
        <p:nvPicPr>
          <p:cNvPr descr="Presentation_V1_files/figure-pptx/unnamed-chunk-44-2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35.00
n ID pass Quest:  478.000000
Accuracy:    0.76
Sensitivity: 0.94
Agreement:   0.76
|SynQuest | Med_Cons| SD_Cons|
|:--------|--------:|-------:|
|FALSE    |   0.0529|  0.6949|
|TRUE     |   0.1030|  0.5690|
|SynQuest | Med_Line| SD_Line|
|:--------|--------:|-------:|
|FALSE    |   0.7342|  0.4102|
|TRUE     |   0.0223|  0.3539|</a:t>
            </a:r>
          </a:p>
        </p:txBody>
      </p:sp>
      <p:pic>
        <p:nvPicPr>
          <p:cNvPr descr="Presentation_V1_files/figure-pptx/unnamed-chunk-44-2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36.00
n ID pass Quest:  488.000000
Accuracy:    0.76
Sensitivity: 0.95
Agreement:   0.76
|SynQuest | Med_Cons| SD_Cons|
|:--------|--------:|-------:|
|FALSE    |   0.0529|  0.6975|
|TRUE     |   0.1030|  0.5726|
|SynQuest | Med_Line| SD_Line|
|:--------|--------:|-------:|
|FALSE    |   0.7342|  0.4015|
|TRUE     |   0.0238|  0.3594|</a:t>
            </a:r>
          </a:p>
        </p:txBody>
      </p:sp>
      <p:pic>
        <p:nvPicPr>
          <p:cNvPr descr="Presentation_V1_files/figure-pptx/unnamed-chunk-44-30.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37.00
n ID pass Quest:  491.000000
Accuracy:    0.76
Sensitivity: 0.95
Agreement:   0.76
|SynQuest | Med_Cons| SD_Cons|
|:--------|--------:|-------:|
|FALSE    |   0.0497|  0.7152|
|TRUE     |   0.1032|  0.5711|
|SynQuest | Med_Line| SD_Line|
|:--------|--------:|-------:|
|FALSE    |   0.7695|  0.4019|
|TRUE     |   0.0253|  0.3611|</a:t>
            </a:r>
          </a:p>
        </p:txBody>
      </p:sp>
      <p:pic>
        <p:nvPicPr>
          <p:cNvPr descr="Presentation_V1_files/figure-pptx/unnamed-chunk-44-3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38.00
n ID pass Quest:  495.000000
Accuracy:    0.76
Sensitivity: 0.96
Agreement:   0.76
|SynQuest | Med_Cons| SD_Cons|
|:--------|--------:|-------:|
|FALSE    |   0.0497|  0.6812|
|TRUE     |   0.1032|  0.5774|
|SynQuest | Med_Line| SD_Line|
|:--------|--------:|-------:|
|FALSE    |   0.7695|  0.4018|
|TRUE     |   0.0254|  0.3633|</a:t>
            </a:r>
          </a:p>
        </p:txBody>
      </p:sp>
      <p:pic>
        <p:nvPicPr>
          <p:cNvPr descr="Presentation_V1_files/figure-pptx/unnamed-chunk-44-32.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39.00
n ID pass Quest:  501.000000
Accuracy:    0.75
Sensitivity: 0.96
Agreement:   0.75
|SynQuest | Med_Cons| SD_Cons|
|:--------|--------:|-------:|
|FALSE    |   0.0545|  0.7206|
|TRUE     |   0.1029|  0.5740|
|SynQuest | Med_Line| SD_Line|
|:--------|--------:|-------:|
|FALSE    |   0.7695|  0.4034|
|TRUE     |   0.0257|  0.3671|</a:t>
            </a:r>
          </a:p>
        </p:txBody>
      </p:sp>
      <p:pic>
        <p:nvPicPr>
          <p:cNvPr descr="Presentation_V1_files/figure-pptx/unnamed-chunk-44-3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40.00
n ID pass Quest:  506.000000
Accuracy:    0.75
Sensitivity: 0.97
Agreement:   0.75
|SynQuest | Med_Cons| SD_Cons|
|:--------|--------:|-------:|
|FALSE    |   0.0466|  0.7022|
|TRUE     |   0.1030|  0.5785|
|SynQuest | Med_Line| SD_Line|
|:--------|--------:|-------:|
|FALSE    |   0.8048|  0.4012|
|TRUE     |   0.0261|  0.3689|</a:t>
            </a:r>
          </a:p>
        </p:txBody>
      </p:sp>
      <p:pic>
        <p:nvPicPr>
          <p:cNvPr descr="Presentation_V1_files/figure-pptx/unnamed-chunk-44-34.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41.00
n ID pass Quest:  511.000000
Accuracy:    0.74
Sensitivity: 0.97
Agreement:   0.74
|SynQuest | Med_Cons| SD_Cons|
|:--------|--------:|-------:|
|FALSE    |   0.0417|  0.7274|
|TRUE     |   0.1032|  0.5787|
|SynQuest | Med_Line| SD_Line|
|:--------|--------:|-------:|
|FALSE    |   0.8649|  0.4099|
|TRUE     |   0.0266|  0.3700|</a:t>
            </a:r>
          </a:p>
        </p:txBody>
      </p:sp>
      <p:pic>
        <p:nvPicPr>
          <p:cNvPr descr="Presentation_V1_files/figure-pptx/unnamed-chunk-44-3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42.00
n ID pass Quest:  520.000000
Accuracy:    0.74
Sensitivity: 0.98
Agreement:   0.74
|SynQuest | Med_Cons| SD_Cons|
|:--------|--------:|-------:|
|FALSE    |   0.0098|  0.7709|
|TRUE     |   0.1026|  0.5799|
|SynQuest | Med_Line| SD_Line|
|:--------|--------:|-------:|
|FALSE    |   0.8769|  0.4152|
|TRUE     |   0.0297|  0.3742|</a:t>
            </a:r>
          </a:p>
        </p:txBody>
      </p:sp>
      <p:pic>
        <p:nvPicPr>
          <p:cNvPr descr="Presentation_V1_files/figure-pptx/unnamed-chunk-44-36.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43.00
n ID pass Quest:  523.000000
Accuracy:    0.74
Sensitivity: 0.99
Agreement:   0.74
|SynQuest | Med_Cons| SD_Cons|
|:--------|--------:|-------:|
|FALSE    |   0.0049|  0.8318|
|TRUE     |   0.1024|  0.5783|
|SynQuest | Med_Line| SD_Line|
|:--------|--------:|-------:|
|FALSE    |   0.8814|  0.3825|
|TRUE     |   0.0297|  0.3746|</a:t>
            </a:r>
          </a:p>
        </p:txBody>
      </p:sp>
      <p:pic>
        <p:nvPicPr>
          <p:cNvPr descr="Presentation_V1_files/figure-pptx/unnamed-chunk-44-37.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Questionnaire score:    44.00
n ID pass Quest:  530.000000
Accuracy:    0.74
Sensitivity: 1.00
Agreement:   0.74
|SynQuest | Med_Cons| SD_Cons|
|:--------|--------:|-------:|
|FALSE    |    0.000|  0.0069|
|TRUE     |    0.103|  0.5919|
|SynQuest | Med_Line| SD_Line|
|:--------|--------:|-------:|
|FALSE    |   0.9909|  0.0666|
|TRUE     |   0.0298|  0.3750|</a:t>
            </a:r>
          </a:p>
        </p:txBody>
      </p:sp>
      <p:pic>
        <p:nvPicPr>
          <p:cNvPr descr="Presentation_V1_files/figure-pptx/unnamed-chunk-44-38.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Questionnaire score:    45.00
n ID pass Quest:  537.000000
Accuracy:    0.73
Sensitivity: 1.00
Agreement:   0.73
|SynQuest | Med_Cons| SD_Cons|
|:--------|--------:|-------:|
|TRUE     |   0.1009|  0.5887|
|SynQuest | Med_Line| SD_Line|
|:--------|--------:|-------:|
|TRUE     |   0.0309|  0.3823|</a:t>
            </a:r>
          </a:p>
          <a:p>
            <a:pPr lvl="0" indent="0">
              <a:buNone/>
            </a:pPr>
            <a:r>
              <a:rPr>
                <a:latin typeface="Courier"/>
              </a:rPr>
              <a:t>R version 4.3.3 (2024-02-29)
Platform: aarch64-apple-darwin20 (64-bit)
Running under: macOS 15.5
Matrix products: default
BLAS:   /Library/Frameworks/R.framework/Versions/4.3-arm64/Resources/lib/libRblas.0.dylib 
LAPACK: /Library/Frameworks/R.framework/Versions/4.3-arm64/Resources/lib/libRlapack.dylib;  LAPACK version 3.11.0
locale:
[1] en_US.UTF-8/en_US.UTF-8/en_US.UTF-8/C/en_US.UTF-8/en_US.UTF-8
time zone: Europe/Zurich
tzcode source: internal
attached base packages:
[1] stats     graphics  grDevices utils     datasets  methods   base     
other attached packages:
 [1] irr_0.84.1        lpSolve_5.6.23    ggforce_0.4.2     ggalluvial_0.12.5
 [5] ggridges_0.5.6    readxl_1.4.5      ggplot2_3.5.2     dplyr_1.1.4      
 [9] tidyr_1.3.1       readr_2.1.5      
loaded via a namespace (and not attached):
 [1] gtable_0.3.6       jsonlite_2.0.0     compiler_4.3.3     Rcpp_1.0.14       
 [5] tidyselect_1.2.1   textshaping_1.0.1  systemfonts_1.2.3  scales_1.4.0      
 [9] yaml_2.3.10        fastmap_1.2.0      R6_2.6.1           labeling_0.4.3    
[13] generics_0.1.4     knitr_1.50         MASS_7.3-60.0.1    polyclip_1.10-7   
[17] tibble_3.3.0       pillar_1.10.2      RColorBrewer_1.1-3 tzdb_0.5.0        
[21] rlang_1.1.6        utf8_1.2.6         xfun_0.52          cli_3.6.5         
[25] tweenr_2.0.3       withr_3.0.2        magrittr_2.0.3     digest_0.6.37     
[29] grid_4.3.3         rstudioapi_0.17.1  hms_1.1.3          lifecycle_1.0.4   
[33] vctrs_0.6.5        evaluate_1.0.3     glue_1.8.0         farver_2.1.2      
[37] cellranger_1.1.0   ragg_1.4.0         rmarkdown_2.29     purrr_1.0.4       
[41] tools_4.3.3        pkgconfig_2.0.3    htmltools_0.5.8.1 </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creator>RL</dc:creator>
  <cp:keywords/>
  <dcterms:created xsi:type="dcterms:W3CDTF">2025-07-14T11:34:43Z</dcterms:created>
  <dcterms:modified xsi:type="dcterms:W3CDTF">2025-07-14T11:34:43Z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