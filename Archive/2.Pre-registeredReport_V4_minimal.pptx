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4" Type="http://schemas.openxmlformats.org/officeDocument/2006/relationships/viewProps" Target="viewProps.xml" /><Relationship Id="rId33" Type="http://schemas.openxmlformats.org/officeDocument/2006/relationships/presProps" Target="presProps.xml" /><Relationship Id="rId1" Type="http://schemas.openxmlformats.org/officeDocument/2006/relationships/slideMaster" Target="slideMasters/slideMaster1.xml" /><Relationship Id="rId36" Type="http://schemas.openxmlformats.org/officeDocument/2006/relationships/tableStyles" Target="tableStyles.xml" /><Relationship Id="rId35"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sf.io/9efjb/" TargetMode="Externa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slide" Target="slide31.xml" /><Relationship Id="rId3" Type="http://schemas.openxmlformats.org/officeDocument/2006/relationships/hyperlink" Target="https://osf.io/6hq94/files/osfstorage" TargetMode="External" /></Relationships>
</file>

<file path=ppt/slides/_rels/slide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postgis.net/docs/ST_IsValid.html" TargetMode="Externa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1.png" /></Relationships>
</file>

<file path=ppt/slides/_rels/slide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2.png" /></Relationships>
</file>

<file path=ppt/slides/_rels/slide19.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3.png" /></Relationships>
</file>

<file path=ppt/slides/_rels/slide20.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png"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png" /></Relationships>
</file>

<file path=ppt/slides/_rels/slide22.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6.png"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osf.io/pjb6e/?view_only=d467ebf4c1f94076ae4ac61298255065" TargetMode="External" /><Relationship Id="rId3" Type="http://schemas.openxmlformats.org/officeDocument/2006/relationships/hyperlink" Target="https://osf.io/6h8dx" TargetMode="Externa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7.png"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8.png" /></Relationships>
</file>

<file path=ppt/slides/_rels/slide28.xml.rels><?xml version="1.0" encoding="UTF-8"?><Relationships xmlns="http://schemas.openxmlformats.org/package/2006/relationships"><Relationship Id="rId1" Type="http://schemas.openxmlformats.org/officeDocument/2006/relationships/slideLayout" Target="../slideLayouts/slideLayout8.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9.png" /></Relationships>
</file>

<file path=ppt/slides/_rels/slide3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1007/s10339-013-0561-5" TargetMode="External" /><Relationship Id="rId3" Type="http://schemas.openxmlformats.org/officeDocument/2006/relationships/hyperlink" Target="https://doi.org/10.3758/s13423-013-0387-2" TargetMode="External" /><Relationship Id="rId4" Type="http://schemas.openxmlformats.org/officeDocument/2006/relationships/hyperlink" Target="https://doi.org/10.1038/021252a0" TargetMode="External" /><Relationship Id="rId5" Type="http://schemas.openxmlformats.org/officeDocument/2006/relationships/hyperlink" Target="https://doi.org/10.32614/RJ-2018-009" TargetMode="External" /><Relationship Id="rId6" Type="http://schemas.openxmlformats.org/officeDocument/2006/relationships/hyperlink" Target="https://doi.org/10.1080/02643290600780080" TargetMode="External" /><Relationship Id="rId7" Type="http://schemas.openxmlformats.org/officeDocument/2006/relationships/hyperlink" Target="https://doi.org/10.1016/j.concog.2021.103192" TargetMode="External" /><Relationship Id="rId8" Type="http://schemas.openxmlformats.org/officeDocument/2006/relationships/hyperlink" Target="https://doi.org/10.1016/j.concog.2025.103819" TargetMode="External" /><Relationship Id="rId9" Type="http://schemas.openxmlformats.org/officeDocument/2006/relationships/hyperlink" Target="https://doi.org/10.3758/s13428-015-0656-2" TargetMode="External" /><Relationship Id="rId10" Type="http://schemas.openxmlformats.org/officeDocument/2006/relationships/hyperlink" Target="https://doi.org/10.1016/j.jneumeth.2013.02.009" TargetMode="External" /><Relationship Id="rId11" Type="http://schemas.openxmlformats.org/officeDocument/2006/relationships/hyperlink" Target="https://doi.org/10.1016/j.cognition.2005.09.004" TargetMode="External" /><Relationship Id="rId12" Type="http://schemas.openxmlformats.org/officeDocument/2006/relationships/hyperlink" Target="https://doi.org/10.1016/0010-0277(92)90053-K" TargetMode="External" /><Relationship Id="rId13" Type="http://schemas.openxmlformats.org/officeDocument/2006/relationships/hyperlink" Target="https://doi.org/10.1016/j.cortex.2020.04.034" TargetMode="External" /><Relationship Id="rId14" Type="http://schemas.openxmlformats.org/officeDocument/2006/relationships/hyperlink" Target="https://doi.org/10.1016/j.cortex.2020.04.034" TargetMode="External" /><Relationship Id="rId15" Type="http://schemas.openxmlformats.org/officeDocument/2006/relationships/hyperlink" Target="https://doi.org/10.31234/osf.io/5cnr7" TargetMode="External" /><Relationship Id="rId16" Type="http://schemas.openxmlformats.org/officeDocument/2006/relationships/hyperlink" Target="https://doi.org/10.1016/j.concog.2018.03.012" TargetMode="External"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Pre-registered report: Space Sequence Synesthesia Diagnostic using form mapping</a:t>
            </a:r>
          </a:p>
        </p:txBody>
      </p:sp>
      <p:sp>
        <p:nvSpPr>
          <p:cNvPr id="3" name="Subtitle 2"/>
          <p:cNvSpPr>
            <a:spLocks noGrp="1"/>
          </p:cNvSpPr>
          <p:nvPr>
            <p:ph idx="1" type="subTitle"/>
          </p:nvPr>
        </p:nvSpPr>
        <p:spPr>
          <a:xfrm>
            <a:off x="1371600" y="2914650"/>
            <a:ext cx="6400800" cy="1314450"/>
          </a:xfrm>
        </p:spPr>
        <p:txBody>
          <a:bodyPr/>
          <a:lstStyle/>
          <a:p>
            <a:pPr lvl="0" indent="0" marL="0">
              <a:buNone/>
            </a:pPr>
            <a:br/>
            <a:br/>
          </a:p>
        </p:txBody>
      </p:sp>
      <p:sp>
        <p:nvSpPr>
          <p:cNvPr id="4" name="Date Placeholder 3"/>
          <p:cNvSpPr>
            <a:spLocks noGrp="1"/>
          </p:cNvSpPr>
          <p:nvPr>
            <p:ph idx="10" sz="half" type="dt"/>
          </p:nvPr>
        </p:nvSpPr>
        <p:spPr/>
        <p:txBody>
          <a:bodyPr/>
          <a:lstStyle/>
          <a:p>
            <a:pPr lvl="0" indent="0" marL="0">
              <a:buNone/>
            </a:pPr>
            <a:r>
              <a:rPr/>
              <a:t>2025-11-06</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 Abstract:</a:t>
            </a:r>
          </a:p>
        </p:txBody>
      </p:sp>
      <p:sp>
        <p:nvSpPr>
          <p:cNvPr id="3" name="Content Placeholder 2"/>
          <p:cNvSpPr>
            <a:spLocks noGrp="1"/>
          </p:cNvSpPr>
          <p:nvPr>
            <p:ph idx="1"/>
          </p:nvPr>
        </p:nvSpPr>
        <p:spPr/>
        <p:txBody>
          <a:bodyPr/>
          <a:lstStyle/>
          <a:p>
            <a:pPr lvl="0" indent="0" marL="0">
              <a:buNone/>
            </a:pPr>
            <a:r>
              <a:rPr/>
              <a:t>Existent diagnostic tools for space sequence synethesia are based on questionnaire and response consistency. Consistency is calculated as the area between repetitions for the same inducer. In the first present phase, available data from 467 participants is used to explore new geometrical features to discriminate syntheses from controls. Conceptually, our goal is to take advantage of the inducer’s ordinality that create synesthetic forms. For this aim, we harness a geography package to extract geometrical features to use as a test for synethesia. Reciever Operator Characteristics are used to select the features that best diagnose synesthesia. In a second phase to come, we test the predictive power of the new diagnostic features onto newly collected dataset.</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 Introduction</a:t>
            </a:r>
          </a:p>
        </p:txBody>
      </p:sp>
      <p:sp>
        <p:nvSpPr>
          <p:cNvPr id="3" name="Content Placeholder 2"/>
          <p:cNvSpPr>
            <a:spLocks noGrp="1"/>
          </p:cNvSpPr>
          <p:nvPr>
            <p:ph idx="1"/>
          </p:nvPr>
        </p:nvSpPr>
        <p:spPr/>
        <p:txBody>
          <a:bodyPr/>
          <a:lstStyle/>
          <a:p>
            <a:pPr lvl="0" indent="0" marL="0">
              <a:buNone/>
            </a:pPr>
            <a:r>
              <a:rPr/>
              <a:t>Humans with Sequence Space Synesthesia (SSS) represent ordered sequences in particular spatial positions. For example, August (i.e. the </a:t>
            </a:r>
            <a:r>
              <a:rPr i="1"/>
              <a:t>inducer)</a:t>
            </a:r>
            <a:r>
              <a:rPr/>
              <a:t> might be represented in the bottom left position (i.e. the position is here the </a:t>
            </a:r>
            <a:r>
              <a:rPr i="1"/>
              <a:t>concurrent),</a:t>
            </a:r>
            <a:r>
              <a:rPr/>
              <a:t> this position is relative to the concurrent position of the other months which could form a circle all together. In addition time units, numbers also take particular forms (Galton 1880), not to be confused with the Mental Number Line [Dehaene to be found]. These forms are idiosyncratic, meaning they might vary across individuals. This makes it difficult to detect authentic SSS and therefore give precise estimates of prevalence in the population. Estimated prevalence for SSS in the general population spans between 4.4 % (Brang et al. 2013) and 14.2 % (Seron et al. 1992), see also (Ward et al. 2018; Sagiv et al. 2006). Hence a reliable diagnostic tool to detect SSS would also be useful to investigate SSS.</a:t>
            </a:r>
          </a:p>
          <a:p>
            <a:pPr lvl="0" indent="0" marL="0">
              <a:buNone/>
            </a:pPr>
            <a:r>
              <a:rPr/>
              <a:t>Diagnostic depends on the definition of the conditions under investigation. A strict definition of Synestheesia requires five different criteria (Deroy and Spence 2013). </a:t>
            </a:r>
            <a:r>
              <a:rPr i="1"/>
              <a:t>Automaticity</a:t>
            </a:r>
            <a:r>
              <a:rPr/>
              <a:t>: the </a:t>
            </a:r>
            <a:r>
              <a:rPr i="1"/>
              <a:t>inducer</a:t>
            </a:r>
            <a:r>
              <a:rPr/>
              <a:t> automatically triggers the </a:t>
            </a:r>
            <a:r>
              <a:rPr i="1"/>
              <a:t>concurrent</a:t>
            </a:r>
            <a:r>
              <a:rPr/>
              <a:t>. For example august might automatically trigger it’s specific spatial location. </a:t>
            </a:r>
            <a:r>
              <a:rPr i="1"/>
              <a:t>Unidirectionality</a:t>
            </a:r>
            <a:r>
              <a:rPr/>
              <a:t>: while the </a:t>
            </a:r>
            <a:r>
              <a:rPr i="1"/>
              <a:t>inducer</a:t>
            </a:r>
            <a:r>
              <a:rPr/>
              <a:t> triggers the concurrent, the concurrent does not trigger the inducer. Hence the bottom left position doe not trigger August. </a:t>
            </a:r>
            <a:r>
              <a:rPr i="1"/>
              <a:t>Consciousness</a:t>
            </a:r>
            <a:r>
              <a:rPr/>
              <a:t>: The concurrent is consciously percieved. </a:t>
            </a:r>
            <a:r>
              <a:rPr i="1"/>
              <a:t>Developmentally early</a:t>
            </a:r>
            <a:r>
              <a:rPr/>
              <a:t>: the experience was already present during childhood. </a:t>
            </a:r>
            <a:r>
              <a:rPr i="1"/>
              <a:t>Consistency</a:t>
            </a:r>
            <a:r>
              <a:rPr/>
              <a:t>: the inducer-concurrent pair remains stable in time. For example, August triggers the same bottom left position. Consistency is arguably the most suited criteria to develop a diagnostic tool since it is relatively simple to implement in a behavioral task and quantify.</a:t>
            </a:r>
          </a:p>
          <a:p>
            <a:pPr lvl="0" indent="0" marL="0">
              <a:buNone/>
            </a:pPr>
            <a:r>
              <a:rPr/>
              <a:t>Hence given consistency, similar concurrent responses triggered by the same inducers can be used as a marker for authentic SSS. Consistency test have become golden standart for colour-grapheme synesthesia, where an inducer is presented (i.e. letters of the alphabet) and the participant is requested to selected the concurrent colour, using a colour picker. Individual consistency is then calculated as the distance between repeated colour responses to the same inducers. Interestingly, the best colour space to detect colour-grapheme synesthesia is CIE*LUV, a colour space developed to be isoform to human perception (Rothen et al. 2013). Analogously to grapheme-colour synesthetes, consistency test can be used to diagnose SSS. In that tasks, it is repeatedly asked to report the position of the inducers on a screen. The total area between the responses of same inducer (i.e. a triangle if repeated three times) is then used as characteristic to diagnose SSS. The rationale being that consistent responses would lead to smaller area than inconsistent ones (Rothen et al. 2016). This method resembles how number forms are describe in the single case study (Piazza, Pinel, and Dehaene 2006), see Experiment 1.</a:t>
            </a:r>
          </a:p>
          <a:p>
            <a:pPr lvl="0" indent="0" marL="0">
              <a:buNone/>
            </a:pPr>
            <a:r>
              <a:rPr/>
              <a:t>However characterizing synesthetes from non synesthetes using total area has several limitations. For example high consistency by non-synesthetes can be achieved by giving all responses on the same screen position (i.e. false positive). Moreover, this kond of criteria might bias the diagnosis to include synesthetes with straigth lines which leads to less variability than more complex forms(</a:t>
            </a:r>
            <a:r>
              <a:rPr b="1"/>
              <a:t>Ward?</a:t>
            </a:r>
            <a:r>
              <a:rPr/>
              <a:t>).</a:t>
            </a:r>
          </a:p>
          <a:p>
            <a:pPr lvl="0" indent="0" marL="0">
              <a:buNone/>
            </a:pPr>
            <a:r>
              <a:rPr/>
              <a:t>The goal of the present registered report is to first identify new features characterizing synesthetes responses based on already available datasets and test the best working features on a future dataset. The new features are desgined to take advantage of two properties of synesthetic responses that have not been included in precedent consistency tests. First, sequentiality on top of single inducer responses the ordered position between subsequent induces is important. For example the relative position of August and the other months. From numerical cognition, ordinality has been aknowledged to be an important semantic property of numbers, also given their sequential acquisition (i.e. 1 is learned before 2). Second, thee particular synthetic forms of the sequential spatial location. These forms might have geometrical properties. For example months of the year might be represented circularly (as already described by (Galton 1880) for numbers).</a:t>
            </a:r>
          </a:p>
          <a:p>
            <a:pPr lvl="0" indent="0" marL="0">
              <a:buNone/>
            </a:pPr>
            <a:r>
              <a:rPr/>
              <a:t>To take advantage of sequential and geometrical synesthetic forms, we harnessed a geo-spatial package(Pebesma 2018) to extract geometrical features from participant x and y coordinate responses. This packages allows for example to build string or polygons for each repetition and compare different geometrical features. Those individual geometrical features are then compared using Receiver Operator Charactheristics (ROC) between individuals grouped as synesthes and control. In the present </a:t>
            </a:r>
            <a:r>
              <a:rPr i="1"/>
              <a:t>phase I</a:t>
            </a:r>
            <a:r>
              <a:rPr/>
              <a:t>,we compare ROC on three merged derivationdatasets using the same task on SSS Ward (n.d.). In future </a:t>
            </a:r>
            <a:r>
              <a:rPr i="1"/>
              <a:t>phase II</a:t>
            </a:r>
            <a:r>
              <a:rPr/>
              <a:t>, we compare whether the features selected to diagnose SSS in </a:t>
            </a:r>
            <a:r>
              <a:rPr i="1"/>
              <a:t>phase I,</a:t>
            </a:r>
            <a:r>
              <a:rPr/>
              <a:t> on a validation dataset that is not yet acquired (registered report on the open science foundation: </a:t>
            </a:r>
            <a:r>
              <a:rPr>
                <a:hlinkClick r:id="rId2"/>
              </a:rPr>
              <a:t>https://osf.io/9efjb/</a:t>
            </a:r>
            <a:r>
              <a:rPr b="1"/>
              <a:t>).</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3. Methods</a:t>
            </a:r>
          </a:p>
        </p:txBody>
      </p:sp>
      <p:sp>
        <p:nvSpPr>
          <p:cNvPr id="3" name="Content Placeholder 2"/>
          <p:cNvSpPr>
            <a:spLocks noGrp="1"/>
          </p:cNvSpPr>
          <p:nvPr>
            <p:ph idx="1"/>
          </p:nvPr>
        </p:nvSpPr>
        <p:spPr/>
        <p:txBody>
          <a:bodyPr/>
          <a:lstStyle/>
          <a:p>
            <a:pPr lvl="0" indent="0" marL="0">
              <a:buNone/>
            </a:pPr>
            <a:r>
              <a:rPr i="1"/>
              <a:t>Phase I: present analyses</a:t>
            </a:r>
            <a:r>
              <a:rPr/>
              <a:t>. We merge three available dataset and compared available diagnostic criteria across datasets using Reciever Operator Charachteristics (ROC) for different approaches. A first approach of diagnostic criteria based on a stimulus level consistency. The rationale being that synesthetes should produce more consistent (i.e. less variable) across repetitions. Such criteria include area between repetitions</a:t>
            </a:r>
            <a:r>
              <a:rPr baseline="30000">
                <a:hlinkClick r:id="rId2" action="ppaction://hlinksldjump"/>
              </a:rPr>
              <a:t>1</a:t>
            </a:r>
            <a:r>
              <a:rPr/>
              <a:t>, standard deviation of responses [@ward] or permuted responses (Root et al. 2025)? . The second suggested approach is to look at the geometrical form generated by the responses across repetitions. The rationale here is that synestetic responses should have geometrical feature that differ from controls. For example, several SSS representations for months are circular. For the form</a:t>
            </a:r>
          </a:p>
          <a:p>
            <a:pPr lvl="0" indent="0" marL="0">
              <a:buNone/>
            </a:pPr>
            <a:r>
              <a:rPr/>
              <a:t>Third, we compare wheter the featuers lead to somilar ROC charachteristics across the different sets (i.e. for months, weeks and numbers). Fourth, we compute new candidate geometrical features that could be used to diagnose SS. Finally we summarize and compare all ROC and select the best features that class synesthetes from control with the merged dataset.</a:t>
            </a:r>
          </a:p>
          <a:p>
            <a:pPr lvl="0" indent="0" marL="0">
              <a:buNone/>
            </a:pPr>
            <a:r>
              <a:rPr i="1"/>
              <a:t>Phase II: future analyses.</a:t>
            </a:r>
            <a:r>
              <a:rPr/>
              <a:t> On a future dataset using the same task, we will compare the predictive power of the selected features using ROC.</a:t>
            </a:r>
          </a:p>
          <a:p>
            <a:pPr lvl="0" indent="0" marL="0">
              <a:spcBef>
                <a:spcPts val="3000"/>
              </a:spcBef>
              <a:buNone/>
            </a:pPr>
            <a:r>
              <a:rPr b="1"/>
              <a:t>3.1 Materials</a:t>
            </a:r>
          </a:p>
          <a:p>
            <a:pPr lvl="0" indent="0" marL="0">
              <a:buNone/>
            </a:pPr>
            <a:r>
              <a:rPr/>
              <a:t>A the exception of (Rothen et al. 2016) (see </a:t>
            </a:r>
            <a:r>
              <a:rPr>
                <a:hlinkClick r:id="rId3"/>
              </a:rPr>
              <a:t>https://osf.io/6hq94/files/osfstorage</a:t>
            </a:r>
            <a:r>
              <a:rPr/>
              <a:t>), the data from (Ward, n.d.; Van Petersen et al. 2020a) were collected online. The 29 inducers were: the 12 months of a year, 7 days of the week and 10 numbers (i.e. hindo-arabic numerals from 0 to 9). (Van Petersen et al. 2020a) Also presented 50 and 100 numerals, which we excluded here. (Ward, n.d.) data is collected using the Syntoolkit.</a:t>
            </a:r>
          </a:p>
          <a:p>
            <a:pPr lvl="0" indent="0" marL="0">
              <a:spcBef>
                <a:spcPts val="3000"/>
              </a:spcBef>
              <a:buNone/>
            </a:pPr>
            <a:r>
              <a:rPr b="1"/>
              <a:t>3.2 Procedure</a:t>
            </a:r>
          </a:p>
          <a:p>
            <a:pPr lvl="0" indent="0" marL="0">
              <a:buNone/>
            </a:pPr>
            <a:r>
              <a:rPr/>
              <a:t>The details for each procedure is described in each respective article (Rothen et al. 2016; Ward, n.d.; Van Petersen et al. 2020a), here we describe the common task.</a:t>
            </a:r>
          </a:p>
          <a:p>
            <a:pPr lvl="0" indent="0" marL="0">
              <a:buNone/>
            </a:pPr>
            <a:r>
              <a:rPr/>
              <a:t>Each participant is presented with one one inducer at a time at the center of a otherwise white screen. The participant is instructed to click at the screen position that they visualize them. Inducers order is randomized and each inducer is repeated three times.</a:t>
            </a:r>
          </a:p>
          <a:p>
            <a:pPr lvl="0" indent="0" marL="0">
              <a:buNone/>
            </a:pPr>
            <a:r>
              <a:rPr i="1"/>
              <a:t>The order of the stimuli was randomised, but such that no stimulus was repeated until the previous batch of unique stimuli (N = 29) had been presented.</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4. </a:t>
            </a:r>
            <a:r>
              <a:rPr i="1"/>
              <a:t>Phase I</a:t>
            </a:r>
            <a:r>
              <a:rPr/>
              <a:t> Methods</a:t>
            </a:r>
          </a:p>
        </p:txBody>
      </p:sp>
      <p:sp>
        <p:nvSpPr>
          <p:cNvPr id="4" name="Text Placeholder 3"/>
          <p:cNvSpPr>
            <a:spLocks noGrp="1"/>
          </p:cNvSpPr>
          <p:nvPr>
            <p:ph idx="2" sz="half" type="body"/>
          </p:nvPr>
        </p:nvSpPr>
        <p:spPr/>
        <p:txBody>
          <a:bodyPr/>
          <a:lstStyle/>
          <a:p>
            <a:pPr lvl="0" indent="0" marL="0">
              <a:buNone/>
            </a:pPr>
            <a:r>
              <a:rPr/>
              <a:t>The data for </a:t>
            </a:r>
            <a:r>
              <a:rPr i="1"/>
              <a:t>phase I,</a:t>
            </a:r>
            <a:r>
              <a:rPr/>
              <a:t> comes from: (Rothen et al. 2016),(Ward, n.d.) (from: https://osf.io/p5xsd/files/osfstorage) and (Van Petersen et al. 2020b)</a:t>
            </a:r>
          </a:p>
          <a:p>
            <a:pPr lvl="0"/>
            <a:r>
              <a:rPr/>
              <a:t>Root (Root et al. 2021)</a:t>
            </a:r>
          </a:p>
          <a:p>
            <a:pPr lvl="0" indent="0">
              <a:buNone/>
            </a:pPr>
            <a:r>
              <a:rPr>
                <a:latin typeface="Courier"/>
              </a:rPr>
              <a:t>[1] 0</a:t>
            </a:r>
          </a:p>
          <a:p>
            <a:pPr lvl="0" indent="0">
              <a:buNone/>
            </a:pPr>
            <a:r>
              <a:rPr>
                <a:latin typeface="Courier"/>
              </a:rPr>
              <a:t># A tibble: 2 × 2
  group     n
  &lt;fct&gt; &lt;int&gt;
1 Ctl      72
2 Syn      12</a:t>
            </a:r>
          </a:p>
          <a:p>
            <a:pPr lvl="0" indent="0" marL="0">
              <a:spcBef>
                <a:spcPts val="3000"/>
              </a:spcBef>
              <a:buNone/>
            </a:pPr>
            <a:r>
              <a:rPr b="1"/>
              <a:t>4.1 </a:t>
            </a:r>
            <a:r>
              <a:rPr b="1" i="1"/>
              <a:t>Phase I.</a:t>
            </a:r>
            <a:r>
              <a:rPr b="1"/>
              <a:t> Population</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701800"/>
                <a:gridCol w="1701800"/>
                <a:gridCol w="1701800"/>
              </a:tblGrid>
              <a:tr h="0">
                <a:tc>
                  <a:txBody>
                    <a:bodyPr/>
                    <a:lstStyle/>
                    <a:p>
                      <a:pPr lvl="0" indent="0" marL="0" algn="l">
                        <a:buNone/>
                      </a:pPr>
                      <a:r>
                        <a:rPr/>
                        <a:t>dataSource</a:t>
                      </a:r>
                    </a:p>
                  </a:txBody>
                  <a:tcPr/>
                </a:tc>
                <a:tc>
                  <a:txBody>
                    <a:bodyPr/>
                    <a:lstStyle/>
                    <a:p>
                      <a:pPr lvl="0" indent="0" marL="0" algn="r">
                        <a:buNone/>
                      </a:pPr>
                      <a:r>
                        <a:rPr/>
                        <a:t>Ctl</a:t>
                      </a:r>
                    </a:p>
                  </a:txBody>
                  <a:tcPr/>
                </a:tc>
                <a:tc>
                  <a:txBody>
                    <a:bodyPr/>
                    <a:lstStyle/>
                    <a:p>
                      <a:pPr lvl="0" indent="0" marL="0" algn="r">
                        <a:buNone/>
                      </a:pPr>
                      <a:r>
                        <a:rPr/>
                        <a:t>Syn</a:t>
                      </a:r>
                    </a:p>
                  </a:txBody>
                  <a:tcPr/>
                </a:tc>
              </a:tr>
              <a:tr h="0">
                <a:tc>
                  <a:txBody>
                    <a:bodyPr/>
                    <a:lstStyle/>
                    <a:p>
                      <a:pPr lvl="0" indent="0" marL="0" algn="l">
                        <a:buNone/>
                      </a:pPr>
                      <a:r>
                        <a:rPr/>
                        <a:t>PeterCor</a:t>
                      </a:r>
                    </a:p>
                  </a:txBody>
                </a:tc>
                <a:tc>
                  <a:txBody>
                    <a:bodyPr/>
                    <a:lstStyle/>
                    <a:p>
                      <a:pPr lvl="0" indent="0" marL="0" algn="r">
                        <a:buNone/>
                      </a:pPr>
                      <a:r>
                        <a:rPr/>
                        <a:t>21</a:t>
                      </a:r>
                    </a:p>
                  </a:txBody>
                </a:tc>
                <a:tc>
                  <a:txBody>
                    <a:bodyPr/>
                    <a:lstStyle/>
                    <a:p>
                      <a:pPr lvl="0" indent="0" marL="0" algn="r">
                        <a:buNone/>
                      </a:pPr>
                      <a:r>
                        <a:rPr/>
                        <a:t>12</a:t>
                      </a:r>
                    </a:p>
                  </a:txBody>
                </a:tc>
              </a:tr>
              <a:tr h="0">
                <a:tc>
                  <a:txBody>
                    <a:bodyPr/>
                    <a:lstStyle/>
                    <a:p>
                      <a:pPr lvl="0" indent="0" marL="0" algn="l">
                        <a:buNone/>
                      </a:pPr>
                      <a:r>
                        <a:rPr/>
                        <a:t>Rothen</a:t>
                      </a:r>
                    </a:p>
                  </a:txBody>
                </a:tc>
                <a:tc>
                  <a:txBody>
                    <a:bodyPr/>
                    <a:lstStyle/>
                    <a:p>
                      <a:pPr lvl="0" indent="0" marL="0" algn="r">
                        <a:buNone/>
                      </a:pPr>
                      <a:r>
                        <a:rPr/>
                        <a:t>37</a:t>
                      </a:r>
                    </a:p>
                  </a:txBody>
                </a:tc>
                <a:tc>
                  <a:txBody>
                    <a:bodyPr/>
                    <a:lstStyle/>
                    <a:p>
                      <a:pPr lvl="0" indent="0" marL="0" algn="r">
                        <a:buNone/>
                      </a:pPr>
                      <a:r>
                        <a:rPr/>
                        <a:t>33</a:t>
                      </a:r>
                    </a:p>
                  </a:txBody>
                </a:tc>
              </a:tr>
              <a:tr h="0">
                <a:tc>
                  <a:txBody>
                    <a:bodyPr/>
                    <a:lstStyle/>
                    <a:p>
                      <a:pPr lvl="0" indent="0" marL="0" algn="l">
                        <a:buNone/>
                      </a:pPr>
                      <a:r>
                        <a:rPr/>
                        <a:t>Ward</a:t>
                      </a:r>
                    </a:p>
                  </a:txBody>
                </a:tc>
                <a:tc>
                  <a:txBody>
                    <a:bodyPr/>
                    <a:lstStyle/>
                    <a:p>
                      <a:pPr lvl="0" indent="0" marL="0" algn="r">
                        <a:buNone/>
                      </a:pPr>
                      <a:r>
                        <a:rPr/>
                        <a:t>215</a:t>
                      </a:r>
                    </a:p>
                  </a:txBody>
                </a:tc>
                <a:tc>
                  <a:txBody>
                    <a:bodyPr/>
                    <a:lstStyle/>
                    <a:p>
                      <a:pPr lvl="0" indent="0" marL="0" algn="r">
                        <a:buNone/>
                      </a:pPr>
                      <a:r>
                        <a:rPr/>
                        <a:t>252</a:t>
                      </a:r>
                    </a:p>
                  </a:txBody>
                </a:tc>
              </a:tr>
            </a:tbl>
          </a:graphicData>
        </a:graphic>
      </p:graphicFrame>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spcBef>
                <a:spcPts val="3000"/>
              </a:spcBef>
              <a:buNone/>
            </a:pPr>
            <a:r>
              <a:rPr b="1"/>
              <a:t>4.2 </a:t>
            </a:r>
            <a:r>
              <a:rPr b="1" i="1"/>
              <a:t>Phase I</a:t>
            </a:r>
            <a:r>
              <a:rPr b="1"/>
              <a:t>. Analysis</a:t>
            </a:r>
          </a:p>
          <a:p>
            <a:pPr lvl="0" indent="0" marL="0">
              <a:buNone/>
            </a:pPr>
            <a:r>
              <a:rPr/>
              <a:t>First, we replicate consistency methods found in the literature using the same task ((Rothen et al. 2016; Ward, n.d.; Van Petersen et al. 2020a; Root et al. 2021)) and compare the results.</a:t>
            </a:r>
          </a:p>
          <a:p>
            <a:pPr lvl="0" indent="0" marL="0">
              <a:buNone/>
            </a:pPr>
            <a:r>
              <a:rPr/>
              <a:t>Second, we extract features based on the form. (C) We harness a geography package to compute segment based features (D) We compute polygon based features. (E) Convex Hull (F) Angles.</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5. </a:t>
            </a:r>
            <a:r>
              <a:rPr i="1"/>
              <a:t>Phase I.</a:t>
            </a:r>
            <a:r>
              <a:rPr/>
              <a:t> Results Reproduce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6. Replicated features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6.1 Standart deviation</a:t>
                </a:r>
              </a:p>
              <a:p>
                <a:pPr lvl="0" indent="0" marL="0">
                  <a:spcBef>
                    <a:spcPts val="3000"/>
                  </a:spcBef>
                  <a:buNone/>
                </a:pPr>
                <a:r>
                  <a:rPr b="1"/>
                  <a:t>6.2 Triangle area Consistency</a:t>
                </a:r>
              </a:p>
              <a:p>
                <a:pPr lvl="0" indent="0" marL="0">
                  <a:buNone/>
                </a:pPr>
                <a:r>
                  <a:rPr b="1"/>
                  <a:t>Definition</a:t>
                </a:r>
                <a:r>
                  <a:rPr/>
                  <a:t>: Calculating consistency Each stimulus is represented by three xy coordinates - (x1, y1), (x2, y2), (x3, y3) - from the three repetitions. For each stimulus, the area of the triangle bounded by the coordinates is calculated as follows:</a:t>
                </a:r>
                <a:br/>
                <a14:m>
                  <m:oMath xmlns:m="http://schemas.openxmlformats.org/officeDocument/2006/math">
                    <m:r>
                      <m:t>A</m:t>
                    </m:r>
                    <m:r>
                      <m:t>r</m:t>
                    </m:r>
                    <m:r>
                      <m:t>e</m:t>
                    </m:r>
                    <m:r>
                      <m:t>a</m:t>
                    </m:r>
                    <m:r>
                      <m:rPr>
                        <m:sty m:val="p"/>
                      </m:rPr>
                      <m:t>=</m:t>
                    </m:r>
                    <m:d>
                      <m:dPr>
                        <m:begChr m:val="("/>
                        <m:sepChr m:val=""/>
                        <m:endChr m:val=")"/>
                        <m:grow/>
                      </m:dPr>
                      <m:e>
                        <m:r>
                          <m:t>x</m:t>
                        </m:r>
                        <m:r>
                          <m:t>1</m:t>
                        </m:r>
                        <m:r>
                          <m:t>y</m:t>
                        </m:r>
                        <m:r>
                          <m:t>2</m:t>
                        </m:r>
                        <m:r>
                          <m:rPr>
                            <m:sty m:val="p"/>
                          </m:rPr>
                          <m:t>+</m:t>
                        </m:r>
                        <m:r>
                          <m:t>x</m:t>
                        </m:r>
                        <m:r>
                          <m:t>2</m:t>
                        </m:r>
                        <m:r>
                          <m:t>y</m:t>
                        </m:r>
                        <m:r>
                          <m:t>3</m:t>
                        </m:r>
                        <m:r>
                          <m:rPr>
                            <m:sty m:val="p"/>
                          </m:rPr>
                          <m:t>+</m:t>
                        </m:r>
                        <m:r>
                          <m:t>x</m:t>
                        </m:r>
                        <m:r>
                          <m:t>3</m:t>
                        </m:r>
                        <m:r>
                          <m:t>y</m:t>
                        </m:r>
                        <m:r>
                          <m:t>1</m:t>
                        </m:r>
                        <m:r>
                          <m:rPr>
                            <m:sty m:val="p"/>
                          </m:rPr>
                          <m:t>–</m:t>
                        </m:r>
                        <m:r>
                          <m:t>x</m:t>
                        </m:r>
                        <m:r>
                          <m:t>1</m:t>
                        </m:r>
                        <m:r>
                          <m:t>y</m:t>
                        </m:r>
                        <m:r>
                          <m:t>3</m:t>
                        </m:r>
                        <m:r>
                          <m:rPr>
                            <m:sty m:val="p"/>
                          </m:rPr>
                          <m:t>–</m:t>
                        </m:r>
                        <m:r>
                          <m:t>x</m:t>
                        </m:r>
                        <m:r>
                          <m:t>2</m:t>
                        </m:r>
                        <m:r>
                          <m:t>y</m:t>
                        </m:r>
                        <m:r>
                          <m:t>1</m:t>
                        </m:r>
                        <m:r>
                          <m:rPr>
                            <m:sty m:val="p"/>
                          </m:rPr>
                          <m:t>–</m:t>
                        </m:r>
                        <m:r>
                          <m:t>x</m:t>
                        </m:r>
                        <m:r>
                          <m:t>3</m:t>
                        </m:r>
                        <m:r>
                          <m:t>y</m:t>
                        </m:r>
                        <m:r>
                          <m:t>2</m:t>
                        </m:r>
                      </m:e>
                    </m:d>
                    <m:r>
                      <m:rPr>
                        <m:sty m:val="p"/>
                      </m:rPr>
                      <m:t>/</m:t>
                    </m:r>
                    <m:r>
                      <m:t>2</m:t>
                    </m:r>
                  </m:oMath>
                </a14:m>
              </a:p>
            </p:txBody>
          </p:sp>
        </mc:Choice>
      </mc:AlternateContent>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7. </a:t>
            </a:r>
            <a:r>
              <a:rPr i="1"/>
              <a:t>Phase I.</a:t>
            </a:r>
            <a:r>
              <a:rPr/>
              <a:t> Results: Novel features</a:t>
            </a:r>
          </a:p>
        </p:txBody>
      </p:sp>
      <p:sp>
        <p:nvSpPr>
          <p:cNvPr id="3" name="Content Placeholder 2"/>
          <p:cNvSpPr>
            <a:spLocks noGrp="1"/>
          </p:cNvSpPr>
          <p:nvPr>
            <p:ph idx="1"/>
          </p:nvPr>
        </p:nvSpPr>
        <p:spPr/>
        <p:txBody>
          <a:bodyPr/>
          <a:lstStyle/>
          <a:p>
            <a:pPr lvl="0" indent="0" marL="0">
              <a:spcBef>
                <a:spcPts val="3000"/>
              </a:spcBef>
              <a:buNone/>
            </a:pPr>
            <a:r>
              <a:rPr b="1"/>
              <a:t>7.1 Segment self-intersection</a:t>
            </a:r>
          </a:p>
          <a:p>
            <a:pPr lvl="0" indent="0" marL="0">
              <a:buNone/>
            </a:pPr>
            <a:r>
              <a:rPr/>
              <a:t>The first feature is self-intersections. For each condition and repetition separately, we count how many times the segments self-intersects. Then we average across conditions and repetitions to have one value per subject. Hence the value represents the average number of self-intersections per segment a subject has.</a:t>
            </a:r>
          </a:p>
          <a:p>
            <a:pPr lvl="0" indent="0" marL="0">
              <a:spcBef>
                <a:spcPts val="3000"/>
              </a:spcBef>
              <a:buNone/>
            </a:pPr>
            <a:r>
              <a:rPr b="1"/>
              <a:t>7.2 Segments (with sf)</a:t>
            </a:r>
          </a:p>
          <a:p>
            <a:pPr lvl="0" indent="0" marL="0">
              <a:buNone/>
            </a:pPr>
            <a:r>
              <a:rPr/>
              <a:t>We will take advantage of the </a:t>
            </a:r>
            <a:r>
              <a:rPr>
                <a:latin typeface="Courier"/>
              </a:rPr>
              <a:t>sf</a:t>
            </a:r>
            <a:r>
              <a:rPr/>
              <a:t> package and connect the x and y coordinates of ordered inducer with a segment. Sf hates NaN’s. Either convert them to 0 (as originally) or remove them. I’ll start converting to 0.</a:t>
            </a:r>
          </a:p>
          <a:p>
            <a:pPr lvl="0" indent="0" marL="0">
              <a:spcBef>
                <a:spcPts val="3000"/>
              </a:spcBef>
              <a:buNone/>
            </a:pPr>
            <a:r>
              <a:rPr b="1"/>
              <a:t>7.2.1 Segment length (should replicate Rothen)</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8. Distances between repetitions</a:t>
            </a:r>
          </a:p>
        </p:txBody>
      </p:sp>
      <p:sp>
        <p:nvSpPr>
          <p:cNvPr id="3" name="Content Placeholder 2"/>
          <p:cNvSpPr>
            <a:spLocks noGrp="1"/>
          </p:cNvSpPr>
          <p:nvPr>
            <p:ph idx="1"/>
          </p:nvPr>
        </p:nvSpPr>
        <p:spPr/>
        <p:txBody>
          <a:bodyPr/>
          <a:lstStyle/>
          <a:p>
            <a:pPr lvl="0" indent="0" marL="0">
              <a:spcBef>
                <a:spcPts val="3000"/>
              </a:spcBef>
              <a:buNone/>
            </a:pPr>
            <a:r>
              <a:rPr b="1"/>
              <a:t>8.1 Polygon based geometries</a:t>
            </a:r>
          </a:p>
          <a:p>
            <a:pPr lvl="0" indent="0" marL="0">
              <a:spcBef>
                <a:spcPts val="3000"/>
              </a:spcBef>
              <a:buNone/>
            </a:pPr>
            <a:r>
              <a:rPr b="1"/>
              <a:t>8.1.1 Polygon area</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9. Polygon simplicity</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10. Topological validity Structure</a:t>
            </a:r>
          </a:p>
        </p:txBody>
      </p:sp>
      <p:sp>
        <p:nvSpPr>
          <p:cNvPr id="3" name="Content Placeholder 2"/>
          <p:cNvSpPr>
            <a:spLocks noGrp="1"/>
          </p:cNvSpPr>
          <p:nvPr>
            <p:ph idx="1"/>
          </p:nvPr>
        </p:nvSpPr>
        <p:spPr/>
        <p:txBody>
          <a:bodyPr/>
          <a:lstStyle/>
          <a:p>
            <a:pPr lvl="0" indent="0" marL="0">
              <a:buNone/>
            </a:pPr>
            <a:r>
              <a:rPr/>
              <a:t>is topologically valid:</a:t>
            </a:r>
          </a:p>
          <a:p>
            <a:pPr lvl="0" indent="0" marL="0">
              <a:buNone/>
            </a:pPr>
            <a:r>
              <a:rPr/>
              <a:t>From the package description: </a:t>
            </a:r>
            <a:r>
              <a:rPr i="1"/>
              <a:t>“For projected geometries, st_make_valid uses the lwgeom_makevalid method also used by the PostGIS command ST_makevalid if the GEOS version linked to is smaller than 3.8.0, and otherwise the version shipped in GEOS; for geometries having ellipsoidal coordinates s2::s2_rebuild is being used.”</a:t>
            </a:r>
            <a:r>
              <a:rPr/>
              <a:t> From </a:t>
            </a:r>
            <a:r>
              <a:rPr>
                <a:hlinkClick r:id="rId2"/>
              </a:rPr>
              <a:t>https://postgis.net/docs/ST_IsValid.html</a:t>
            </a:r>
            <a:r>
              <a:rPr/>
              <a:t>: </a:t>
            </a:r>
            <a:r>
              <a:rPr i="1"/>
              <a:t>value is well-formed and valid in 2D according to the OGC rules.</a:t>
            </a:r>
            <a:r>
              <a:rPr/>
              <a:t> (Open Geopsatial Consotrtium)</a:t>
            </a:r>
          </a:p>
          <a:p>
            <a:pPr lvl="0" indent="0" marL="0">
              <a:spcBef>
                <a:spcPts val="3000"/>
              </a:spcBef>
              <a:buNone/>
            </a:pPr>
            <a:r>
              <a:rPr b="1"/>
              <a:t>10.1 is clockwise</a:t>
            </a:r>
          </a:p>
          <a:p>
            <a:pPr lvl="0" indent="0" marL="0">
              <a:spcBef>
                <a:spcPts val="3000"/>
              </a:spcBef>
              <a:buNone/>
            </a:pPr>
            <a:r>
              <a:rPr b="1"/>
              <a:t>10.2 Convex Hull Area</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11. Permutations</a:t>
            </a:r>
          </a:p>
        </p:txBody>
      </p:sp>
      <p:sp>
        <p:nvSpPr>
          <p:cNvPr id="3" name="Content Placeholder 2"/>
          <p:cNvSpPr>
            <a:spLocks noGrp="1"/>
          </p:cNvSpPr>
          <p:nvPr>
            <p:ph idx="1"/>
          </p:nvPr>
        </p:nvSpPr>
        <p:spPr/>
        <p:txBody>
          <a:bodyPr/>
          <a:lstStyle/>
          <a:p>
            <a:pPr lvl="0" indent="0" marL="0">
              <a:buNone/>
            </a:pPr>
            <a:r>
              <a:rPr/>
              <a:t>Until now the form based features are computed by chronologically ordered repetitions. For example, Monday is repeated three times per ID. The coordinates for Monday presented the first time will always be used to form the segment/polygon with the Tuesday presented the first time. However, for consistency, this should be independent from chronological order. To circumvent this, we can permute the repetitions per conditions. I predict the permuted averages of the same features should give rise to better AUC. Since these are time consuming I will only apply permutations on the criteria that are at stake:</a:t>
            </a:r>
            <a:br/>
            <a:r>
              <a:rPr/>
              <a:t>topological validity.</a:t>
            </a:r>
          </a:p>
          <a:p>
            <a:pPr lvl="0" indent="0">
              <a:buNone/>
            </a:pPr>
            <a:r>
              <a:rPr>
                <a:latin typeface="Courier"/>
              </a:rPr>
              <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12. Compare all features:</a:t>
            </a:r>
          </a:p>
        </p:txBody>
      </p:sp>
      <p:sp>
        <p:nvSpPr>
          <p:cNvPr id="3" name="Content Placeholder 2"/>
          <p:cNvSpPr>
            <a:spLocks noGrp="1"/>
          </p:cNvSpPr>
          <p:nvPr>
            <p:ph idx="1"/>
          </p:nvPr>
        </p:nvSpPr>
        <p:spPr/>
        <p:txBody>
          <a:bodyPr/>
          <a:lstStyle/>
          <a:p>
            <a:pPr lvl="0" indent="0" marL="0">
              <a:spcBef>
                <a:spcPts val="3000"/>
              </a:spcBef>
              <a:buNone/>
            </a:pPr>
            <a:r>
              <a:rPr b="1"/>
              <a:t>12.1 Compute all ROC</a:t>
            </a:r>
          </a:p>
          <a:p>
            <a:pPr lvl="0" indent="0">
              <a:buNone/>
            </a:pPr>
            <a:r>
              <a:rPr>
                <a:latin typeface="Courier"/>
              </a:rPr>
              <a:t>                  [,1]        [,2]        [,3]               [,4]            
feature_list      "SD_ID_xsc" "SD_ID_ysc" "triangle_area_GA" "Consistency_zs"
feature_direction "moreSyn"   "moreSyn"   "moreCtl"          "moreCtl"       
                  [,5]                [,6]           [,7]         [,8]         
feature_list      "SelfInter_persegm" "GA_segm_leng" "GA_BtwDist" "GA_areaPoly"
feature_direction "moreCtl"           "moreCtl"      "moreCtl"    "moreSyn"    
                  [,9]          [,10]               [,11]             
feature_list      "GA_isSimple" "Sum_isValidStruct" "GA_isValidStruct"
feature_direction "moreSyn"     "moreSyn"           "moreSyn"         
                  [,12]             [,13]              [,14]              
feature_list      "Sum_isClockwise" "GA_area_convhull" "isValid_M_perm_ID"
feature_direction "moreSyn"         "moreSyn"          "moreSyn"          
                  [,15]                
feature_list      "isValid_Med_perm_ID"
feature_direction "moreSyn"            </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13. Summaries</a:t>
            </a:r>
          </a:p>
        </p:txBody>
      </p:sp>
      <p:sp>
        <p:nvSpPr>
          <p:cNvPr id="4" name="Text Placeholder 3"/>
          <p:cNvSpPr>
            <a:spLocks noGrp="1"/>
          </p:cNvSpPr>
          <p:nvPr>
            <p:ph idx="2" sz="half" type="body"/>
          </p:nvPr>
        </p:nvSpPr>
        <p:spPr/>
        <p:txBody>
          <a:bodyPr/>
          <a:lstStyle/>
          <a:p>
            <a:pPr lvl="0" indent="0" marL="0">
              <a:spcBef>
                <a:spcPts val="3000"/>
              </a:spcBef>
              <a:buNone/>
            </a:pPr>
            <a:r>
              <a:rPr b="1"/>
              <a:t>13.1 Summary table:</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65100"/>
                <a:gridCol w="1130300"/>
                <a:gridCol w="342900"/>
                <a:gridCol w="571500"/>
                <a:gridCol w="685800"/>
                <a:gridCol w="685800"/>
                <a:gridCol w="342900"/>
                <a:gridCol w="342900"/>
                <a:gridCol w="393700"/>
                <a:gridCol w="457200"/>
              </a:tblGrid>
              <a:tr h="0">
                <a:tc>
                  <a:txBody>
                    <a:bodyPr/>
                    <a:lstStyle/>
                    <a:p>
                      <a:endParaRPr/>
                    </a:p>
                  </a:txBody>
                  <a:tcPr/>
                </a:tc>
                <a:tc>
                  <a:txBody>
                    <a:bodyPr/>
                    <a:lstStyle/>
                    <a:p>
                      <a:pPr lvl="0" indent="0" marL="0" algn="l">
                        <a:buNone/>
                      </a:pPr>
                      <a:r>
                        <a:rPr/>
                        <a:t>Feature</a:t>
                      </a:r>
                    </a:p>
                  </a:txBody>
                  <a:tcPr/>
                </a:tc>
                <a:tc>
                  <a:txBody>
                    <a:bodyPr/>
                    <a:lstStyle/>
                    <a:p>
                      <a:pPr lvl="0" indent="0" marL="0" algn="r">
                        <a:buNone/>
                      </a:pPr>
                      <a:r>
                        <a:rPr/>
                        <a:t>AUC</a:t>
                      </a:r>
                    </a:p>
                  </a:txBody>
                  <a:tcPr/>
                </a:tc>
                <a:tc>
                  <a:txBody>
                    <a:bodyPr/>
                    <a:lstStyle/>
                    <a:p>
                      <a:pPr lvl="0" indent="0" marL="0" algn="r">
                        <a:buNone/>
                      </a:pPr>
                      <a:r>
                        <a:rPr/>
                        <a:t>threshold</a:t>
                      </a:r>
                    </a:p>
                  </a:txBody>
                  <a:tcPr/>
                </a:tc>
                <a:tc>
                  <a:txBody>
                    <a:bodyPr/>
                    <a:lstStyle/>
                    <a:p>
                      <a:pPr lvl="0" indent="0" marL="0" algn="r">
                        <a:buNone/>
                      </a:pPr>
                      <a:r>
                        <a:rPr/>
                        <a:t>sensitivity</a:t>
                      </a:r>
                    </a:p>
                  </a:txBody>
                  <a:tcPr/>
                </a:tc>
                <a:tc>
                  <a:txBody>
                    <a:bodyPr/>
                    <a:lstStyle/>
                    <a:p>
                      <a:pPr lvl="0" indent="0" marL="0" algn="r">
                        <a:buNone/>
                      </a:pPr>
                      <a:r>
                        <a:rPr/>
                        <a:t>specificity</a:t>
                      </a:r>
                    </a:p>
                  </a:txBody>
                  <a:tcPr/>
                </a:tc>
                <a:tc>
                  <a:txBody>
                    <a:bodyPr/>
                    <a:lstStyle/>
                    <a:p>
                      <a:pPr lvl="0" indent="0" marL="0" algn="r">
                        <a:buNone/>
                      </a:pPr>
                      <a:r>
                        <a:rPr/>
                        <a:t>ppv</a:t>
                      </a:r>
                    </a:p>
                  </a:txBody>
                  <a:tcPr/>
                </a:tc>
                <a:tc>
                  <a:txBody>
                    <a:bodyPr/>
                    <a:lstStyle/>
                    <a:p>
                      <a:pPr lvl="0" indent="0" marL="0" algn="r">
                        <a:buNone/>
                      </a:pPr>
                      <a:r>
                        <a:rPr/>
                        <a:t>npv</a:t>
                      </a:r>
                    </a:p>
                  </a:txBody>
                  <a:tcPr/>
                </a:tc>
                <a:tc>
                  <a:txBody>
                    <a:bodyPr/>
                    <a:lstStyle/>
                    <a:p>
                      <a:pPr lvl="0" indent="0" marL="0" algn="r">
                        <a:buNone/>
                      </a:pPr>
                      <a:r>
                        <a:rPr/>
                        <a:t>ci_low</a:t>
                      </a:r>
                    </a:p>
                  </a:txBody>
                  <a:tcPr/>
                </a:tc>
                <a:tc>
                  <a:txBody>
                    <a:bodyPr/>
                    <a:lstStyle/>
                    <a:p>
                      <a:pPr lvl="0" indent="0" marL="0" algn="r">
                        <a:buNone/>
                      </a:pPr>
                      <a:r>
                        <a:rPr/>
                        <a:t>ci_high</a:t>
                      </a:r>
                    </a:p>
                  </a:txBody>
                  <a:tcPr/>
                </a:tc>
              </a:tr>
              <a:tr h="0">
                <a:tc>
                  <a:txBody>
                    <a:bodyPr/>
                    <a:lstStyle/>
                    <a:p>
                      <a:pPr lvl="0" indent="0" marL="0" algn="l">
                        <a:buNone/>
                      </a:pPr>
                      <a:r>
                        <a:rPr/>
                        <a:t>13</a:t>
                      </a:r>
                    </a:p>
                  </a:txBody>
                </a:tc>
                <a:tc>
                  <a:txBody>
                    <a:bodyPr/>
                    <a:lstStyle/>
                    <a:p>
                      <a:pPr lvl="0" indent="0" marL="0" algn="l">
                        <a:buNone/>
                      </a:pPr>
                      <a:r>
                        <a:rPr/>
                        <a:t>isValid_M_perm_ID</a:t>
                      </a:r>
                    </a:p>
                  </a:txBody>
                </a:tc>
                <a:tc>
                  <a:txBody>
                    <a:bodyPr/>
                    <a:lstStyle/>
                    <a:p>
                      <a:pPr lvl="0" indent="0" marL="0" algn="r">
                        <a:buNone/>
                      </a:pPr>
                      <a:r>
                        <a:rPr/>
                        <a:t>81.21</a:t>
                      </a:r>
                    </a:p>
                  </a:txBody>
                </a:tc>
                <a:tc>
                  <a:txBody>
                    <a:bodyPr/>
                    <a:lstStyle/>
                    <a:p>
                      <a:pPr lvl="0" indent="0" marL="0" algn="r">
                        <a:buNone/>
                      </a:pPr>
                      <a:r>
                        <a:rPr/>
                        <a:t>0.15</a:t>
                      </a:r>
                    </a:p>
                  </a:txBody>
                </a:tc>
                <a:tc>
                  <a:txBody>
                    <a:bodyPr/>
                    <a:lstStyle/>
                    <a:p>
                      <a:pPr lvl="0" indent="0" marL="0" algn="r">
                        <a:buNone/>
                      </a:pPr>
                      <a:r>
                        <a:rPr/>
                        <a:t>71.38</a:t>
                      </a:r>
                    </a:p>
                  </a:txBody>
                </a:tc>
                <a:tc>
                  <a:txBody>
                    <a:bodyPr/>
                    <a:lstStyle/>
                    <a:p>
                      <a:pPr lvl="0" indent="0" marL="0" algn="r">
                        <a:buNone/>
                      </a:pPr>
                      <a:r>
                        <a:rPr/>
                        <a:t>79.12</a:t>
                      </a:r>
                    </a:p>
                  </a:txBody>
                </a:tc>
                <a:tc>
                  <a:txBody>
                    <a:bodyPr/>
                    <a:lstStyle/>
                    <a:p>
                      <a:pPr lvl="0" indent="0" marL="0" algn="r">
                        <a:buNone/>
                      </a:pPr>
                      <a:r>
                        <a:rPr/>
                        <a:t>78.81</a:t>
                      </a:r>
                    </a:p>
                  </a:txBody>
                </a:tc>
                <a:tc>
                  <a:txBody>
                    <a:bodyPr/>
                    <a:lstStyle/>
                    <a:p>
                      <a:pPr lvl="0" indent="0" marL="0" algn="r">
                        <a:buNone/>
                      </a:pPr>
                      <a:r>
                        <a:rPr/>
                        <a:t>71.76</a:t>
                      </a:r>
                    </a:p>
                  </a:txBody>
                </a:tc>
                <a:tc>
                  <a:txBody>
                    <a:bodyPr/>
                    <a:lstStyle/>
                    <a:p>
                      <a:pPr lvl="0" indent="0" marL="0" algn="r">
                        <a:buNone/>
                      </a:pPr>
                      <a:r>
                        <a:rPr/>
                        <a:t>77.68</a:t>
                      </a:r>
                    </a:p>
                  </a:txBody>
                </a:tc>
                <a:tc>
                  <a:txBody>
                    <a:bodyPr/>
                    <a:lstStyle/>
                    <a:p>
                      <a:pPr lvl="0" indent="0" marL="0" algn="r">
                        <a:buNone/>
                      </a:pPr>
                      <a:r>
                        <a:rPr/>
                        <a:t>84.75</a:t>
                      </a:r>
                    </a:p>
                  </a:txBody>
                </a:tc>
              </a:tr>
              <a:tr h="0">
                <a:tc>
                  <a:txBody>
                    <a:bodyPr/>
                    <a:lstStyle/>
                    <a:p>
                      <a:pPr lvl="0" indent="0" marL="0" algn="l">
                        <a:buNone/>
                      </a:pPr>
                      <a:r>
                        <a:rPr/>
                        <a:t>14</a:t>
                      </a:r>
                    </a:p>
                  </a:txBody>
                </a:tc>
                <a:tc>
                  <a:txBody>
                    <a:bodyPr/>
                    <a:lstStyle/>
                    <a:p>
                      <a:pPr lvl="0" indent="0" marL="0" algn="l">
                        <a:buNone/>
                      </a:pPr>
                      <a:r>
                        <a:rPr/>
                        <a:t>isValid_Med_perm_ID</a:t>
                      </a:r>
                    </a:p>
                  </a:txBody>
                </a:tc>
                <a:tc>
                  <a:txBody>
                    <a:bodyPr/>
                    <a:lstStyle/>
                    <a:p>
                      <a:pPr lvl="0" indent="0" marL="0" algn="r">
                        <a:buNone/>
                      </a:pPr>
                      <a:r>
                        <a:rPr/>
                        <a:t>79.66</a:t>
                      </a:r>
                    </a:p>
                  </a:txBody>
                </a:tc>
                <a:tc>
                  <a:txBody>
                    <a:bodyPr/>
                    <a:lstStyle/>
                    <a:p>
                      <a:pPr lvl="0" indent="0" marL="0" algn="r">
                        <a:buNone/>
                      </a:pPr>
                      <a:r>
                        <a:rPr/>
                        <a:t>0.14</a:t>
                      </a:r>
                    </a:p>
                  </a:txBody>
                </a:tc>
                <a:tc>
                  <a:txBody>
                    <a:bodyPr/>
                    <a:lstStyle/>
                    <a:p>
                      <a:pPr lvl="0" indent="0" marL="0" algn="r">
                        <a:buNone/>
                      </a:pPr>
                      <a:r>
                        <a:rPr/>
                        <a:t>67.34</a:t>
                      </a:r>
                    </a:p>
                  </a:txBody>
                </a:tc>
                <a:tc>
                  <a:txBody>
                    <a:bodyPr/>
                    <a:lstStyle/>
                    <a:p>
                      <a:pPr lvl="0" indent="0" marL="0" algn="r">
                        <a:buNone/>
                      </a:pPr>
                      <a:r>
                        <a:rPr/>
                        <a:t>79.49</a:t>
                      </a:r>
                    </a:p>
                  </a:txBody>
                </a:tc>
                <a:tc>
                  <a:txBody>
                    <a:bodyPr/>
                    <a:lstStyle/>
                    <a:p>
                      <a:pPr lvl="0" indent="0" marL="0" algn="r">
                        <a:buNone/>
                      </a:pPr>
                      <a:r>
                        <a:rPr/>
                        <a:t>78.13</a:t>
                      </a:r>
                    </a:p>
                  </a:txBody>
                </a:tc>
                <a:tc>
                  <a:txBody>
                    <a:bodyPr/>
                    <a:lstStyle/>
                    <a:p>
                      <a:pPr lvl="0" indent="0" marL="0" algn="r">
                        <a:buNone/>
                      </a:pPr>
                      <a:r>
                        <a:rPr/>
                        <a:t>69.11</a:t>
                      </a:r>
                    </a:p>
                  </a:txBody>
                </a:tc>
                <a:tc>
                  <a:txBody>
                    <a:bodyPr/>
                    <a:lstStyle/>
                    <a:p>
                      <a:pPr lvl="0" indent="0" marL="0" algn="r">
                        <a:buNone/>
                      </a:pPr>
                      <a:r>
                        <a:rPr/>
                        <a:t>76.10</a:t>
                      </a:r>
                    </a:p>
                  </a:txBody>
                </a:tc>
                <a:tc>
                  <a:txBody>
                    <a:bodyPr/>
                    <a:lstStyle/>
                    <a:p>
                      <a:pPr lvl="0" indent="0" marL="0" algn="r">
                        <a:buNone/>
                      </a:pPr>
                      <a:r>
                        <a:rPr/>
                        <a:t>83.22</a:t>
                      </a:r>
                    </a:p>
                  </a:txBody>
                </a:tc>
              </a:tr>
              <a:tr h="0">
                <a:tc>
                  <a:txBody>
                    <a:bodyPr/>
                    <a:lstStyle/>
                    <a:p>
                      <a:pPr lvl="0" indent="0" marL="0" algn="l">
                        <a:buNone/>
                      </a:pPr>
                      <a:r>
                        <a:rPr/>
                        <a:t>9</a:t>
                      </a:r>
                    </a:p>
                  </a:txBody>
                </a:tc>
                <a:tc>
                  <a:txBody>
                    <a:bodyPr/>
                    <a:lstStyle/>
                    <a:p>
                      <a:pPr lvl="0" indent="0" marL="0" algn="l">
                        <a:buNone/>
                      </a:pPr>
                      <a:r>
                        <a:rPr/>
                        <a:t>Sum_isValidStruct</a:t>
                      </a:r>
                    </a:p>
                  </a:txBody>
                </a:tc>
                <a:tc>
                  <a:txBody>
                    <a:bodyPr/>
                    <a:lstStyle/>
                    <a:p>
                      <a:pPr lvl="0" indent="0" marL="0" algn="r">
                        <a:buNone/>
                      </a:pPr>
                      <a:r>
                        <a:rPr/>
                        <a:t>77.85</a:t>
                      </a:r>
                    </a:p>
                  </a:txBody>
                </a:tc>
                <a:tc>
                  <a:txBody>
                    <a:bodyPr/>
                    <a:lstStyle/>
                    <a:p>
                      <a:pPr lvl="0" indent="0" marL="0" algn="r">
                        <a:buNone/>
                      </a:pPr>
                      <a:r>
                        <a:rPr/>
                        <a:t>1.50</a:t>
                      </a:r>
                    </a:p>
                  </a:txBody>
                </a:tc>
                <a:tc>
                  <a:txBody>
                    <a:bodyPr/>
                    <a:lstStyle/>
                    <a:p>
                      <a:pPr lvl="0" indent="0" marL="0" algn="r">
                        <a:buNone/>
                      </a:pPr>
                      <a:r>
                        <a:rPr/>
                        <a:t>70.71</a:t>
                      </a:r>
                    </a:p>
                  </a:txBody>
                </a:tc>
                <a:tc>
                  <a:txBody>
                    <a:bodyPr/>
                    <a:lstStyle/>
                    <a:p>
                      <a:pPr lvl="0" indent="0" marL="0" algn="r">
                        <a:buNone/>
                      </a:pPr>
                      <a:r>
                        <a:rPr/>
                        <a:t>75.46</a:t>
                      </a:r>
                    </a:p>
                  </a:txBody>
                </a:tc>
                <a:tc>
                  <a:txBody>
                    <a:bodyPr/>
                    <a:lstStyle/>
                    <a:p>
                      <a:pPr lvl="0" indent="0" marL="0" algn="r">
                        <a:buNone/>
                      </a:pPr>
                      <a:r>
                        <a:rPr/>
                        <a:t>75.81</a:t>
                      </a:r>
                    </a:p>
                  </a:txBody>
                </a:tc>
                <a:tc>
                  <a:txBody>
                    <a:bodyPr/>
                    <a:lstStyle/>
                    <a:p>
                      <a:pPr lvl="0" indent="0" marL="0" algn="r">
                        <a:buNone/>
                      </a:pPr>
                      <a:r>
                        <a:rPr/>
                        <a:t>70.31</a:t>
                      </a:r>
                    </a:p>
                  </a:txBody>
                </a:tc>
                <a:tc>
                  <a:txBody>
                    <a:bodyPr/>
                    <a:lstStyle/>
                    <a:p>
                      <a:pPr lvl="0" indent="0" marL="0" algn="r">
                        <a:buNone/>
                      </a:pPr>
                      <a:r>
                        <a:rPr/>
                        <a:t>74.12</a:t>
                      </a:r>
                    </a:p>
                  </a:txBody>
                </a:tc>
                <a:tc>
                  <a:txBody>
                    <a:bodyPr/>
                    <a:lstStyle/>
                    <a:p>
                      <a:pPr lvl="0" indent="0" marL="0" algn="r">
                        <a:buNone/>
                      </a:pPr>
                      <a:r>
                        <a:rPr/>
                        <a:t>81.57</a:t>
                      </a:r>
                    </a:p>
                  </a:txBody>
                </a:tc>
              </a:tr>
              <a:tr h="0">
                <a:tc>
                  <a:txBody>
                    <a:bodyPr/>
                    <a:lstStyle/>
                    <a:p>
                      <a:pPr lvl="0" indent="0" marL="0" algn="l">
                        <a:buNone/>
                      </a:pPr>
                      <a:r>
                        <a:rPr/>
                        <a:t>10</a:t>
                      </a:r>
                    </a:p>
                  </a:txBody>
                </a:tc>
                <a:tc>
                  <a:txBody>
                    <a:bodyPr/>
                    <a:lstStyle/>
                    <a:p>
                      <a:pPr lvl="0" indent="0" marL="0" algn="l">
                        <a:buNone/>
                      </a:pPr>
                      <a:r>
                        <a:rPr/>
                        <a:t>GA_isValidStruct</a:t>
                      </a:r>
                    </a:p>
                  </a:txBody>
                </a:tc>
                <a:tc>
                  <a:txBody>
                    <a:bodyPr/>
                    <a:lstStyle/>
                    <a:p>
                      <a:pPr lvl="0" indent="0" marL="0" algn="r">
                        <a:buNone/>
                      </a:pPr>
                      <a:r>
                        <a:rPr/>
                        <a:t>77.85</a:t>
                      </a:r>
                    </a:p>
                  </a:txBody>
                </a:tc>
                <a:tc>
                  <a:txBody>
                    <a:bodyPr/>
                    <a:lstStyle/>
                    <a:p>
                      <a:pPr lvl="0" indent="0" marL="0" algn="r">
                        <a:buNone/>
                      </a:pPr>
                      <a:r>
                        <a:rPr/>
                        <a:t>0.17</a:t>
                      </a:r>
                    </a:p>
                  </a:txBody>
                </a:tc>
                <a:tc>
                  <a:txBody>
                    <a:bodyPr/>
                    <a:lstStyle/>
                    <a:p>
                      <a:pPr lvl="0" indent="0" marL="0" algn="r">
                        <a:buNone/>
                      </a:pPr>
                      <a:r>
                        <a:rPr/>
                        <a:t>70.71</a:t>
                      </a:r>
                    </a:p>
                  </a:txBody>
                </a:tc>
                <a:tc>
                  <a:txBody>
                    <a:bodyPr/>
                    <a:lstStyle/>
                    <a:p>
                      <a:pPr lvl="0" indent="0" marL="0" algn="r">
                        <a:buNone/>
                      </a:pPr>
                      <a:r>
                        <a:rPr/>
                        <a:t>75.46</a:t>
                      </a:r>
                    </a:p>
                  </a:txBody>
                </a:tc>
                <a:tc>
                  <a:txBody>
                    <a:bodyPr/>
                    <a:lstStyle/>
                    <a:p>
                      <a:pPr lvl="0" indent="0" marL="0" algn="r">
                        <a:buNone/>
                      </a:pPr>
                      <a:r>
                        <a:rPr/>
                        <a:t>75.81</a:t>
                      </a:r>
                    </a:p>
                  </a:txBody>
                </a:tc>
                <a:tc>
                  <a:txBody>
                    <a:bodyPr/>
                    <a:lstStyle/>
                    <a:p>
                      <a:pPr lvl="0" indent="0" marL="0" algn="r">
                        <a:buNone/>
                      </a:pPr>
                      <a:r>
                        <a:rPr/>
                        <a:t>70.31</a:t>
                      </a:r>
                    </a:p>
                  </a:txBody>
                </a:tc>
                <a:tc>
                  <a:txBody>
                    <a:bodyPr/>
                    <a:lstStyle/>
                    <a:p>
                      <a:pPr lvl="0" indent="0" marL="0" algn="r">
                        <a:buNone/>
                      </a:pPr>
                      <a:r>
                        <a:rPr/>
                        <a:t>74.12</a:t>
                      </a:r>
                    </a:p>
                  </a:txBody>
                </a:tc>
                <a:tc>
                  <a:txBody>
                    <a:bodyPr/>
                    <a:lstStyle/>
                    <a:p>
                      <a:pPr lvl="0" indent="0" marL="0" algn="r">
                        <a:buNone/>
                      </a:pPr>
                      <a:r>
                        <a:rPr/>
                        <a:t>81.57</a:t>
                      </a:r>
                    </a:p>
                  </a:txBody>
                </a:tc>
              </a:tr>
              <a:tr h="0">
                <a:tc>
                  <a:txBody>
                    <a:bodyPr/>
                    <a:lstStyle/>
                    <a:p>
                      <a:pPr lvl="0" indent="0" marL="0" algn="l">
                        <a:buNone/>
                      </a:pPr>
                      <a:r>
                        <a:rPr/>
                        <a:t>4</a:t>
                      </a:r>
                    </a:p>
                  </a:txBody>
                </a:tc>
                <a:tc>
                  <a:txBody>
                    <a:bodyPr/>
                    <a:lstStyle/>
                    <a:p>
                      <a:pPr lvl="0" indent="0" marL="0" algn="l">
                        <a:buNone/>
                      </a:pPr>
                      <a:r>
                        <a:rPr/>
                        <a:t>SelfInter_persegm</a:t>
                      </a:r>
                    </a:p>
                  </a:txBody>
                </a:tc>
                <a:tc>
                  <a:txBody>
                    <a:bodyPr/>
                    <a:lstStyle/>
                    <a:p>
                      <a:pPr lvl="0" indent="0" marL="0" algn="r">
                        <a:buNone/>
                      </a:pPr>
                      <a:r>
                        <a:rPr/>
                        <a:t>74.26</a:t>
                      </a:r>
                    </a:p>
                  </a:txBody>
                </a:tc>
                <a:tc>
                  <a:txBody>
                    <a:bodyPr/>
                    <a:lstStyle/>
                    <a:p>
                      <a:pPr lvl="0" indent="0" marL="0" algn="r">
                        <a:buNone/>
                      </a:pPr>
                      <a:r>
                        <a:rPr/>
                        <a:t>1.17</a:t>
                      </a:r>
                    </a:p>
                  </a:txBody>
                </a:tc>
                <a:tc>
                  <a:txBody>
                    <a:bodyPr/>
                    <a:lstStyle/>
                    <a:p>
                      <a:pPr lvl="0" indent="0" marL="0" algn="r">
                        <a:buNone/>
                      </a:pPr>
                      <a:r>
                        <a:rPr/>
                        <a:t>79.46</a:t>
                      </a:r>
                    </a:p>
                  </a:txBody>
                </a:tc>
                <a:tc>
                  <a:txBody>
                    <a:bodyPr/>
                    <a:lstStyle/>
                    <a:p>
                      <a:pPr lvl="0" indent="0" marL="0" algn="r">
                        <a:buNone/>
                      </a:pPr>
                      <a:r>
                        <a:rPr/>
                        <a:t>62.64</a:t>
                      </a:r>
                    </a:p>
                  </a:txBody>
                </a:tc>
                <a:tc>
                  <a:txBody>
                    <a:bodyPr/>
                    <a:lstStyle/>
                    <a:p>
                      <a:pPr lvl="0" indent="0" marL="0" algn="r">
                        <a:buNone/>
                      </a:pPr>
                      <a:r>
                        <a:rPr/>
                        <a:t>69.82</a:t>
                      </a:r>
                    </a:p>
                  </a:txBody>
                </a:tc>
                <a:tc>
                  <a:txBody>
                    <a:bodyPr/>
                    <a:lstStyle/>
                    <a:p>
                      <a:pPr lvl="0" indent="0" marL="0" algn="r">
                        <a:buNone/>
                      </a:pPr>
                      <a:r>
                        <a:rPr/>
                        <a:t>73.71</a:t>
                      </a:r>
                    </a:p>
                  </a:txBody>
                </a:tc>
                <a:tc>
                  <a:txBody>
                    <a:bodyPr/>
                    <a:lstStyle/>
                    <a:p>
                      <a:pPr lvl="0" indent="0" marL="0" algn="r">
                        <a:buNone/>
                      </a:pPr>
                      <a:r>
                        <a:rPr/>
                        <a:t>70.13</a:t>
                      </a:r>
                    </a:p>
                  </a:txBody>
                </a:tc>
                <a:tc>
                  <a:txBody>
                    <a:bodyPr/>
                    <a:lstStyle/>
                    <a:p>
                      <a:pPr lvl="0" indent="0" marL="0" algn="r">
                        <a:buNone/>
                      </a:pPr>
                      <a:r>
                        <a:rPr/>
                        <a:t>78.38</a:t>
                      </a:r>
                    </a:p>
                  </a:txBody>
                </a:tc>
              </a:tr>
              <a:tr h="0">
                <a:tc>
                  <a:txBody>
                    <a:bodyPr/>
                    <a:lstStyle/>
                    <a:p>
                      <a:pPr lvl="0" indent="0" marL="0" algn="l">
                        <a:buNone/>
                      </a:pPr>
                      <a:r>
                        <a:rPr/>
                        <a:t>7</a:t>
                      </a:r>
                    </a:p>
                  </a:txBody>
                </a:tc>
                <a:tc>
                  <a:txBody>
                    <a:bodyPr/>
                    <a:lstStyle/>
                    <a:p>
                      <a:pPr lvl="0" indent="0" marL="0" algn="l">
                        <a:buNone/>
                      </a:pPr>
                      <a:r>
                        <a:rPr/>
                        <a:t>GA_areaPoly</a:t>
                      </a:r>
                    </a:p>
                  </a:txBody>
                </a:tc>
                <a:tc>
                  <a:txBody>
                    <a:bodyPr/>
                    <a:lstStyle/>
                    <a:p>
                      <a:pPr lvl="0" indent="0" marL="0" algn="r">
                        <a:buNone/>
                      </a:pPr>
                      <a:r>
                        <a:rPr/>
                        <a:t>70.91</a:t>
                      </a:r>
                    </a:p>
                  </a:txBody>
                </a:tc>
                <a:tc>
                  <a:txBody>
                    <a:bodyPr/>
                    <a:lstStyle/>
                    <a:p>
                      <a:pPr lvl="0" indent="0" marL="0" algn="r">
                        <a:buNone/>
                      </a:pPr>
                      <a:r>
                        <a:rPr/>
                        <a:t>1.29</a:t>
                      </a:r>
                    </a:p>
                  </a:txBody>
                </a:tc>
                <a:tc>
                  <a:txBody>
                    <a:bodyPr/>
                    <a:lstStyle/>
                    <a:p>
                      <a:pPr lvl="0" indent="0" marL="0" algn="r">
                        <a:buNone/>
                      </a:pPr>
                      <a:r>
                        <a:rPr/>
                        <a:t>60.61</a:t>
                      </a:r>
                    </a:p>
                  </a:txBody>
                </a:tc>
                <a:tc>
                  <a:txBody>
                    <a:bodyPr/>
                    <a:lstStyle/>
                    <a:p>
                      <a:pPr lvl="0" indent="0" marL="0" algn="r">
                        <a:buNone/>
                      </a:pPr>
                      <a:r>
                        <a:rPr/>
                        <a:t>70.70</a:t>
                      </a:r>
                    </a:p>
                  </a:txBody>
                </a:tc>
                <a:tc>
                  <a:txBody>
                    <a:bodyPr/>
                    <a:lstStyle/>
                    <a:p>
                      <a:pPr lvl="0" indent="0" marL="0" algn="r">
                        <a:buNone/>
                      </a:pPr>
                      <a:r>
                        <a:rPr/>
                        <a:t>69.23</a:t>
                      </a:r>
                    </a:p>
                  </a:txBody>
                </a:tc>
                <a:tc>
                  <a:txBody>
                    <a:bodyPr/>
                    <a:lstStyle/>
                    <a:p>
                      <a:pPr lvl="0" indent="0" marL="0" algn="r">
                        <a:buNone/>
                      </a:pPr>
                      <a:r>
                        <a:rPr/>
                        <a:t>62.26</a:t>
                      </a:r>
                    </a:p>
                  </a:txBody>
                </a:tc>
                <a:tc>
                  <a:txBody>
                    <a:bodyPr/>
                    <a:lstStyle/>
                    <a:p>
                      <a:pPr lvl="0" indent="0" marL="0" algn="r">
                        <a:buNone/>
                      </a:pPr>
                      <a:r>
                        <a:rPr/>
                        <a:t>66.72</a:t>
                      </a:r>
                    </a:p>
                  </a:txBody>
                </a:tc>
                <a:tc>
                  <a:txBody>
                    <a:bodyPr/>
                    <a:lstStyle/>
                    <a:p>
                      <a:pPr lvl="0" indent="0" marL="0" algn="r">
                        <a:buNone/>
                      </a:pPr>
                      <a:r>
                        <a:rPr/>
                        <a:t>75.11</a:t>
                      </a:r>
                    </a:p>
                  </a:txBody>
                </a:tc>
              </a:tr>
              <a:tr h="0">
                <a:tc>
                  <a:txBody>
                    <a:bodyPr/>
                    <a:lstStyle/>
                    <a:p>
                      <a:pPr lvl="0" indent="0" marL="0" algn="l">
                        <a:buNone/>
                      </a:pPr>
                      <a:r>
                        <a:rPr/>
                        <a:t>3</a:t>
                      </a:r>
                    </a:p>
                  </a:txBody>
                </a:tc>
                <a:tc>
                  <a:txBody>
                    <a:bodyPr/>
                    <a:lstStyle/>
                    <a:p>
                      <a:pPr lvl="0" indent="0" marL="0" algn="l">
                        <a:buNone/>
                      </a:pPr>
                      <a:r>
                        <a:rPr/>
                        <a:t>Consistency_zs</a:t>
                      </a:r>
                    </a:p>
                  </a:txBody>
                </a:tc>
                <a:tc>
                  <a:txBody>
                    <a:bodyPr/>
                    <a:lstStyle/>
                    <a:p>
                      <a:pPr lvl="0" indent="0" marL="0" algn="r">
                        <a:buNone/>
                      </a:pPr>
                      <a:r>
                        <a:rPr/>
                        <a:t>69.81</a:t>
                      </a:r>
                    </a:p>
                  </a:txBody>
                </a:tc>
                <a:tc>
                  <a:txBody>
                    <a:bodyPr/>
                    <a:lstStyle/>
                    <a:p>
                      <a:pPr lvl="0" indent="0" marL="0" algn="r">
                        <a:buNone/>
                      </a:pPr>
                      <a:r>
                        <a:rPr/>
                        <a:t>2.22</a:t>
                      </a:r>
                    </a:p>
                  </a:txBody>
                </a:tc>
                <a:tc>
                  <a:txBody>
                    <a:bodyPr/>
                    <a:lstStyle/>
                    <a:p>
                      <a:pPr lvl="0" indent="0" marL="0" algn="r">
                        <a:buNone/>
                      </a:pPr>
                      <a:r>
                        <a:rPr/>
                        <a:t>76.43</a:t>
                      </a:r>
                    </a:p>
                  </a:txBody>
                </a:tc>
                <a:tc>
                  <a:txBody>
                    <a:bodyPr/>
                    <a:lstStyle/>
                    <a:p>
                      <a:pPr lvl="0" indent="0" marL="0" algn="r">
                        <a:buNone/>
                      </a:pPr>
                      <a:r>
                        <a:rPr/>
                        <a:t>64.84</a:t>
                      </a:r>
                    </a:p>
                  </a:txBody>
                </a:tc>
                <a:tc>
                  <a:txBody>
                    <a:bodyPr/>
                    <a:lstStyle/>
                    <a:p>
                      <a:pPr lvl="0" indent="0" marL="0" algn="r">
                        <a:buNone/>
                      </a:pPr>
                      <a:r>
                        <a:rPr/>
                        <a:t>70.28</a:t>
                      </a:r>
                    </a:p>
                  </a:txBody>
                </a:tc>
                <a:tc>
                  <a:txBody>
                    <a:bodyPr/>
                    <a:lstStyle/>
                    <a:p>
                      <a:pPr lvl="0" indent="0" marL="0" algn="r">
                        <a:buNone/>
                      </a:pPr>
                      <a:r>
                        <a:rPr/>
                        <a:t>71.66</a:t>
                      </a:r>
                    </a:p>
                  </a:txBody>
                </a:tc>
                <a:tc>
                  <a:txBody>
                    <a:bodyPr/>
                    <a:lstStyle/>
                    <a:p>
                      <a:pPr lvl="0" indent="0" marL="0" algn="r">
                        <a:buNone/>
                      </a:pPr>
                      <a:r>
                        <a:rPr/>
                        <a:t>65.22</a:t>
                      </a:r>
                    </a:p>
                  </a:txBody>
                </a:tc>
                <a:tc>
                  <a:txBody>
                    <a:bodyPr/>
                    <a:lstStyle/>
                    <a:p>
                      <a:pPr lvl="0" indent="0" marL="0" algn="r">
                        <a:buNone/>
                      </a:pPr>
                      <a:r>
                        <a:rPr/>
                        <a:t>74.40</a:t>
                      </a:r>
                    </a:p>
                  </a:txBody>
                </a:tc>
              </a:tr>
              <a:tr h="0">
                <a:tc>
                  <a:txBody>
                    <a:bodyPr/>
                    <a:lstStyle/>
                    <a:p>
                      <a:pPr lvl="0" indent="0" marL="0" algn="l">
                        <a:buNone/>
                      </a:pPr>
                      <a:r>
                        <a:rPr/>
                        <a:t>8</a:t>
                      </a:r>
                    </a:p>
                  </a:txBody>
                </a:tc>
                <a:tc>
                  <a:txBody>
                    <a:bodyPr/>
                    <a:lstStyle/>
                    <a:p>
                      <a:pPr lvl="0" indent="0" marL="0" algn="l">
                        <a:buNone/>
                      </a:pPr>
                      <a:r>
                        <a:rPr/>
                        <a:t>GA_isSimple</a:t>
                      </a:r>
                    </a:p>
                  </a:txBody>
                </a:tc>
                <a:tc>
                  <a:txBody>
                    <a:bodyPr/>
                    <a:lstStyle/>
                    <a:p>
                      <a:pPr lvl="0" indent="0" marL="0" algn="r">
                        <a:buNone/>
                      </a:pPr>
                      <a:r>
                        <a:rPr/>
                        <a:t>68.78</a:t>
                      </a:r>
                    </a:p>
                  </a:txBody>
                </a:tc>
                <a:tc>
                  <a:txBody>
                    <a:bodyPr/>
                    <a:lstStyle/>
                    <a:p>
                      <a:pPr lvl="0" indent="0" marL="0" algn="r">
                        <a:buNone/>
                      </a:pPr>
                      <a:r>
                        <a:rPr/>
                        <a:t>0.28</a:t>
                      </a:r>
                    </a:p>
                  </a:txBody>
                </a:tc>
                <a:tc>
                  <a:txBody>
                    <a:bodyPr/>
                    <a:lstStyle/>
                    <a:p>
                      <a:pPr lvl="0" indent="0" marL="0" algn="r">
                        <a:buNone/>
                      </a:pPr>
                      <a:r>
                        <a:rPr/>
                        <a:t>60.94</a:t>
                      </a:r>
                    </a:p>
                  </a:txBody>
                </a:tc>
                <a:tc>
                  <a:txBody>
                    <a:bodyPr/>
                    <a:lstStyle/>
                    <a:p>
                      <a:pPr lvl="0" indent="0" marL="0" algn="r">
                        <a:buNone/>
                      </a:pPr>
                      <a:r>
                        <a:rPr/>
                        <a:t>69.60</a:t>
                      </a:r>
                    </a:p>
                  </a:txBody>
                </a:tc>
                <a:tc>
                  <a:txBody>
                    <a:bodyPr/>
                    <a:lstStyle/>
                    <a:p>
                      <a:pPr lvl="0" indent="0" marL="0" algn="r">
                        <a:buNone/>
                      </a:pPr>
                      <a:r>
                        <a:rPr/>
                        <a:t>68.56</a:t>
                      </a:r>
                    </a:p>
                  </a:txBody>
                </a:tc>
                <a:tc>
                  <a:txBody>
                    <a:bodyPr/>
                    <a:lstStyle/>
                    <a:p>
                      <a:pPr lvl="0" indent="0" marL="0" algn="r">
                        <a:buNone/>
                      </a:pPr>
                      <a:r>
                        <a:rPr/>
                        <a:t>62.09</a:t>
                      </a:r>
                    </a:p>
                  </a:txBody>
                </a:tc>
                <a:tc>
                  <a:txBody>
                    <a:bodyPr/>
                    <a:lstStyle/>
                    <a:p>
                      <a:pPr lvl="0" indent="0" marL="0" algn="r">
                        <a:buNone/>
                      </a:pPr>
                      <a:r>
                        <a:rPr/>
                        <a:t>64.46</a:t>
                      </a:r>
                    </a:p>
                  </a:txBody>
                </a:tc>
                <a:tc>
                  <a:txBody>
                    <a:bodyPr/>
                    <a:lstStyle/>
                    <a:p>
                      <a:pPr lvl="0" indent="0" marL="0" algn="r">
                        <a:buNone/>
                      </a:pPr>
                      <a:r>
                        <a:rPr/>
                        <a:t>73.10</a:t>
                      </a:r>
                    </a:p>
                  </a:txBody>
                </a:tc>
              </a:tr>
              <a:tr h="0">
                <a:tc>
                  <a:txBody>
                    <a:bodyPr/>
                    <a:lstStyle/>
                    <a:p>
                      <a:pPr lvl="0" indent="0" marL="0" algn="l">
                        <a:buNone/>
                      </a:pPr>
                      <a:r>
                        <a:rPr/>
                        <a:t>1</a:t>
                      </a:r>
                    </a:p>
                  </a:txBody>
                </a:tc>
                <a:tc>
                  <a:txBody>
                    <a:bodyPr/>
                    <a:lstStyle/>
                    <a:p>
                      <a:pPr lvl="0" indent="0" marL="0" algn="l">
                        <a:buNone/>
                      </a:pPr>
                      <a:r>
                        <a:rPr/>
                        <a:t>SD_ID_ysc</a:t>
                      </a:r>
                    </a:p>
                  </a:txBody>
                </a:tc>
                <a:tc>
                  <a:txBody>
                    <a:bodyPr/>
                    <a:lstStyle/>
                    <a:p>
                      <a:pPr lvl="0" indent="0" marL="0" algn="r">
                        <a:buNone/>
                      </a:pPr>
                      <a:r>
                        <a:rPr/>
                        <a:t>68.68</a:t>
                      </a:r>
                    </a:p>
                  </a:txBody>
                </a:tc>
                <a:tc>
                  <a:txBody>
                    <a:bodyPr/>
                    <a:lstStyle/>
                    <a:p>
                      <a:pPr lvl="0" indent="0" marL="0" algn="r">
                        <a:buNone/>
                      </a:pPr>
                      <a:r>
                        <a:rPr/>
                        <a:t>0.12</a:t>
                      </a:r>
                    </a:p>
                  </a:txBody>
                </a:tc>
                <a:tc>
                  <a:txBody>
                    <a:bodyPr/>
                    <a:lstStyle/>
                    <a:p>
                      <a:pPr lvl="0" indent="0" marL="0" algn="r">
                        <a:buNone/>
                      </a:pPr>
                      <a:r>
                        <a:rPr/>
                        <a:t>80.81</a:t>
                      </a:r>
                    </a:p>
                  </a:txBody>
                </a:tc>
                <a:tc>
                  <a:txBody>
                    <a:bodyPr/>
                    <a:lstStyle/>
                    <a:p>
                      <a:pPr lvl="0" indent="0" marL="0" algn="r">
                        <a:buNone/>
                      </a:pPr>
                      <a:r>
                        <a:rPr/>
                        <a:t>59.71</a:t>
                      </a:r>
                    </a:p>
                  </a:txBody>
                </a:tc>
                <a:tc>
                  <a:txBody>
                    <a:bodyPr/>
                    <a:lstStyle/>
                    <a:p>
                      <a:pPr lvl="0" indent="0" marL="0" algn="r">
                        <a:buNone/>
                      </a:pPr>
                      <a:r>
                        <a:rPr/>
                        <a:t>68.57</a:t>
                      </a:r>
                    </a:p>
                  </a:txBody>
                </a:tc>
                <a:tc>
                  <a:txBody>
                    <a:bodyPr/>
                    <a:lstStyle/>
                    <a:p>
                      <a:pPr lvl="0" indent="0" marL="0" algn="r">
                        <a:buNone/>
                      </a:pPr>
                      <a:r>
                        <a:rPr/>
                        <a:t>74.09</a:t>
                      </a:r>
                    </a:p>
                  </a:txBody>
                </a:tc>
                <a:tc>
                  <a:txBody>
                    <a:bodyPr/>
                    <a:lstStyle/>
                    <a:p>
                      <a:pPr lvl="0" indent="0" marL="0" algn="r">
                        <a:buNone/>
                      </a:pPr>
                      <a:r>
                        <a:rPr/>
                        <a:t>64.13</a:t>
                      </a:r>
                    </a:p>
                  </a:txBody>
                </a:tc>
                <a:tc>
                  <a:txBody>
                    <a:bodyPr/>
                    <a:lstStyle/>
                    <a:p>
                      <a:pPr lvl="0" indent="0" marL="0" algn="r">
                        <a:buNone/>
                      </a:pPr>
                      <a:r>
                        <a:rPr/>
                        <a:t>73.22</a:t>
                      </a:r>
                    </a:p>
                  </a:txBody>
                </a:tc>
              </a:tr>
              <a:tr h="0">
                <a:tc>
                  <a:txBody>
                    <a:bodyPr/>
                    <a:lstStyle/>
                    <a:p>
                      <a:pPr lvl="0" indent="0" marL="0" algn="l">
                        <a:buNone/>
                      </a:pPr>
                      <a:r>
                        <a:rPr/>
                        <a:t>5</a:t>
                      </a:r>
                    </a:p>
                  </a:txBody>
                </a:tc>
                <a:tc>
                  <a:txBody>
                    <a:bodyPr/>
                    <a:lstStyle/>
                    <a:p>
                      <a:pPr lvl="0" indent="0" marL="0" algn="l">
                        <a:buNone/>
                      </a:pPr>
                      <a:r>
                        <a:rPr/>
                        <a:t>GA_segm_leng</a:t>
                      </a:r>
                    </a:p>
                  </a:txBody>
                </a:tc>
                <a:tc>
                  <a:txBody>
                    <a:bodyPr/>
                    <a:lstStyle/>
                    <a:p>
                      <a:pPr lvl="0" indent="0" marL="0" algn="r">
                        <a:buNone/>
                      </a:pPr>
                      <a:r>
                        <a:rPr/>
                        <a:t>63.07</a:t>
                      </a:r>
                    </a:p>
                  </a:txBody>
                </a:tc>
                <a:tc>
                  <a:txBody>
                    <a:bodyPr/>
                    <a:lstStyle/>
                    <a:p>
                      <a:pPr lvl="0" indent="0" marL="0" algn="r">
                        <a:buNone/>
                      </a:pPr>
                      <a:r>
                        <a:rPr/>
                        <a:t>7.86</a:t>
                      </a:r>
                    </a:p>
                  </a:txBody>
                </a:tc>
                <a:tc>
                  <a:txBody>
                    <a:bodyPr/>
                    <a:lstStyle/>
                    <a:p>
                      <a:pPr lvl="0" indent="0" marL="0" algn="r">
                        <a:buNone/>
                      </a:pPr>
                      <a:r>
                        <a:rPr/>
                        <a:t>83.84</a:t>
                      </a:r>
                    </a:p>
                  </a:txBody>
                </a:tc>
                <a:tc>
                  <a:txBody>
                    <a:bodyPr/>
                    <a:lstStyle/>
                    <a:p>
                      <a:pPr lvl="0" indent="0" marL="0" algn="r">
                        <a:buNone/>
                      </a:pPr>
                      <a:r>
                        <a:rPr/>
                        <a:t>48.72</a:t>
                      </a:r>
                    </a:p>
                  </a:txBody>
                </a:tc>
                <a:tc>
                  <a:txBody>
                    <a:bodyPr/>
                    <a:lstStyle/>
                    <a:p>
                      <a:pPr lvl="0" indent="0" marL="0" algn="r">
                        <a:buNone/>
                      </a:pPr>
                      <a:r>
                        <a:rPr/>
                        <a:t>64.01</a:t>
                      </a:r>
                    </a:p>
                  </a:txBody>
                </a:tc>
                <a:tc>
                  <a:txBody>
                    <a:bodyPr/>
                    <a:lstStyle/>
                    <a:p>
                      <a:pPr lvl="0" indent="0" marL="0" algn="r">
                        <a:buNone/>
                      </a:pPr>
                      <a:r>
                        <a:rPr/>
                        <a:t>73.48</a:t>
                      </a:r>
                    </a:p>
                  </a:txBody>
                </a:tc>
                <a:tc>
                  <a:txBody>
                    <a:bodyPr/>
                    <a:lstStyle/>
                    <a:p>
                      <a:pPr lvl="0" indent="0" marL="0" algn="r">
                        <a:buNone/>
                      </a:pPr>
                      <a:r>
                        <a:rPr/>
                        <a:t>58.34</a:t>
                      </a:r>
                    </a:p>
                  </a:txBody>
                </a:tc>
                <a:tc>
                  <a:txBody>
                    <a:bodyPr/>
                    <a:lstStyle/>
                    <a:p>
                      <a:pPr lvl="0" indent="0" marL="0" algn="r">
                        <a:buNone/>
                      </a:pPr>
                      <a:r>
                        <a:rPr/>
                        <a:t>67.81</a:t>
                      </a:r>
                    </a:p>
                  </a:txBody>
                </a:tc>
              </a:tr>
              <a:tr h="0">
                <a:tc>
                  <a:txBody>
                    <a:bodyPr/>
                    <a:lstStyle/>
                    <a:p>
                      <a:pPr lvl="0" indent="0" marL="0" algn="l">
                        <a:buNone/>
                      </a:pPr>
                      <a:r>
                        <a:rPr/>
                        <a:t>11</a:t>
                      </a:r>
                    </a:p>
                  </a:txBody>
                </a:tc>
                <a:tc>
                  <a:txBody>
                    <a:bodyPr/>
                    <a:lstStyle/>
                    <a:p>
                      <a:pPr lvl="0" indent="0" marL="0" algn="l">
                        <a:buNone/>
                      </a:pPr>
                      <a:r>
                        <a:rPr/>
                        <a:t>Sum_isClockwise</a:t>
                      </a:r>
                    </a:p>
                  </a:txBody>
                </a:tc>
                <a:tc>
                  <a:txBody>
                    <a:bodyPr/>
                    <a:lstStyle/>
                    <a:p>
                      <a:pPr lvl="0" indent="0" marL="0" algn="r">
                        <a:buNone/>
                      </a:pPr>
                      <a:r>
                        <a:rPr/>
                        <a:t>61.73</a:t>
                      </a:r>
                    </a:p>
                  </a:txBody>
                </a:tc>
                <a:tc>
                  <a:txBody>
                    <a:bodyPr/>
                    <a:lstStyle/>
                    <a:p>
                      <a:pPr lvl="0" indent="0" marL="0" algn="r">
                        <a:buNone/>
                      </a:pPr>
                      <a:r>
                        <a:rPr/>
                        <a:t>2.50</a:t>
                      </a:r>
                    </a:p>
                  </a:txBody>
                </a:tc>
                <a:tc>
                  <a:txBody>
                    <a:bodyPr/>
                    <a:lstStyle/>
                    <a:p>
                      <a:pPr lvl="0" indent="0" marL="0" algn="r">
                        <a:buNone/>
                      </a:pPr>
                      <a:r>
                        <a:rPr/>
                        <a:t>76.09</a:t>
                      </a:r>
                    </a:p>
                  </a:txBody>
                </a:tc>
                <a:tc>
                  <a:txBody>
                    <a:bodyPr/>
                    <a:lstStyle/>
                    <a:p>
                      <a:pPr lvl="0" indent="0" marL="0" algn="r">
                        <a:buNone/>
                      </a:pPr>
                      <a:r>
                        <a:rPr/>
                        <a:t>41.76</a:t>
                      </a:r>
                    </a:p>
                  </a:txBody>
                </a:tc>
                <a:tc>
                  <a:txBody>
                    <a:bodyPr/>
                    <a:lstStyle/>
                    <a:p>
                      <a:pPr lvl="0" indent="0" marL="0" algn="r">
                        <a:buNone/>
                      </a:pPr>
                      <a:r>
                        <a:rPr/>
                        <a:t>58.70</a:t>
                      </a:r>
                    </a:p>
                  </a:txBody>
                </a:tc>
                <a:tc>
                  <a:txBody>
                    <a:bodyPr/>
                    <a:lstStyle/>
                    <a:p>
                      <a:pPr lvl="0" indent="0" marL="0" algn="r">
                        <a:buNone/>
                      </a:pPr>
                      <a:r>
                        <a:rPr/>
                        <a:t>61.62</a:t>
                      </a:r>
                    </a:p>
                  </a:txBody>
                </a:tc>
                <a:tc>
                  <a:txBody>
                    <a:bodyPr/>
                    <a:lstStyle/>
                    <a:p>
                      <a:pPr lvl="0" indent="0" marL="0" algn="r">
                        <a:buNone/>
                      </a:pPr>
                      <a:r>
                        <a:rPr/>
                        <a:t>57.19</a:t>
                      </a:r>
                    </a:p>
                  </a:txBody>
                </a:tc>
                <a:tc>
                  <a:txBody>
                    <a:bodyPr/>
                    <a:lstStyle/>
                    <a:p>
                      <a:pPr lvl="0" indent="0" marL="0" algn="r">
                        <a:buNone/>
                      </a:pPr>
                      <a:r>
                        <a:rPr/>
                        <a:t>66.27</a:t>
                      </a:r>
                    </a:p>
                  </a:txBody>
                </a:tc>
              </a:tr>
              <a:tr h="0">
                <a:tc>
                  <a:txBody>
                    <a:bodyPr/>
                    <a:lstStyle/>
                    <a:p>
                      <a:pPr lvl="0" indent="0" marL="0" algn="l">
                        <a:buNone/>
                      </a:pPr>
                      <a:r>
                        <a:rPr/>
                        <a:t>6</a:t>
                      </a:r>
                    </a:p>
                  </a:txBody>
                </a:tc>
                <a:tc>
                  <a:txBody>
                    <a:bodyPr/>
                    <a:lstStyle/>
                    <a:p>
                      <a:pPr lvl="0" indent="0" marL="0" algn="l">
                        <a:buNone/>
                      </a:pPr>
                      <a:r>
                        <a:rPr/>
                        <a:t>GA_BtwDist</a:t>
                      </a:r>
                    </a:p>
                  </a:txBody>
                </a:tc>
                <a:tc>
                  <a:txBody>
                    <a:bodyPr/>
                    <a:lstStyle/>
                    <a:p>
                      <a:pPr lvl="0" indent="0" marL="0" algn="r">
                        <a:buNone/>
                      </a:pPr>
                      <a:r>
                        <a:rPr/>
                        <a:t>57.90</a:t>
                      </a:r>
                    </a:p>
                  </a:txBody>
                </a:tc>
                <a:tc>
                  <a:txBody>
                    <a:bodyPr/>
                    <a:lstStyle/>
                    <a:p>
                      <a:pPr lvl="0" indent="0" marL="0" algn="r">
                        <a:buNone/>
                      </a:pPr>
                      <a:r>
                        <a:rPr/>
                        <a:t>0.03</a:t>
                      </a:r>
                    </a:p>
                  </a:txBody>
                </a:tc>
                <a:tc>
                  <a:txBody>
                    <a:bodyPr/>
                    <a:lstStyle/>
                    <a:p>
                      <a:pPr lvl="0" indent="0" marL="0" algn="r">
                        <a:buNone/>
                      </a:pPr>
                      <a:r>
                        <a:rPr/>
                        <a:t>96.30</a:t>
                      </a:r>
                    </a:p>
                  </a:txBody>
                </a:tc>
                <a:tc>
                  <a:txBody>
                    <a:bodyPr/>
                    <a:lstStyle/>
                    <a:p>
                      <a:pPr lvl="0" indent="0" marL="0" algn="r">
                        <a:buNone/>
                      </a:pPr>
                      <a:r>
                        <a:rPr/>
                        <a:t>26.74</a:t>
                      </a:r>
                    </a:p>
                  </a:txBody>
                </a:tc>
                <a:tc>
                  <a:txBody>
                    <a:bodyPr/>
                    <a:lstStyle/>
                    <a:p>
                      <a:pPr lvl="0" indent="0" marL="0" algn="r">
                        <a:buNone/>
                      </a:pPr>
                      <a:r>
                        <a:rPr/>
                        <a:t>58.85</a:t>
                      </a:r>
                    </a:p>
                  </a:txBody>
                </a:tc>
                <a:tc>
                  <a:txBody>
                    <a:bodyPr/>
                    <a:lstStyle/>
                    <a:p>
                      <a:pPr lvl="0" indent="0" marL="0" algn="r">
                        <a:buNone/>
                      </a:pPr>
                      <a:r>
                        <a:rPr/>
                        <a:t>86.90</a:t>
                      </a:r>
                    </a:p>
                  </a:txBody>
                </a:tc>
                <a:tc>
                  <a:txBody>
                    <a:bodyPr/>
                    <a:lstStyle/>
                    <a:p>
                      <a:pPr lvl="0" indent="0" marL="0" algn="r">
                        <a:buNone/>
                      </a:pPr>
                      <a:r>
                        <a:rPr/>
                        <a:t>53.68</a:t>
                      </a:r>
                    </a:p>
                  </a:txBody>
                </a:tc>
                <a:tc>
                  <a:txBody>
                    <a:bodyPr/>
                    <a:lstStyle/>
                    <a:p>
                      <a:pPr lvl="0" indent="0" marL="0" algn="r">
                        <a:buNone/>
                      </a:pPr>
                      <a:r>
                        <a:rPr/>
                        <a:t>62.12</a:t>
                      </a:r>
                    </a:p>
                  </a:txBody>
                </a:tc>
              </a:tr>
              <a:tr h="0">
                <a:tc>
                  <a:txBody>
                    <a:bodyPr/>
                    <a:lstStyle/>
                    <a:p>
                      <a:pPr lvl="0" indent="0" marL="0" algn="l">
                        <a:buNone/>
                      </a:pPr>
                      <a:r>
                        <a:rPr/>
                        <a:t>12</a:t>
                      </a:r>
                    </a:p>
                  </a:txBody>
                </a:tc>
                <a:tc>
                  <a:txBody>
                    <a:bodyPr/>
                    <a:lstStyle/>
                    <a:p>
                      <a:pPr lvl="0" indent="0" marL="0" algn="l">
                        <a:buNone/>
                      </a:pPr>
                      <a:r>
                        <a:rPr/>
                        <a:t>GA_area_convhull</a:t>
                      </a:r>
                    </a:p>
                  </a:txBody>
                </a:tc>
                <a:tc>
                  <a:txBody>
                    <a:bodyPr/>
                    <a:lstStyle/>
                    <a:p>
                      <a:pPr lvl="0" indent="0" marL="0" algn="r">
                        <a:buNone/>
                      </a:pPr>
                      <a:r>
                        <a:rPr/>
                        <a:t>56.88</a:t>
                      </a:r>
                    </a:p>
                  </a:txBody>
                </a:tc>
                <a:tc>
                  <a:txBody>
                    <a:bodyPr/>
                    <a:lstStyle/>
                    <a:p>
                      <a:pPr lvl="0" indent="0" marL="0" algn="r">
                        <a:buNone/>
                      </a:pPr>
                      <a:r>
                        <a:rPr/>
                        <a:t>1.49</a:t>
                      </a:r>
                    </a:p>
                  </a:txBody>
                </a:tc>
                <a:tc>
                  <a:txBody>
                    <a:bodyPr/>
                    <a:lstStyle/>
                    <a:p>
                      <a:pPr lvl="0" indent="0" marL="0" algn="r">
                        <a:buNone/>
                      </a:pPr>
                      <a:r>
                        <a:rPr/>
                        <a:t>76.77</a:t>
                      </a:r>
                    </a:p>
                  </a:txBody>
                </a:tc>
                <a:tc>
                  <a:txBody>
                    <a:bodyPr/>
                    <a:lstStyle/>
                    <a:p>
                      <a:pPr lvl="0" indent="0" marL="0" algn="r">
                        <a:buNone/>
                      </a:pPr>
                      <a:r>
                        <a:rPr/>
                        <a:t>48.35</a:t>
                      </a:r>
                    </a:p>
                  </a:txBody>
                </a:tc>
                <a:tc>
                  <a:txBody>
                    <a:bodyPr/>
                    <a:lstStyle/>
                    <a:p>
                      <a:pPr lvl="0" indent="0" marL="0" algn="r">
                        <a:buNone/>
                      </a:pPr>
                      <a:r>
                        <a:rPr/>
                        <a:t>61.79</a:t>
                      </a:r>
                    </a:p>
                  </a:txBody>
                </a:tc>
                <a:tc>
                  <a:txBody>
                    <a:bodyPr/>
                    <a:lstStyle/>
                    <a:p>
                      <a:pPr lvl="0" indent="0" marL="0" algn="r">
                        <a:buNone/>
                      </a:pPr>
                      <a:r>
                        <a:rPr/>
                        <a:t>65.67</a:t>
                      </a:r>
                    </a:p>
                  </a:txBody>
                </a:tc>
                <a:tc>
                  <a:txBody>
                    <a:bodyPr/>
                    <a:lstStyle/>
                    <a:p>
                      <a:pPr lvl="0" indent="0" marL="0" algn="r">
                        <a:buNone/>
                      </a:pPr>
                      <a:r>
                        <a:rPr/>
                        <a:t>51.96</a:t>
                      </a:r>
                    </a:p>
                  </a:txBody>
                </a:tc>
                <a:tc>
                  <a:txBody>
                    <a:bodyPr/>
                    <a:lstStyle/>
                    <a:p>
                      <a:pPr lvl="0" indent="0" marL="0" algn="r">
                        <a:buNone/>
                      </a:pPr>
                      <a:r>
                        <a:rPr/>
                        <a:t>61.80</a:t>
                      </a:r>
                    </a:p>
                  </a:txBody>
                </a:tc>
              </a:tr>
              <a:tr h="0">
                <a:tc>
                  <a:txBody>
                    <a:bodyPr/>
                    <a:lstStyle/>
                    <a:p>
                      <a:pPr lvl="0" indent="0" marL="0" algn="l">
                        <a:buNone/>
                      </a:pPr>
                      <a:r>
                        <a:rPr/>
                        <a:t>2</a:t>
                      </a:r>
                    </a:p>
                  </a:txBody>
                </a:tc>
                <a:tc>
                  <a:txBody>
                    <a:bodyPr/>
                    <a:lstStyle/>
                    <a:p>
                      <a:pPr lvl="0" indent="0" marL="0" algn="l">
                        <a:buNone/>
                      </a:pPr>
                      <a:r>
                        <a:rPr/>
                        <a:t>triangle_area_GA</a:t>
                      </a:r>
                    </a:p>
                  </a:txBody>
                </a:tc>
                <a:tc>
                  <a:txBody>
                    <a:bodyPr/>
                    <a:lstStyle/>
                    <a:p>
                      <a:pPr lvl="0" indent="0" marL="0" algn="r">
                        <a:buNone/>
                      </a:pPr>
                      <a:r>
                        <a:rPr/>
                        <a:t>49.26</a:t>
                      </a:r>
                    </a:p>
                  </a:txBody>
                </a:tc>
                <a:tc>
                  <a:txBody>
                    <a:bodyPr/>
                    <a:lstStyle/>
                    <a:p>
                      <a:pPr lvl="0" indent="0" marL="0" algn="r">
                        <a:buNone/>
                      </a:pPr>
                      <a:r>
                        <a:rPr/>
                        <a:t>2338.97</a:t>
                      </a:r>
                    </a:p>
                  </a:txBody>
                </a:tc>
                <a:tc>
                  <a:txBody>
                    <a:bodyPr/>
                    <a:lstStyle/>
                    <a:p>
                      <a:pPr lvl="0" indent="0" marL="0" algn="r">
                        <a:buNone/>
                      </a:pPr>
                      <a:r>
                        <a:rPr/>
                        <a:t>76.09</a:t>
                      </a:r>
                    </a:p>
                  </a:txBody>
                </a:tc>
                <a:tc>
                  <a:txBody>
                    <a:bodyPr/>
                    <a:lstStyle/>
                    <a:p>
                      <a:pPr lvl="0" indent="0" marL="0" algn="r">
                        <a:buNone/>
                      </a:pPr>
                      <a:r>
                        <a:rPr/>
                        <a:t>38.83</a:t>
                      </a:r>
                    </a:p>
                  </a:txBody>
                </a:tc>
                <a:tc>
                  <a:txBody>
                    <a:bodyPr/>
                    <a:lstStyle/>
                    <a:p>
                      <a:pPr lvl="0" indent="0" marL="0" algn="r">
                        <a:buNone/>
                      </a:pPr>
                      <a:r>
                        <a:rPr/>
                        <a:t>57.51</a:t>
                      </a:r>
                    </a:p>
                  </a:txBody>
                </a:tc>
                <a:tc>
                  <a:txBody>
                    <a:bodyPr/>
                    <a:lstStyle/>
                    <a:p>
                      <a:pPr lvl="0" indent="0" marL="0" algn="r">
                        <a:buNone/>
                      </a:pPr>
                      <a:r>
                        <a:rPr/>
                        <a:t>59.89</a:t>
                      </a:r>
                    </a:p>
                  </a:txBody>
                </a:tc>
                <a:tc>
                  <a:txBody>
                    <a:bodyPr/>
                    <a:lstStyle/>
                    <a:p>
                      <a:pPr lvl="0" indent="0" marL="0" algn="r">
                        <a:buNone/>
                      </a:pPr>
                      <a:r>
                        <a:rPr/>
                        <a:t>44.27</a:t>
                      </a:r>
                    </a:p>
                  </a:txBody>
                </a:tc>
                <a:tc>
                  <a:txBody>
                    <a:bodyPr/>
                    <a:lstStyle/>
                    <a:p>
                      <a:pPr lvl="0" indent="0" marL="0" algn="r">
                        <a:buNone/>
                      </a:pPr>
                      <a:r>
                        <a:rPr/>
                        <a:t>54.25</a:t>
                      </a:r>
                    </a:p>
                  </a:txBody>
                </a:tc>
              </a:tr>
            </a:tbl>
          </a:graphicData>
        </a:graphic>
      </p:graphicFrame>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13.2 Summary plot</a:t>
            </a:r>
          </a:p>
        </p:txBody>
      </p:sp>
      <p:pic>
        <p:nvPicPr>
          <p:cNvPr descr="2.Pre-registeredReport_V4_minimal_files/figure-pptx/unnamed-chunk-16-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14. Summary excluding overlapping responses</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279400"/>
                <a:gridCol w="1828800"/>
                <a:gridCol w="546100"/>
                <a:gridCol w="914400"/>
                <a:gridCol w="1092200"/>
                <a:gridCol w="1092200"/>
                <a:gridCol w="546100"/>
                <a:gridCol w="546100"/>
                <a:gridCol w="635000"/>
                <a:gridCol w="736600"/>
              </a:tblGrid>
              <a:tr h="0">
                <a:tc>
                  <a:txBody>
                    <a:bodyPr/>
                    <a:lstStyle/>
                    <a:p>
                      <a:endParaRPr/>
                    </a:p>
                  </a:txBody>
                  <a:tcPr/>
                </a:tc>
                <a:tc>
                  <a:txBody>
                    <a:bodyPr/>
                    <a:lstStyle/>
                    <a:p>
                      <a:pPr lvl="0" indent="0" marL="0" algn="l">
                        <a:buNone/>
                      </a:pPr>
                      <a:r>
                        <a:rPr/>
                        <a:t>Feature</a:t>
                      </a:r>
                    </a:p>
                  </a:txBody>
                  <a:tcPr/>
                </a:tc>
                <a:tc>
                  <a:txBody>
                    <a:bodyPr/>
                    <a:lstStyle/>
                    <a:p>
                      <a:pPr lvl="0" indent="0" marL="0" algn="r">
                        <a:buNone/>
                      </a:pPr>
                      <a:r>
                        <a:rPr/>
                        <a:t>AUC</a:t>
                      </a:r>
                    </a:p>
                  </a:txBody>
                  <a:tcPr/>
                </a:tc>
                <a:tc>
                  <a:txBody>
                    <a:bodyPr/>
                    <a:lstStyle/>
                    <a:p>
                      <a:pPr lvl="0" indent="0" marL="0" algn="r">
                        <a:buNone/>
                      </a:pPr>
                      <a:r>
                        <a:rPr/>
                        <a:t>threshold</a:t>
                      </a:r>
                    </a:p>
                  </a:txBody>
                  <a:tcPr/>
                </a:tc>
                <a:tc>
                  <a:txBody>
                    <a:bodyPr/>
                    <a:lstStyle/>
                    <a:p>
                      <a:pPr lvl="0" indent="0" marL="0" algn="r">
                        <a:buNone/>
                      </a:pPr>
                      <a:r>
                        <a:rPr/>
                        <a:t>sensitivity</a:t>
                      </a:r>
                    </a:p>
                  </a:txBody>
                  <a:tcPr/>
                </a:tc>
                <a:tc>
                  <a:txBody>
                    <a:bodyPr/>
                    <a:lstStyle/>
                    <a:p>
                      <a:pPr lvl="0" indent="0" marL="0" algn="r">
                        <a:buNone/>
                      </a:pPr>
                      <a:r>
                        <a:rPr/>
                        <a:t>specificity</a:t>
                      </a:r>
                    </a:p>
                  </a:txBody>
                  <a:tcPr/>
                </a:tc>
                <a:tc>
                  <a:txBody>
                    <a:bodyPr/>
                    <a:lstStyle/>
                    <a:p>
                      <a:pPr lvl="0" indent="0" marL="0" algn="r">
                        <a:buNone/>
                      </a:pPr>
                      <a:r>
                        <a:rPr/>
                        <a:t>ppv</a:t>
                      </a:r>
                    </a:p>
                  </a:txBody>
                  <a:tcPr/>
                </a:tc>
                <a:tc>
                  <a:txBody>
                    <a:bodyPr/>
                    <a:lstStyle/>
                    <a:p>
                      <a:pPr lvl="0" indent="0" marL="0" algn="r">
                        <a:buNone/>
                      </a:pPr>
                      <a:r>
                        <a:rPr/>
                        <a:t>npv</a:t>
                      </a:r>
                    </a:p>
                  </a:txBody>
                  <a:tcPr/>
                </a:tc>
                <a:tc>
                  <a:txBody>
                    <a:bodyPr/>
                    <a:lstStyle/>
                    <a:p>
                      <a:pPr lvl="0" indent="0" marL="0" algn="r">
                        <a:buNone/>
                      </a:pPr>
                      <a:r>
                        <a:rPr/>
                        <a:t>ci_low</a:t>
                      </a:r>
                    </a:p>
                  </a:txBody>
                  <a:tcPr/>
                </a:tc>
                <a:tc>
                  <a:txBody>
                    <a:bodyPr/>
                    <a:lstStyle/>
                    <a:p>
                      <a:pPr lvl="0" indent="0" marL="0" algn="r">
                        <a:buNone/>
                      </a:pPr>
                      <a:r>
                        <a:rPr/>
                        <a:t>ci_high</a:t>
                      </a:r>
                    </a:p>
                  </a:txBody>
                  <a:tcPr/>
                </a:tc>
              </a:tr>
              <a:tr h="0">
                <a:tc>
                  <a:txBody>
                    <a:bodyPr/>
                    <a:lstStyle/>
                    <a:p>
                      <a:pPr lvl="0" indent="0" marL="0" algn="l">
                        <a:buNone/>
                      </a:pPr>
                      <a:r>
                        <a:rPr/>
                        <a:t>13</a:t>
                      </a:r>
                    </a:p>
                  </a:txBody>
                </a:tc>
                <a:tc>
                  <a:txBody>
                    <a:bodyPr/>
                    <a:lstStyle/>
                    <a:p>
                      <a:pPr lvl="0" indent="0" marL="0" algn="l">
                        <a:buNone/>
                      </a:pPr>
                      <a:r>
                        <a:rPr/>
                        <a:t>isValid_M_perm_ID</a:t>
                      </a:r>
                    </a:p>
                  </a:txBody>
                </a:tc>
                <a:tc>
                  <a:txBody>
                    <a:bodyPr/>
                    <a:lstStyle/>
                    <a:p>
                      <a:pPr lvl="0" indent="0" marL="0" algn="r">
                        <a:buNone/>
                      </a:pPr>
                      <a:r>
                        <a:rPr/>
                        <a:t>78.70</a:t>
                      </a:r>
                    </a:p>
                  </a:txBody>
                </a:tc>
                <a:tc>
                  <a:txBody>
                    <a:bodyPr/>
                    <a:lstStyle/>
                    <a:p>
                      <a:pPr lvl="0" indent="0" marL="0" algn="r">
                        <a:buNone/>
                      </a:pPr>
                      <a:r>
                        <a:rPr/>
                        <a:t>0.20</a:t>
                      </a:r>
                    </a:p>
                  </a:txBody>
                </a:tc>
                <a:tc>
                  <a:txBody>
                    <a:bodyPr/>
                    <a:lstStyle/>
                    <a:p>
                      <a:pPr lvl="0" indent="0" marL="0" algn="r">
                        <a:buNone/>
                      </a:pPr>
                      <a:r>
                        <a:rPr/>
                        <a:t>66.32</a:t>
                      </a:r>
                    </a:p>
                  </a:txBody>
                </a:tc>
                <a:tc>
                  <a:txBody>
                    <a:bodyPr/>
                    <a:lstStyle/>
                    <a:p>
                      <a:pPr lvl="0" indent="0" marL="0" algn="r">
                        <a:buNone/>
                      </a:pPr>
                      <a:r>
                        <a:rPr/>
                        <a:t>80.10</a:t>
                      </a:r>
                    </a:p>
                  </a:txBody>
                </a:tc>
                <a:tc>
                  <a:txBody>
                    <a:bodyPr/>
                    <a:lstStyle/>
                    <a:p>
                      <a:pPr lvl="0" indent="0" marL="0" algn="r">
                        <a:buNone/>
                      </a:pPr>
                      <a:r>
                        <a:rPr/>
                        <a:t>82.53</a:t>
                      </a:r>
                    </a:p>
                  </a:txBody>
                </a:tc>
                <a:tc>
                  <a:txBody>
                    <a:bodyPr/>
                    <a:lstStyle/>
                    <a:p>
                      <a:pPr lvl="0" indent="0" marL="0" algn="r">
                        <a:buNone/>
                      </a:pPr>
                      <a:r>
                        <a:rPr/>
                        <a:t>62.65</a:t>
                      </a:r>
                    </a:p>
                  </a:txBody>
                </a:tc>
                <a:tc>
                  <a:txBody>
                    <a:bodyPr/>
                    <a:lstStyle/>
                    <a:p>
                      <a:pPr lvl="0" indent="0" marL="0" algn="r">
                        <a:buNone/>
                      </a:pPr>
                      <a:r>
                        <a:rPr/>
                        <a:t>74.61</a:t>
                      </a:r>
                    </a:p>
                  </a:txBody>
                </a:tc>
                <a:tc>
                  <a:txBody>
                    <a:bodyPr/>
                    <a:lstStyle/>
                    <a:p>
                      <a:pPr lvl="0" indent="0" marL="0" algn="r">
                        <a:buNone/>
                      </a:pPr>
                      <a:r>
                        <a:rPr/>
                        <a:t>82.78</a:t>
                      </a:r>
                    </a:p>
                  </a:txBody>
                </a:tc>
              </a:tr>
              <a:tr h="0">
                <a:tc>
                  <a:txBody>
                    <a:bodyPr/>
                    <a:lstStyle/>
                    <a:p>
                      <a:pPr lvl="0" indent="0" marL="0" algn="l">
                        <a:buNone/>
                      </a:pPr>
                      <a:r>
                        <a:rPr/>
                        <a:t>14</a:t>
                      </a:r>
                    </a:p>
                  </a:txBody>
                </a:tc>
                <a:tc>
                  <a:txBody>
                    <a:bodyPr/>
                    <a:lstStyle/>
                    <a:p>
                      <a:pPr lvl="0" indent="0" marL="0" algn="l">
                        <a:buNone/>
                      </a:pPr>
                      <a:r>
                        <a:rPr/>
                        <a:t>isValid_Med_perm_ID</a:t>
                      </a:r>
                    </a:p>
                  </a:txBody>
                </a:tc>
                <a:tc>
                  <a:txBody>
                    <a:bodyPr/>
                    <a:lstStyle/>
                    <a:p>
                      <a:pPr lvl="0" indent="0" marL="0" algn="r">
                        <a:buNone/>
                      </a:pPr>
                      <a:r>
                        <a:rPr/>
                        <a:t>77.09</a:t>
                      </a:r>
                    </a:p>
                  </a:txBody>
                </a:tc>
                <a:tc>
                  <a:txBody>
                    <a:bodyPr/>
                    <a:lstStyle/>
                    <a:p>
                      <a:pPr lvl="0" indent="0" marL="0" algn="r">
                        <a:buNone/>
                      </a:pPr>
                      <a:r>
                        <a:rPr/>
                        <a:t>0.31</a:t>
                      </a:r>
                    </a:p>
                  </a:txBody>
                </a:tc>
                <a:tc>
                  <a:txBody>
                    <a:bodyPr/>
                    <a:lstStyle/>
                    <a:p>
                      <a:pPr lvl="0" indent="0" marL="0" algn="r">
                        <a:buNone/>
                      </a:pPr>
                      <a:r>
                        <a:rPr/>
                        <a:t>56.14</a:t>
                      </a:r>
                    </a:p>
                  </a:txBody>
                </a:tc>
                <a:tc>
                  <a:txBody>
                    <a:bodyPr/>
                    <a:lstStyle/>
                    <a:p>
                      <a:pPr lvl="0" indent="0" marL="0" algn="r">
                        <a:buNone/>
                      </a:pPr>
                      <a:r>
                        <a:rPr/>
                        <a:t>86.07</a:t>
                      </a:r>
                    </a:p>
                  </a:txBody>
                </a:tc>
                <a:tc>
                  <a:txBody>
                    <a:bodyPr/>
                    <a:lstStyle/>
                    <a:p>
                      <a:pPr lvl="0" indent="0" marL="0" algn="r">
                        <a:buNone/>
                      </a:pPr>
                      <a:r>
                        <a:rPr/>
                        <a:t>85.11</a:t>
                      </a:r>
                    </a:p>
                  </a:txBody>
                </a:tc>
                <a:tc>
                  <a:txBody>
                    <a:bodyPr/>
                    <a:lstStyle/>
                    <a:p>
                      <a:pPr lvl="0" indent="0" marL="0" algn="r">
                        <a:buNone/>
                      </a:pPr>
                      <a:r>
                        <a:rPr/>
                        <a:t>58.05</a:t>
                      </a:r>
                    </a:p>
                  </a:txBody>
                </a:tc>
                <a:tc>
                  <a:txBody>
                    <a:bodyPr/>
                    <a:lstStyle/>
                    <a:p>
                      <a:pPr lvl="0" indent="0" marL="0" algn="r">
                        <a:buNone/>
                      </a:pPr>
                      <a:r>
                        <a:rPr/>
                        <a:t>72.98</a:t>
                      </a:r>
                    </a:p>
                  </a:txBody>
                </a:tc>
                <a:tc>
                  <a:txBody>
                    <a:bodyPr/>
                    <a:lstStyle/>
                    <a:p>
                      <a:pPr lvl="0" indent="0" marL="0" algn="r">
                        <a:buNone/>
                      </a:pPr>
                      <a:r>
                        <a:rPr/>
                        <a:t>81.20</a:t>
                      </a:r>
                    </a:p>
                  </a:txBody>
                </a:tc>
              </a:tr>
              <a:tr h="0">
                <a:tc>
                  <a:txBody>
                    <a:bodyPr/>
                    <a:lstStyle/>
                    <a:p>
                      <a:pPr lvl="0" indent="0" marL="0" algn="l">
                        <a:buNone/>
                      </a:pPr>
                      <a:r>
                        <a:rPr/>
                        <a:t>3</a:t>
                      </a:r>
                    </a:p>
                  </a:txBody>
                </a:tc>
                <a:tc>
                  <a:txBody>
                    <a:bodyPr/>
                    <a:lstStyle/>
                    <a:p>
                      <a:pPr lvl="0" indent="0" marL="0" algn="l">
                        <a:buNone/>
                      </a:pPr>
                      <a:r>
                        <a:rPr/>
                        <a:t>Consistency_zs</a:t>
                      </a:r>
                    </a:p>
                  </a:txBody>
                </a:tc>
                <a:tc>
                  <a:txBody>
                    <a:bodyPr/>
                    <a:lstStyle/>
                    <a:p>
                      <a:pPr lvl="0" indent="0" marL="0" algn="r">
                        <a:buNone/>
                      </a:pPr>
                      <a:r>
                        <a:rPr/>
                        <a:t>76.08</a:t>
                      </a:r>
                    </a:p>
                  </a:txBody>
                </a:tc>
                <a:tc>
                  <a:txBody>
                    <a:bodyPr/>
                    <a:lstStyle/>
                    <a:p>
                      <a:pPr lvl="0" indent="0" marL="0" algn="r">
                        <a:buNone/>
                      </a:pPr>
                      <a:r>
                        <a:rPr/>
                        <a:t>2.22</a:t>
                      </a:r>
                    </a:p>
                  </a:txBody>
                </a:tc>
                <a:tc>
                  <a:txBody>
                    <a:bodyPr/>
                    <a:lstStyle/>
                    <a:p>
                      <a:pPr lvl="0" indent="0" marL="0" algn="r">
                        <a:buNone/>
                      </a:pPr>
                      <a:r>
                        <a:rPr/>
                        <a:t>76.84</a:t>
                      </a:r>
                    </a:p>
                  </a:txBody>
                </a:tc>
                <a:tc>
                  <a:txBody>
                    <a:bodyPr/>
                    <a:lstStyle/>
                    <a:p>
                      <a:pPr lvl="0" indent="0" marL="0" algn="r">
                        <a:buNone/>
                      </a:pPr>
                      <a:r>
                        <a:rPr/>
                        <a:t>70.65</a:t>
                      </a:r>
                    </a:p>
                  </a:txBody>
                </a:tc>
                <a:tc>
                  <a:txBody>
                    <a:bodyPr/>
                    <a:lstStyle/>
                    <a:p>
                      <a:pPr lvl="0" indent="0" marL="0" algn="r">
                        <a:buNone/>
                      </a:pPr>
                      <a:r>
                        <a:rPr/>
                        <a:t>78.78</a:t>
                      </a:r>
                    </a:p>
                  </a:txBody>
                </a:tc>
                <a:tc>
                  <a:txBody>
                    <a:bodyPr/>
                    <a:lstStyle/>
                    <a:p>
                      <a:pPr lvl="0" indent="0" marL="0" algn="r">
                        <a:buNone/>
                      </a:pPr>
                      <a:r>
                        <a:rPr/>
                        <a:t>68.27</a:t>
                      </a:r>
                    </a:p>
                  </a:txBody>
                </a:tc>
                <a:tc>
                  <a:txBody>
                    <a:bodyPr/>
                    <a:lstStyle/>
                    <a:p>
                      <a:pPr lvl="0" indent="0" marL="0" algn="r">
                        <a:buNone/>
                      </a:pPr>
                      <a:r>
                        <a:rPr/>
                        <a:t>71.49</a:t>
                      </a:r>
                    </a:p>
                  </a:txBody>
                </a:tc>
                <a:tc>
                  <a:txBody>
                    <a:bodyPr/>
                    <a:lstStyle/>
                    <a:p>
                      <a:pPr lvl="0" indent="0" marL="0" algn="r">
                        <a:buNone/>
                      </a:pPr>
                      <a:r>
                        <a:rPr/>
                        <a:t>80.67</a:t>
                      </a:r>
                    </a:p>
                  </a:txBody>
                </a:tc>
              </a:tr>
              <a:tr h="0">
                <a:tc>
                  <a:txBody>
                    <a:bodyPr/>
                    <a:lstStyle/>
                    <a:p>
                      <a:pPr lvl="0" indent="0" marL="0" algn="l">
                        <a:buNone/>
                      </a:pPr>
                      <a:r>
                        <a:rPr/>
                        <a:t>8</a:t>
                      </a:r>
                    </a:p>
                  </a:txBody>
                </a:tc>
                <a:tc>
                  <a:txBody>
                    <a:bodyPr/>
                    <a:lstStyle/>
                    <a:p>
                      <a:pPr lvl="0" indent="0" marL="0" algn="l">
                        <a:buNone/>
                      </a:pPr>
                      <a:r>
                        <a:rPr/>
                        <a:t>GA_isSimple</a:t>
                      </a:r>
                    </a:p>
                  </a:txBody>
                </a:tc>
                <a:tc>
                  <a:txBody>
                    <a:bodyPr/>
                    <a:lstStyle/>
                    <a:p>
                      <a:pPr lvl="0" indent="0" marL="0" algn="r">
                        <a:buNone/>
                      </a:pPr>
                      <a:r>
                        <a:rPr/>
                        <a:t>75.92</a:t>
                      </a:r>
                    </a:p>
                  </a:txBody>
                </a:tc>
                <a:tc>
                  <a:txBody>
                    <a:bodyPr/>
                    <a:lstStyle/>
                    <a:p>
                      <a:pPr lvl="0" indent="0" marL="0" algn="r">
                        <a:buNone/>
                      </a:pPr>
                      <a:r>
                        <a:rPr/>
                        <a:t>0.28</a:t>
                      </a:r>
                    </a:p>
                  </a:txBody>
                </a:tc>
                <a:tc>
                  <a:txBody>
                    <a:bodyPr/>
                    <a:lstStyle/>
                    <a:p>
                      <a:pPr lvl="0" indent="0" marL="0" algn="r">
                        <a:buNone/>
                      </a:pPr>
                      <a:r>
                        <a:rPr/>
                        <a:t>60.70</a:t>
                      </a:r>
                    </a:p>
                  </a:txBody>
                </a:tc>
                <a:tc>
                  <a:txBody>
                    <a:bodyPr/>
                    <a:lstStyle/>
                    <a:p>
                      <a:pPr lvl="0" indent="0" marL="0" algn="r">
                        <a:buNone/>
                      </a:pPr>
                      <a:r>
                        <a:rPr/>
                        <a:t>80.60</a:t>
                      </a:r>
                    </a:p>
                  </a:txBody>
                </a:tc>
                <a:tc>
                  <a:txBody>
                    <a:bodyPr/>
                    <a:lstStyle/>
                    <a:p>
                      <a:pPr lvl="0" indent="0" marL="0" algn="r">
                        <a:buNone/>
                      </a:pPr>
                      <a:r>
                        <a:rPr/>
                        <a:t>81.60</a:t>
                      </a:r>
                    </a:p>
                  </a:txBody>
                </a:tc>
                <a:tc>
                  <a:txBody>
                    <a:bodyPr/>
                    <a:lstStyle/>
                    <a:p>
                      <a:pPr lvl="0" indent="0" marL="0" algn="r">
                        <a:buNone/>
                      </a:pPr>
                      <a:r>
                        <a:rPr/>
                        <a:t>59.12</a:t>
                      </a:r>
                    </a:p>
                  </a:txBody>
                </a:tc>
                <a:tc>
                  <a:txBody>
                    <a:bodyPr/>
                    <a:lstStyle/>
                    <a:p>
                      <a:pPr lvl="0" indent="0" marL="0" algn="r">
                        <a:buNone/>
                      </a:pPr>
                      <a:r>
                        <a:rPr/>
                        <a:t>71.70</a:t>
                      </a:r>
                    </a:p>
                  </a:txBody>
                </a:tc>
                <a:tc>
                  <a:txBody>
                    <a:bodyPr/>
                    <a:lstStyle/>
                    <a:p>
                      <a:pPr lvl="0" indent="0" marL="0" algn="r">
                        <a:buNone/>
                      </a:pPr>
                      <a:r>
                        <a:rPr/>
                        <a:t>80.13</a:t>
                      </a:r>
                    </a:p>
                  </a:txBody>
                </a:tc>
              </a:tr>
              <a:tr h="0">
                <a:tc>
                  <a:txBody>
                    <a:bodyPr/>
                    <a:lstStyle/>
                    <a:p>
                      <a:pPr lvl="0" indent="0" marL="0" algn="l">
                        <a:buNone/>
                      </a:pPr>
                      <a:r>
                        <a:rPr/>
                        <a:t>9</a:t>
                      </a:r>
                    </a:p>
                  </a:txBody>
                </a:tc>
                <a:tc>
                  <a:txBody>
                    <a:bodyPr/>
                    <a:lstStyle/>
                    <a:p>
                      <a:pPr lvl="0" indent="0" marL="0" algn="l">
                        <a:buNone/>
                      </a:pPr>
                      <a:r>
                        <a:rPr/>
                        <a:t>Sum_isValidStruct</a:t>
                      </a:r>
                    </a:p>
                  </a:txBody>
                </a:tc>
                <a:tc>
                  <a:txBody>
                    <a:bodyPr/>
                    <a:lstStyle/>
                    <a:p>
                      <a:pPr lvl="0" indent="0" marL="0" algn="r">
                        <a:buNone/>
                      </a:pPr>
                      <a:r>
                        <a:rPr/>
                        <a:t>75.38</a:t>
                      </a:r>
                    </a:p>
                  </a:txBody>
                </a:tc>
                <a:tc>
                  <a:txBody>
                    <a:bodyPr/>
                    <a:lstStyle/>
                    <a:p>
                      <a:pPr lvl="0" indent="0" marL="0" algn="r">
                        <a:buNone/>
                      </a:pPr>
                      <a:r>
                        <a:rPr/>
                        <a:t>1.50</a:t>
                      </a:r>
                    </a:p>
                  </a:txBody>
                </a:tc>
                <a:tc>
                  <a:txBody>
                    <a:bodyPr/>
                    <a:lstStyle/>
                    <a:p>
                      <a:pPr lvl="0" indent="0" marL="0" algn="r">
                        <a:buNone/>
                      </a:pPr>
                      <a:r>
                        <a:rPr/>
                        <a:t>73.33</a:t>
                      </a:r>
                    </a:p>
                  </a:txBody>
                </a:tc>
                <a:tc>
                  <a:txBody>
                    <a:bodyPr/>
                    <a:lstStyle/>
                    <a:p>
                      <a:pPr lvl="0" indent="0" marL="0" algn="r">
                        <a:buNone/>
                      </a:pPr>
                      <a:r>
                        <a:rPr/>
                        <a:t>67.16</a:t>
                      </a:r>
                    </a:p>
                  </a:txBody>
                </a:tc>
                <a:tc>
                  <a:txBody>
                    <a:bodyPr/>
                    <a:lstStyle/>
                    <a:p>
                      <a:pPr lvl="0" indent="0" marL="0" algn="r">
                        <a:buNone/>
                      </a:pPr>
                      <a:r>
                        <a:rPr/>
                        <a:t>76.00</a:t>
                      </a:r>
                    </a:p>
                  </a:txBody>
                </a:tc>
                <a:tc>
                  <a:txBody>
                    <a:bodyPr/>
                    <a:lstStyle/>
                    <a:p>
                      <a:pPr lvl="0" indent="0" marL="0" algn="r">
                        <a:buNone/>
                      </a:pPr>
                      <a:r>
                        <a:rPr/>
                        <a:t>63.98</a:t>
                      </a:r>
                    </a:p>
                  </a:txBody>
                </a:tc>
                <a:tc>
                  <a:txBody>
                    <a:bodyPr/>
                    <a:lstStyle/>
                    <a:p>
                      <a:pPr lvl="0" indent="0" marL="0" algn="r">
                        <a:buNone/>
                      </a:pPr>
                      <a:r>
                        <a:rPr/>
                        <a:t>71.13</a:t>
                      </a:r>
                    </a:p>
                  </a:txBody>
                </a:tc>
                <a:tc>
                  <a:txBody>
                    <a:bodyPr/>
                    <a:lstStyle/>
                    <a:p>
                      <a:pPr lvl="0" indent="0" marL="0" algn="r">
                        <a:buNone/>
                      </a:pPr>
                      <a:r>
                        <a:rPr/>
                        <a:t>79.64</a:t>
                      </a:r>
                    </a:p>
                  </a:txBody>
                </a:tc>
              </a:tr>
              <a:tr h="0">
                <a:tc>
                  <a:txBody>
                    <a:bodyPr/>
                    <a:lstStyle/>
                    <a:p>
                      <a:pPr lvl="0" indent="0" marL="0" algn="l">
                        <a:buNone/>
                      </a:pPr>
                      <a:r>
                        <a:rPr/>
                        <a:t>10</a:t>
                      </a:r>
                    </a:p>
                  </a:txBody>
                </a:tc>
                <a:tc>
                  <a:txBody>
                    <a:bodyPr/>
                    <a:lstStyle/>
                    <a:p>
                      <a:pPr lvl="0" indent="0" marL="0" algn="l">
                        <a:buNone/>
                      </a:pPr>
                      <a:r>
                        <a:rPr/>
                        <a:t>GA_isValidStruct</a:t>
                      </a:r>
                    </a:p>
                  </a:txBody>
                </a:tc>
                <a:tc>
                  <a:txBody>
                    <a:bodyPr/>
                    <a:lstStyle/>
                    <a:p>
                      <a:pPr lvl="0" indent="0" marL="0" algn="r">
                        <a:buNone/>
                      </a:pPr>
                      <a:r>
                        <a:rPr/>
                        <a:t>75.38</a:t>
                      </a:r>
                    </a:p>
                  </a:txBody>
                </a:tc>
                <a:tc>
                  <a:txBody>
                    <a:bodyPr/>
                    <a:lstStyle/>
                    <a:p>
                      <a:pPr lvl="0" indent="0" marL="0" algn="r">
                        <a:buNone/>
                      </a:pPr>
                      <a:r>
                        <a:rPr/>
                        <a:t>0.17</a:t>
                      </a:r>
                    </a:p>
                  </a:txBody>
                </a:tc>
                <a:tc>
                  <a:txBody>
                    <a:bodyPr/>
                    <a:lstStyle/>
                    <a:p>
                      <a:pPr lvl="0" indent="0" marL="0" algn="r">
                        <a:buNone/>
                      </a:pPr>
                      <a:r>
                        <a:rPr/>
                        <a:t>73.33</a:t>
                      </a:r>
                    </a:p>
                  </a:txBody>
                </a:tc>
                <a:tc>
                  <a:txBody>
                    <a:bodyPr/>
                    <a:lstStyle/>
                    <a:p>
                      <a:pPr lvl="0" indent="0" marL="0" algn="r">
                        <a:buNone/>
                      </a:pPr>
                      <a:r>
                        <a:rPr/>
                        <a:t>67.16</a:t>
                      </a:r>
                    </a:p>
                  </a:txBody>
                </a:tc>
                <a:tc>
                  <a:txBody>
                    <a:bodyPr/>
                    <a:lstStyle/>
                    <a:p>
                      <a:pPr lvl="0" indent="0" marL="0" algn="r">
                        <a:buNone/>
                      </a:pPr>
                      <a:r>
                        <a:rPr/>
                        <a:t>76.00</a:t>
                      </a:r>
                    </a:p>
                  </a:txBody>
                </a:tc>
                <a:tc>
                  <a:txBody>
                    <a:bodyPr/>
                    <a:lstStyle/>
                    <a:p>
                      <a:pPr lvl="0" indent="0" marL="0" algn="r">
                        <a:buNone/>
                      </a:pPr>
                      <a:r>
                        <a:rPr/>
                        <a:t>63.98</a:t>
                      </a:r>
                    </a:p>
                  </a:txBody>
                </a:tc>
                <a:tc>
                  <a:txBody>
                    <a:bodyPr/>
                    <a:lstStyle/>
                    <a:p>
                      <a:pPr lvl="0" indent="0" marL="0" algn="r">
                        <a:buNone/>
                      </a:pPr>
                      <a:r>
                        <a:rPr/>
                        <a:t>71.13</a:t>
                      </a:r>
                    </a:p>
                  </a:txBody>
                </a:tc>
                <a:tc>
                  <a:txBody>
                    <a:bodyPr/>
                    <a:lstStyle/>
                    <a:p>
                      <a:pPr lvl="0" indent="0" marL="0" algn="r">
                        <a:buNone/>
                      </a:pPr>
                      <a:r>
                        <a:rPr/>
                        <a:t>79.64</a:t>
                      </a:r>
                    </a:p>
                  </a:txBody>
                </a:tc>
              </a:tr>
              <a:tr h="0">
                <a:tc>
                  <a:txBody>
                    <a:bodyPr/>
                    <a:lstStyle/>
                    <a:p>
                      <a:pPr lvl="0" indent="0" marL="0" algn="l">
                        <a:buNone/>
                      </a:pPr>
                      <a:r>
                        <a:rPr/>
                        <a:t>5</a:t>
                      </a:r>
                    </a:p>
                  </a:txBody>
                </a:tc>
                <a:tc>
                  <a:txBody>
                    <a:bodyPr/>
                    <a:lstStyle/>
                    <a:p>
                      <a:pPr lvl="0" indent="0" marL="0" algn="l">
                        <a:buNone/>
                      </a:pPr>
                      <a:r>
                        <a:rPr/>
                        <a:t>GA_segm_leng</a:t>
                      </a:r>
                    </a:p>
                  </a:txBody>
                </a:tc>
                <a:tc>
                  <a:txBody>
                    <a:bodyPr/>
                    <a:lstStyle/>
                    <a:p>
                      <a:pPr lvl="0" indent="0" marL="0" algn="r">
                        <a:buNone/>
                      </a:pPr>
                      <a:r>
                        <a:rPr/>
                        <a:t>71.20</a:t>
                      </a:r>
                    </a:p>
                  </a:txBody>
                </a:tc>
                <a:tc>
                  <a:txBody>
                    <a:bodyPr/>
                    <a:lstStyle/>
                    <a:p>
                      <a:pPr lvl="0" indent="0" marL="0" algn="r">
                        <a:buNone/>
                      </a:pPr>
                      <a:r>
                        <a:rPr/>
                        <a:t>7.86</a:t>
                      </a:r>
                    </a:p>
                  </a:txBody>
                </a:tc>
                <a:tc>
                  <a:txBody>
                    <a:bodyPr/>
                    <a:lstStyle/>
                    <a:p>
                      <a:pPr lvl="0" indent="0" marL="0" algn="r">
                        <a:buNone/>
                      </a:pPr>
                      <a:r>
                        <a:rPr/>
                        <a:t>83.51</a:t>
                      </a:r>
                    </a:p>
                  </a:txBody>
                </a:tc>
                <a:tc>
                  <a:txBody>
                    <a:bodyPr/>
                    <a:lstStyle/>
                    <a:p>
                      <a:pPr lvl="0" indent="0" marL="0" algn="r">
                        <a:buNone/>
                      </a:pPr>
                      <a:r>
                        <a:rPr/>
                        <a:t>62.69</a:t>
                      </a:r>
                    </a:p>
                  </a:txBody>
                </a:tc>
                <a:tc>
                  <a:txBody>
                    <a:bodyPr/>
                    <a:lstStyle/>
                    <a:p>
                      <a:pPr lvl="0" indent="0" marL="0" algn="r">
                        <a:buNone/>
                      </a:pPr>
                      <a:r>
                        <a:rPr/>
                        <a:t>76.04</a:t>
                      </a:r>
                    </a:p>
                  </a:txBody>
                </a:tc>
                <a:tc>
                  <a:txBody>
                    <a:bodyPr/>
                    <a:lstStyle/>
                    <a:p>
                      <a:pPr lvl="0" indent="0" marL="0" algn="r">
                        <a:buNone/>
                      </a:pPr>
                      <a:r>
                        <a:rPr/>
                        <a:t>72.83</a:t>
                      </a:r>
                    </a:p>
                  </a:txBody>
                </a:tc>
                <a:tc>
                  <a:txBody>
                    <a:bodyPr/>
                    <a:lstStyle/>
                    <a:p>
                      <a:pPr lvl="0" indent="0" marL="0" algn="r">
                        <a:buNone/>
                      </a:pPr>
                      <a:r>
                        <a:rPr/>
                        <a:t>66.15</a:t>
                      </a:r>
                    </a:p>
                  </a:txBody>
                </a:tc>
                <a:tc>
                  <a:txBody>
                    <a:bodyPr/>
                    <a:lstStyle/>
                    <a:p>
                      <a:pPr lvl="0" indent="0" marL="0" algn="r">
                        <a:buNone/>
                      </a:pPr>
                      <a:r>
                        <a:rPr/>
                        <a:t>76.25</a:t>
                      </a:r>
                    </a:p>
                  </a:txBody>
                </a:tc>
              </a:tr>
              <a:tr h="0">
                <a:tc>
                  <a:txBody>
                    <a:bodyPr/>
                    <a:lstStyle/>
                    <a:p>
                      <a:pPr lvl="0" indent="0" marL="0" algn="l">
                        <a:buNone/>
                      </a:pPr>
                      <a:r>
                        <a:rPr/>
                        <a:t>4</a:t>
                      </a:r>
                    </a:p>
                  </a:txBody>
                </a:tc>
                <a:tc>
                  <a:txBody>
                    <a:bodyPr/>
                    <a:lstStyle/>
                    <a:p>
                      <a:pPr lvl="0" indent="0" marL="0" algn="l">
                        <a:buNone/>
                      </a:pPr>
                      <a:r>
                        <a:rPr/>
                        <a:t>SelfInter_persegm</a:t>
                      </a:r>
                    </a:p>
                  </a:txBody>
                </a:tc>
                <a:tc>
                  <a:txBody>
                    <a:bodyPr/>
                    <a:lstStyle/>
                    <a:p>
                      <a:pPr lvl="0" indent="0" marL="0" algn="r">
                        <a:buNone/>
                      </a:pPr>
                      <a:r>
                        <a:rPr/>
                        <a:t>67.85</a:t>
                      </a:r>
                    </a:p>
                  </a:txBody>
                </a:tc>
                <a:tc>
                  <a:txBody>
                    <a:bodyPr/>
                    <a:lstStyle/>
                    <a:p>
                      <a:pPr lvl="0" indent="0" marL="0" algn="r">
                        <a:buNone/>
                      </a:pPr>
                      <a:r>
                        <a:rPr/>
                        <a:t>1.17</a:t>
                      </a:r>
                    </a:p>
                  </a:txBody>
                </a:tc>
                <a:tc>
                  <a:txBody>
                    <a:bodyPr/>
                    <a:lstStyle/>
                    <a:p>
                      <a:pPr lvl="0" indent="0" marL="0" algn="r">
                        <a:buNone/>
                      </a:pPr>
                      <a:r>
                        <a:rPr/>
                        <a:t>82.11</a:t>
                      </a:r>
                    </a:p>
                  </a:txBody>
                </a:tc>
                <a:tc>
                  <a:txBody>
                    <a:bodyPr/>
                    <a:lstStyle/>
                    <a:p>
                      <a:pPr lvl="0" indent="0" marL="0" algn="r">
                        <a:buNone/>
                      </a:pPr>
                      <a:r>
                        <a:rPr/>
                        <a:t>49.25</a:t>
                      </a:r>
                    </a:p>
                  </a:txBody>
                </a:tc>
                <a:tc>
                  <a:txBody>
                    <a:bodyPr/>
                    <a:lstStyle/>
                    <a:p>
                      <a:pPr lvl="0" indent="0" marL="0" algn="r">
                        <a:buNone/>
                      </a:pPr>
                      <a:r>
                        <a:rPr/>
                        <a:t>69.64</a:t>
                      </a:r>
                    </a:p>
                  </a:txBody>
                </a:tc>
                <a:tc>
                  <a:txBody>
                    <a:bodyPr/>
                    <a:lstStyle/>
                    <a:p>
                      <a:pPr lvl="0" indent="0" marL="0" algn="r">
                        <a:buNone/>
                      </a:pPr>
                      <a:r>
                        <a:rPr/>
                        <a:t>66.00</a:t>
                      </a:r>
                    </a:p>
                  </a:txBody>
                </a:tc>
                <a:tc>
                  <a:txBody>
                    <a:bodyPr/>
                    <a:lstStyle/>
                    <a:p>
                      <a:pPr lvl="0" indent="0" marL="0" algn="r">
                        <a:buNone/>
                      </a:pPr>
                      <a:r>
                        <a:rPr/>
                        <a:t>62.89</a:t>
                      </a:r>
                    </a:p>
                  </a:txBody>
                </a:tc>
                <a:tc>
                  <a:txBody>
                    <a:bodyPr/>
                    <a:lstStyle/>
                    <a:p>
                      <a:pPr lvl="0" indent="0" marL="0" algn="r">
                        <a:buNone/>
                      </a:pPr>
                      <a:r>
                        <a:rPr/>
                        <a:t>72.80</a:t>
                      </a:r>
                    </a:p>
                  </a:txBody>
                </a:tc>
              </a:tr>
              <a:tr h="0">
                <a:tc>
                  <a:txBody>
                    <a:bodyPr/>
                    <a:lstStyle/>
                    <a:p>
                      <a:pPr lvl="0" indent="0" marL="0" algn="l">
                        <a:buNone/>
                      </a:pPr>
                      <a:r>
                        <a:rPr/>
                        <a:t>7</a:t>
                      </a:r>
                    </a:p>
                  </a:txBody>
                </a:tc>
                <a:tc>
                  <a:txBody>
                    <a:bodyPr/>
                    <a:lstStyle/>
                    <a:p>
                      <a:pPr lvl="0" indent="0" marL="0" algn="l">
                        <a:buNone/>
                      </a:pPr>
                      <a:r>
                        <a:rPr/>
                        <a:t>GA_areaPoly</a:t>
                      </a:r>
                    </a:p>
                  </a:txBody>
                </a:tc>
                <a:tc>
                  <a:txBody>
                    <a:bodyPr/>
                    <a:lstStyle/>
                    <a:p>
                      <a:pPr lvl="0" indent="0" marL="0" algn="r">
                        <a:buNone/>
                      </a:pPr>
                      <a:r>
                        <a:rPr/>
                        <a:t>64.78</a:t>
                      </a:r>
                    </a:p>
                  </a:txBody>
                </a:tc>
                <a:tc>
                  <a:txBody>
                    <a:bodyPr/>
                    <a:lstStyle/>
                    <a:p>
                      <a:pPr lvl="0" indent="0" marL="0" algn="r">
                        <a:buNone/>
                      </a:pPr>
                      <a:r>
                        <a:rPr/>
                        <a:t>1.92</a:t>
                      </a:r>
                    </a:p>
                  </a:txBody>
                </a:tc>
                <a:tc>
                  <a:txBody>
                    <a:bodyPr/>
                    <a:lstStyle/>
                    <a:p>
                      <a:pPr lvl="0" indent="0" marL="0" algn="r">
                        <a:buNone/>
                      </a:pPr>
                      <a:r>
                        <a:rPr/>
                        <a:t>41.05</a:t>
                      </a:r>
                    </a:p>
                  </a:txBody>
                </a:tc>
                <a:tc>
                  <a:txBody>
                    <a:bodyPr/>
                    <a:lstStyle/>
                    <a:p>
                      <a:pPr lvl="0" indent="0" marL="0" algn="r">
                        <a:buNone/>
                      </a:pPr>
                      <a:r>
                        <a:rPr/>
                        <a:t>83.08</a:t>
                      </a:r>
                    </a:p>
                  </a:txBody>
                </a:tc>
                <a:tc>
                  <a:txBody>
                    <a:bodyPr/>
                    <a:lstStyle/>
                    <a:p>
                      <a:pPr lvl="0" indent="0" marL="0" algn="r">
                        <a:buNone/>
                      </a:pPr>
                      <a:r>
                        <a:rPr/>
                        <a:t>77.48</a:t>
                      </a:r>
                    </a:p>
                  </a:txBody>
                </a:tc>
                <a:tc>
                  <a:txBody>
                    <a:bodyPr/>
                    <a:lstStyle/>
                    <a:p>
                      <a:pPr lvl="0" indent="0" marL="0" algn="r">
                        <a:buNone/>
                      </a:pPr>
                      <a:r>
                        <a:rPr/>
                        <a:t>49.85</a:t>
                      </a:r>
                    </a:p>
                  </a:txBody>
                </a:tc>
                <a:tc>
                  <a:txBody>
                    <a:bodyPr/>
                    <a:lstStyle/>
                    <a:p>
                      <a:pPr lvl="0" indent="0" marL="0" algn="r">
                        <a:buNone/>
                      </a:pPr>
                      <a:r>
                        <a:rPr/>
                        <a:t>59.90</a:t>
                      </a:r>
                    </a:p>
                  </a:txBody>
                </a:tc>
                <a:tc>
                  <a:txBody>
                    <a:bodyPr/>
                    <a:lstStyle/>
                    <a:p>
                      <a:pPr lvl="0" indent="0" marL="0" algn="r">
                        <a:buNone/>
                      </a:pPr>
                      <a:r>
                        <a:rPr/>
                        <a:t>69.66</a:t>
                      </a:r>
                    </a:p>
                  </a:txBody>
                </a:tc>
              </a:tr>
              <a:tr h="0">
                <a:tc>
                  <a:txBody>
                    <a:bodyPr/>
                    <a:lstStyle/>
                    <a:p>
                      <a:pPr lvl="0" indent="0" marL="0" algn="l">
                        <a:buNone/>
                      </a:pPr>
                      <a:r>
                        <a:rPr/>
                        <a:t>1</a:t>
                      </a:r>
                    </a:p>
                  </a:txBody>
                </a:tc>
                <a:tc>
                  <a:txBody>
                    <a:bodyPr/>
                    <a:lstStyle/>
                    <a:p>
                      <a:pPr lvl="0" indent="0" marL="0" algn="l">
                        <a:buNone/>
                      </a:pPr>
                      <a:r>
                        <a:rPr/>
                        <a:t>SD_ID_ysc</a:t>
                      </a:r>
                    </a:p>
                  </a:txBody>
                </a:tc>
                <a:tc>
                  <a:txBody>
                    <a:bodyPr/>
                    <a:lstStyle/>
                    <a:p>
                      <a:pPr lvl="0" indent="0" marL="0" algn="r">
                        <a:buNone/>
                      </a:pPr>
                      <a:r>
                        <a:rPr/>
                        <a:t>61.49</a:t>
                      </a:r>
                    </a:p>
                  </a:txBody>
                </a:tc>
                <a:tc>
                  <a:txBody>
                    <a:bodyPr/>
                    <a:lstStyle/>
                    <a:p>
                      <a:pPr lvl="0" indent="0" marL="0" algn="r">
                        <a:buNone/>
                      </a:pPr>
                      <a:r>
                        <a:rPr/>
                        <a:t>0.11</a:t>
                      </a:r>
                    </a:p>
                  </a:txBody>
                </a:tc>
                <a:tc>
                  <a:txBody>
                    <a:bodyPr/>
                    <a:lstStyle/>
                    <a:p>
                      <a:pPr lvl="0" indent="0" marL="0" algn="r">
                        <a:buNone/>
                      </a:pPr>
                      <a:r>
                        <a:rPr/>
                        <a:t>84.21</a:t>
                      </a:r>
                    </a:p>
                  </a:txBody>
                </a:tc>
                <a:tc>
                  <a:txBody>
                    <a:bodyPr/>
                    <a:lstStyle/>
                    <a:p>
                      <a:pPr lvl="0" indent="0" marL="0" algn="r">
                        <a:buNone/>
                      </a:pPr>
                      <a:r>
                        <a:rPr/>
                        <a:t>44.28</a:t>
                      </a:r>
                    </a:p>
                  </a:txBody>
                </a:tc>
                <a:tc>
                  <a:txBody>
                    <a:bodyPr/>
                    <a:lstStyle/>
                    <a:p>
                      <a:pPr lvl="0" indent="0" marL="0" algn="r">
                        <a:buNone/>
                      </a:pPr>
                      <a:r>
                        <a:rPr/>
                        <a:t>68.18</a:t>
                      </a:r>
                    </a:p>
                  </a:txBody>
                </a:tc>
                <a:tc>
                  <a:txBody>
                    <a:bodyPr/>
                    <a:lstStyle/>
                    <a:p>
                      <a:pPr lvl="0" indent="0" marL="0" algn="r">
                        <a:buNone/>
                      </a:pPr>
                      <a:r>
                        <a:rPr/>
                        <a:t>66.42</a:t>
                      </a:r>
                    </a:p>
                  </a:txBody>
                </a:tc>
                <a:tc>
                  <a:txBody>
                    <a:bodyPr/>
                    <a:lstStyle/>
                    <a:p>
                      <a:pPr lvl="0" indent="0" marL="0" algn="r">
                        <a:buNone/>
                      </a:pPr>
                      <a:r>
                        <a:rPr/>
                        <a:t>56.11</a:t>
                      </a:r>
                    </a:p>
                  </a:txBody>
                </a:tc>
                <a:tc>
                  <a:txBody>
                    <a:bodyPr/>
                    <a:lstStyle/>
                    <a:p>
                      <a:pPr lvl="0" indent="0" marL="0" algn="r">
                        <a:buNone/>
                      </a:pPr>
                      <a:r>
                        <a:rPr/>
                        <a:t>66.88</a:t>
                      </a:r>
                    </a:p>
                  </a:txBody>
                </a:tc>
              </a:tr>
              <a:tr h="0">
                <a:tc>
                  <a:txBody>
                    <a:bodyPr/>
                    <a:lstStyle/>
                    <a:p>
                      <a:pPr lvl="0" indent="0" marL="0" algn="l">
                        <a:buNone/>
                      </a:pPr>
                      <a:r>
                        <a:rPr/>
                        <a:t>2</a:t>
                      </a:r>
                    </a:p>
                  </a:txBody>
                </a:tc>
                <a:tc>
                  <a:txBody>
                    <a:bodyPr/>
                    <a:lstStyle/>
                    <a:p>
                      <a:pPr lvl="0" indent="0" marL="0" algn="l">
                        <a:buNone/>
                      </a:pPr>
                      <a:r>
                        <a:rPr/>
                        <a:t>triangle_area_GA</a:t>
                      </a:r>
                    </a:p>
                  </a:txBody>
                </a:tc>
                <a:tc>
                  <a:txBody>
                    <a:bodyPr/>
                    <a:lstStyle/>
                    <a:p>
                      <a:pPr lvl="0" indent="0" marL="0" algn="r">
                        <a:buNone/>
                      </a:pPr>
                      <a:r>
                        <a:rPr/>
                        <a:t>60.27</a:t>
                      </a:r>
                    </a:p>
                  </a:txBody>
                </a:tc>
                <a:tc>
                  <a:txBody>
                    <a:bodyPr/>
                    <a:lstStyle/>
                    <a:p>
                      <a:pPr lvl="0" indent="0" marL="0" algn="r">
                        <a:buNone/>
                      </a:pPr>
                      <a:r>
                        <a:rPr/>
                        <a:t>2124.47</a:t>
                      </a:r>
                    </a:p>
                  </a:txBody>
                </a:tc>
                <a:tc>
                  <a:txBody>
                    <a:bodyPr/>
                    <a:lstStyle/>
                    <a:p>
                      <a:pPr lvl="0" indent="0" marL="0" algn="r">
                        <a:buNone/>
                      </a:pPr>
                      <a:r>
                        <a:rPr/>
                        <a:t>72.28</a:t>
                      </a:r>
                    </a:p>
                  </a:txBody>
                </a:tc>
                <a:tc>
                  <a:txBody>
                    <a:bodyPr/>
                    <a:lstStyle/>
                    <a:p>
                      <a:pPr lvl="0" indent="0" marL="0" algn="r">
                        <a:buNone/>
                      </a:pPr>
                      <a:r>
                        <a:rPr/>
                        <a:t>53.23</a:t>
                      </a:r>
                    </a:p>
                  </a:txBody>
                </a:tc>
                <a:tc>
                  <a:txBody>
                    <a:bodyPr/>
                    <a:lstStyle/>
                    <a:p>
                      <a:pPr lvl="0" indent="0" marL="0" algn="r">
                        <a:buNone/>
                      </a:pPr>
                      <a:r>
                        <a:rPr/>
                        <a:t>68.67</a:t>
                      </a:r>
                    </a:p>
                  </a:txBody>
                </a:tc>
                <a:tc>
                  <a:txBody>
                    <a:bodyPr/>
                    <a:lstStyle/>
                    <a:p>
                      <a:pPr lvl="0" indent="0" marL="0" algn="r">
                        <a:buNone/>
                      </a:pPr>
                      <a:r>
                        <a:rPr/>
                        <a:t>57.53</a:t>
                      </a:r>
                    </a:p>
                  </a:txBody>
                </a:tc>
                <a:tc>
                  <a:txBody>
                    <a:bodyPr/>
                    <a:lstStyle/>
                    <a:p>
                      <a:pPr lvl="0" indent="0" marL="0" algn="r">
                        <a:buNone/>
                      </a:pPr>
                      <a:r>
                        <a:rPr/>
                        <a:t>54.88</a:t>
                      </a:r>
                    </a:p>
                  </a:txBody>
                </a:tc>
                <a:tc>
                  <a:txBody>
                    <a:bodyPr/>
                    <a:lstStyle/>
                    <a:p>
                      <a:pPr lvl="0" indent="0" marL="0" algn="r">
                        <a:buNone/>
                      </a:pPr>
                      <a:r>
                        <a:rPr/>
                        <a:t>65.65</a:t>
                      </a:r>
                    </a:p>
                  </a:txBody>
                </a:tc>
              </a:tr>
              <a:tr h="0">
                <a:tc>
                  <a:txBody>
                    <a:bodyPr/>
                    <a:lstStyle/>
                    <a:p>
                      <a:pPr lvl="0" indent="0" marL="0" algn="l">
                        <a:buNone/>
                      </a:pPr>
                      <a:r>
                        <a:rPr/>
                        <a:t>11</a:t>
                      </a:r>
                    </a:p>
                  </a:txBody>
                </a:tc>
                <a:tc>
                  <a:txBody>
                    <a:bodyPr/>
                    <a:lstStyle/>
                    <a:p>
                      <a:pPr lvl="0" indent="0" marL="0" algn="l">
                        <a:buNone/>
                      </a:pPr>
                      <a:r>
                        <a:rPr/>
                        <a:t>Sum_isClockwise</a:t>
                      </a:r>
                    </a:p>
                  </a:txBody>
                </a:tc>
                <a:tc>
                  <a:txBody>
                    <a:bodyPr/>
                    <a:lstStyle/>
                    <a:p>
                      <a:pPr lvl="0" indent="0" marL="0" algn="r">
                        <a:buNone/>
                      </a:pPr>
                      <a:r>
                        <a:rPr/>
                        <a:t>54.22</a:t>
                      </a:r>
                    </a:p>
                  </a:txBody>
                </a:tc>
                <a:tc>
                  <a:txBody>
                    <a:bodyPr/>
                    <a:lstStyle/>
                    <a:p>
                      <a:pPr lvl="0" indent="0" marL="0" algn="r">
                        <a:buNone/>
                      </a:pPr>
                      <a:r>
                        <a:rPr/>
                        <a:t>6.50</a:t>
                      </a:r>
                    </a:p>
                  </a:txBody>
                </a:tc>
                <a:tc>
                  <a:txBody>
                    <a:bodyPr/>
                    <a:lstStyle/>
                    <a:p>
                      <a:pPr lvl="0" indent="0" marL="0" algn="r">
                        <a:buNone/>
                      </a:pPr>
                      <a:r>
                        <a:rPr/>
                        <a:t>20.00</a:t>
                      </a:r>
                    </a:p>
                  </a:txBody>
                </a:tc>
                <a:tc>
                  <a:txBody>
                    <a:bodyPr/>
                    <a:lstStyle/>
                    <a:p>
                      <a:pPr lvl="0" indent="0" marL="0" algn="r">
                        <a:buNone/>
                      </a:pPr>
                      <a:r>
                        <a:rPr/>
                        <a:t>91.04</a:t>
                      </a:r>
                    </a:p>
                  </a:txBody>
                </a:tc>
                <a:tc>
                  <a:txBody>
                    <a:bodyPr/>
                    <a:lstStyle/>
                    <a:p>
                      <a:pPr lvl="0" indent="0" marL="0" algn="r">
                        <a:buNone/>
                      </a:pPr>
                      <a:r>
                        <a:rPr/>
                        <a:t>76.00</a:t>
                      </a:r>
                    </a:p>
                  </a:txBody>
                </a:tc>
                <a:tc>
                  <a:txBody>
                    <a:bodyPr/>
                    <a:lstStyle/>
                    <a:p>
                      <a:pPr lvl="0" indent="0" marL="0" algn="r">
                        <a:buNone/>
                      </a:pPr>
                      <a:r>
                        <a:rPr/>
                        <a:t>44.53</a:t>
                      </a:r>
                    </a:p>
                  </a:txBody>
                </a:tc>
                <a:tc>
                  <a:txBody>
                    <a:bodyPr/>
                    <a:lstStyle/>
                    <a:p>
                      <a:pPr lvl="0" indent="0" marL="0" algn="r">
                        <a:buNone/>
                      </a:pPr>
                      <a:r>
                        <a:rPr/>
                        <a:t>49.14</a:t>
                      </a:r>
                    </a:p>
                  </a:txBody>
                </a:tc>
                <a:tc>
                  <a:txBody>
                    <a:bodyPr/>
                    <a:lstStyle/>
                    <a:p>
                      <a:pPr lvl="0" indent="0" marL="0" algn="r">
                        <a:buNone/>
                      </a:pPr>
                      <a:r>
                        <a:rPr/>
                        <a:t>59.29</a:t>
                      </a:r>
                    </a:p>
                  </a:txBody>
                </a:tc>
              </a:tr>
              <a:tr h="0">
                <a:tc>
                  <a:txBody>
                    <a:bodyPr/>
                    <a:lstStyle/>
                    <a:p>
                      <a:pPr lvl="0" indent="0" marL="0" algn="l">
                        <a:buNone/>
                      </a:pPr>
                      <a:r>
                        <a:rPr/>
                        <a:t>6</a:t>
                      </a:r>
                    </a:p>
                  </a:txBody>
                </a:tc>
                <a:tc>
                  <a:txBody>
                    <a:bodyPr/>
                    <a:lstStyle/>
                    <a:p>
                      <a:pPr lvl="0" indent="0" marL="0" algn="l">
                        <a:buNone/>
                      </a:pPr>
                      <a:r>
                        <a:rPr/>
                        <a:t>GA_BtwDist</a:t>
                      </a:r>
                    </a:p>
                  </a:txBody>
                </a:tc>
                <a:tc>
                  <a:txBody>
                    <a:bodyPr/>
                    <a:lstStyle/>
                    <a:p>
                      <a:pPr lvl="0" indent="0" marL="0" algn="r">
                        <a:buNone/>
                      </a:pPr>
                      <a:r>
                        <a:rPr/>
                        <a:t>54.03</a:t>
                      </a:r>
                    </a:p>
                  </a:txBody>
                </a:tc>
                <a:tc>
                  <a:txBody>
                    <a:bodyPr/>
                    <a:lstStyle/>
                    <a:p>
                      <a:pPr lvl="0" indent="0" marL="0" algn="r">
                        <a:buNone/>
                      </a:pPr>
                      <a:r>
                        <a:rPr/>
                        <a:t>0.03</a:t>
                      </a:r>
                    </a:p>
                  </a:txBody>
                </a:tc>
                <a:tc>
                  <a:txBody>
                    <a:bodyPr/>
                    <a:lstStyle/>
                    <a:p>
                      <a:pPr lvl="0" indent="0" marL="0" algn="r">
                        <a:buNone/>
                      </a:pPr>
                      <a:r>
                        <a:rPr/>
                        <a:t>97.54</a:t>
                      </a:r>
                    </a:p>
                  </a:txBody>
                </a:tc>
                <a:tc>
                  <a:txBody>
                    <a:bodyPr/>
                    <a:lstStyle/>
                    <a:p>
                      <a:pPr lvl="0" indent="0" marL="0" algn="r">
                        <a:buNone/>
                      </a:pPr>
                      <a:r>
                        <a:rPr/>
                        <a:t>17.41</a:t>
                      </a:r>
                    </a:p>
                  </a:txBody>
                </a:tc>
                <a:tc>
                  <a:txBody>
                    <a:bodyPr/>
                    <a:lstStyle/>
                    <a:p>
                      <a:pPr lvl="0" indent="0" marL="0" algn="r">
                        <a:buNone/>
                      </a:pPr>
                      <a:r>
                        <a:rPr/>
                        <a:t>62.61</a:t>
                      </a:r>
                    </a:p>
                  </a:txBody>
                </a:tc>
                <a:tc>
                  <a:txBody>
                    <a:bodyPr/>
                    <a:lstStyle/>
                    <a:p>
                      <a:pPr lvl="0" indent="0" marL="0" algn="r">
                        <a:buNone/>
                      </a:pPr>
                      <a:r>
                        <a:rPr/>
                        <a:t>83.33</a:t>
                      </a:r>
                    </a:p>
                  </a:txBody>
                </a:tc>
                <a:tc>
                  <a:txBody>
                    <a:bodyPr/>
                    <a:lstStyle/>
                    <a:p>
                      <a:pPr lvl="0" indent="0" marL="0" algn="r">
                        <a:buNone/>
                      </a:pPr>
                      <a:r>
                        <a:rPr/>
                        <a:t>49.40</a:t>
                      </a:r>
                    </a:p>
                  </a:txBody>
                </a:tc>
                <a:tc>
                  <a:txBody>
                    <a:bodyPr/>
                    <a:lstStyle/>
                    <a:p>
                      <a:pPr lvl="0" indent="0" marL="0" algn="r">
                        <a:buNone/>
                      </a:pPr>
                      <a:r>
                        <a:rPr/>
                        <a:t>58.66</a:t>
                      </a:r>
                    </a:p>
                  </a:txBody>
                </a:tc>
              </a:tr>
              <a:tr h="0">
                <a:tc>
                  <a:txBody>
                    <a:bodyPr/>
                    <a:lstStyle/>
                    <a:p>
                      <a:pPr lvl="0" indent="0" marL="0" algn="l">
                        <a:buNone/>
                      </a:pPr>
                      <a:r>
                        <a:rPr/>
                        <a:t>12</a:t>
                      </a:r>
                    </a:p>
                  </a:txBody>
                </a:tc>
                <a:tc>
                  <a:txBody>
                    <a:bodyPr/>
                    <a:lstStyle/>
                    <a:p>
                      <a:pPr lvl="0" indent="0" marL="0" algn="l">
                        <a:buNone/>
                      </a:pPr>
                      <a:r>
                        <a:rPr/>
                        <a:t>GA_area_convhull</a:t>
                      </a:r>
                    </a:p>
                  </a:txBody>
                </a:tc>
                <a:tc>
                  <a:txBody>
                    <a:bodyPr/>
                    <a:lstStyle/>
                    <a:p>
                      <a:pPr lvl="0" indent="0" marL="0" algn="r">
                        <a:buNone/>
                      </a:pPr>
                      <a:r>
                        <a:rPr/>
                        <a:t>45.45</a:t>
                      </a:r>
                    </a:p>
                  </a:txBody>
                </a:tc>
                <a:tc>
                  <a:txBody>
                    <a:bodyPr/>
                    <a:lstStyle/>
                    <a:p>
                      <a:pPr lvl="0" indent="0" marL="0" algn="r">
                        <a:buNone/>
                      </a:pPr>
                      <a:r>
                        <a:rPr/>
                        <a:t>1.49</a:t>
                      </a:r>
                    </a:p>
                  </a:txBody>
                </a:tc>
                <a:tc>
                  <a:txBody>
                    <a:bodyPr/>
                    <a:lstStyle/>
                    <a:p>
                      <a:pPr lvl="0" indent="0" marL="0" algn="r">
                        <a:buNone/>
                      </a:pPr>
                      <a:r>
                        <a:rPr/>
                        <a:t>78.60</a:t>
                      </a:r>
                    </a:p>
                  </a:txBody>
                </a:tc>
                <a:tc>
                  <a:txBody>
                    <a:bodyPr/>
                    <a:lstStyle/>
                    <a:p>
                      <a:pPr lvl="0" indent="0" marL="0" algn="r">
                        <a:buNone/>
                      </a:pPr>
                      <a:r>
                        <a:rPr/>
                        <a:t>32.34</a:t>
                      </a:r>
                    </a:p>
                  </a:txBody>
                </a:tc>
                <a:tc>
                  <a:txBody>
                    <a:bodyPr/>
                    <a:lstStyle/>
                    <a:p>
                      <a:pPr lvl="0" indent="0" marL="0" algn="r">
                        <a:buNone/>
                      </a:pPr>
                      <a:r>
                        <a:rPr/>
                        <a:t>62.22</a:t>
                      </a:r>
                    </a:p>
                  </a:txBody>
                </a:tc>
                <a:tc>
                  <a:txBody>
                    <a:bodyPr/>
                    <a:lstStyle/>
                    <a:p>
                      <a:pPr lvl="0" indent="0" marL="0" algn="r">
                        <a:buNone/>
                      </a:pPr>
                      <a:r>
                        <a:rPr/>
                        <a:t>51.59</a:t>
                      </a:r>
                    </a:p>
                  </a:txBody>
                </a:tc>
                <a:tc>
                  <a:txBody>
                    <a:bodyPr/>
                    <a:lstStyle/>
                    <a:p>
                      <a:pPr lvl="0" indent="0" marL="0" algn="r">
                        <a:buNone/>
                      </a:pPr>
                      <a:r>
                        <a:rPr/>
                        <a:t>39.93</a:t>
                      </a:r>
                    </a:p>
                  </a:txBody>
                </a:tc>
                <a:tc>
                  <a:txBody>
                    <a:bodyPr/>
                    <a:lstStyle/>
                    <a:p>
                      <a:pPr lvl="0" indent="0" marL="0" algn="r">
                        <a:buNone/>
                      </a:pPr>
                      <a:r>
                        <a:rPr/>
                        <a:t>50.96</a:t>
                      </a:r>
                    </a:p>
                  </a:txBody>
                </a:tc>
              </a:tr>
            </a:tbl>
          </a:graphicData>
        </a:graphic>
      </p:graphicFrame>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14.1 Summary plot</a:t>
            </a:r>
          </a:p>
        </p:txBody>
      </p:sp>
      <p:pic>
        <p:nvPicPr>
          <p:cNvPr descr="2.Pre-registeredReport_V4_minimal_files/figure-pptx/unnamed-chunk-20-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15. Combination ROC</a:t>
            </a:r>
          </a:p>
        </p:txBody>
      </p:sp>
      <p:sp>
        <p:nvSpPr>
          <p:cNvPr id="4" name="Text Placeholder 3"/>
          <p:cNvSpPr>
            <a:spLocks noGrp="1"/>
          </p:cNvSpPr>
          <p:nvPr>
            <p:ph idx="2" sz="half" type="body"/>
          </p:nvPr>
        </p:nvSpPr>
        <p:spPr/>
        <p:txBody>
          <a:bodyPr/>
          <a:lstStyle/>
          <a:p>
            <a:pPr lvl="0" indent="0">
              <a:buNone/>
            </a:pPr>
            <a:r>
              <a:rPr>
                <a:latin typeface="Courier"/>
              </a:rPr>
              <a:t>
Call:
roc.default(response = ds_Q$group, predictor = ds_Q$Comb)
Data: ds_Q$Comb in 273 controls (ds_Q$group Ctl) &lt; 297 cases (ds_Q$group Syn).
Area under the curve: 0.8183</a:t>
            </a:r>
          </a:p>
          <a:p>
            <a:pPr lvl="0" indent="0">
              <a:buNone/>
            </a:pPr>
            <a:r>
              <a:rPr>
                <a:latin typeface="Courier"/>
              </a:rPr>
              <a:t>  Feature     AUC  threshold sensitivity specificity      ppv      npv   ci_low
1    Comb 81.8342 -0.1362282    74.74747    76.92308 77.89474 73.68421 78.36145
   ci_high
1 85.30698</a:t>
            </a:r>
          </a:p>
        </p:txBody>
      </p:sp>
      <p:pic>
        <p:nvPicPr>
          <p:cNvPr descr="2.Pre-registeredReport_V4_minimal_files/figure-pptx/unnamed-chunk-21-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
Call:
roc.default(response = ds_Q2$group, predictor = ds_Q2$Comb)
Data: ds_Q2$Comb in 201 controls (ds_Q2$group Ctl) &lt; 285 cases (ds_Q2$group Syn).
Area under the curve: 0.8025</a:t>
            </a:r>
          </a:p>
          <a:p>
            <a:pPr lvl="0" indent="0">
              <a:buNone/>
            </a:pPr>
            <a:r>
              <a:rPr>
                <a:latin typeface="Courier"/>
              </a:rPr>
              <a:t>  Feature     AUC threshold sensitivity specificity      ppv      npv   ci_low
1    Comb 80.2531 0.2922101     72.2807    75.62189 80.78431 65.80087 76.30977
   ci_high
1 84.19647</a:t>
            </a:r>
          </a:p>
        </p:txBody>
      </p:sp>
      <p:pic>
        <p:nvPicPr>
          <p:cNvPr descr="2.Pre-registeredReport_V4_minimal_files/figure-pptx/unnamed-chunk-21-2.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16. Could compare each feature singularly:</a:t>
            </a:r>
          </a:p>
        </p:txBody>
      </p:sp>
      <p:pic>
        <p:nvPicPr>
          <p:cNvPr descr="2.Pre-registeredReport_V4_minimal_files/figure-pptx/unnamed-chunk-22-1.png" id="0" name="Picture 1"/>
          <p:cNvPicPr>
            <a:picLocks noGrp="1" noChangeAspect="1"/>
          </p:cNvPicPr>
          <p:nvPr/>
        </p:nvPicPr>
        <p:blipFill>
          <a:blip r:embed="rId2"/>
          <a:stretch>
            <a:fillRect/>
          </a:stretch>
        </p:blipFill>
        <p:spPr bwMode="auto">
          <a:xfrm>
            <a:off x="2451100" y="1193800"/>
            <a:ext cx="4241800" cy="3390900"/>
          </a:xfrm>
          <a:prstGeom prst="rect">
            <a:avLst/>
          </a:prstGeom>
          <a:noFill/>
          <a:ln w="9525">
            <a:noFill/>
            <a:headEnd/>
            <a:tailEnd/>
          </a:ln>
        </p:spPr>
      </p:pic>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a:buNone/>
            </a:pPr>
            <a:r>
              <a:rPr>
                <a:latin typeface="Courier"/>
              </a:rPr>
              <a:t>
    Bootstrap test for two correlated ROC curves
data:  ROC_Valid and ROC_Cons
D = 4.4999, boot.n = 2000, boot.stratified = 1, p-value = 6.797e-06
alternative hypothesis: true difference in AUC is not equal to 0
sample estimates:
AUC of roc1 AUC of roc2 
   81.21138    69.80982 </a:t>
            </a:r>
          </a:p>
        </p:txBody>
      </p:sp>
      <p:pic>
        <p:nvPicPr>
          <p:cNvPr descr="2.Pre-registeredReport_V4_minimal_files/figure-pptx/unnamed-chunk-22-2.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
    Bootstrap test for two correlated ROC curves
data:  ROC_Valid and ROC_Cons
D = 1.1298, boot.n = 2000, boot.stratified = 1, p-value = 0.2586
alternative hypothesis: true difference in AUC is not equal to 0
sample estimates:
AUC of roc1 AUC of roc2 
   78.69512    76.07576 </a:t>
            </a:r>
          </a:p>
          <a:p>
            <a:pPr lvl="0" indent="0" marL="0">
              <a:spcBef>
                <a:spcPts val="3000"/>
              </a:spcBef>
              <a:buNone/>
            </a:pPr>
            <a:r>
              <a:rPr b="1"/>
              <a:t>16.1 </a:t>
            </a:r>
            <a:r>
              <a:rPr b="1" i="1"/>
              <a:t>Phase II</a:t>
            </a:r>
            <a:r>
              <a:rPr b="1"/>
              <a:t> Methods</a:t>
            </a:r>
          </a:p>
          <a:p>
            <a:pPr lvl="0" indent="0" marL="0">
              <a:spcBef>
                <a:spcPts val="3000"/>
              </a:spcBef>
              <a:buNone/>
            </a:pPr>
            <a:r>
              <a:rPr b="1"/>
              <a:t>16.2 </a:t>
            </a:r>
            <a:r>
              <a:rPr b="1" i="1"/>
              <a:t>Phase II</a:t>
            </a:r>
            <a:r>
              <a:rPr b="1"/>
              <a:t> Materials:</a:t>
            </a:r>
          </a:p>
          <a:p>
            <a:pPr lvl="0" indent="0" marL="0">
              <a:buNone/>
            </a:pPr>
            <a:r>
              <a:rPr/>
              <a:t>Materials are desribed here </a:t>
            </a:r>
            <a:r>
              <a:rPr>
                <a:hlinkClick r:id="rId2"/>
              </a:rPr>
              <a:t>https://osf.io/pjb6e/?view_only=d467ebf4c1f94076ae4ac61298255065</a:t>
            </a:r>
            <a:r>
              <a:rPr/>
              <a:t>.</a:t>
            </a:r>
          </a:p>
          <a:p>
            <a:pPr lvl="0" indent="0" marL="0">
              <a:spcBef>
                <a:spcPts val="3000"/>
              </a:spcBef>
              <a:buNone/>
            </a:pPr>
            <a:r>
              <a:rPr b="1"/>
              <a:t>16.3 </a:t>
            </a:r>
            <a:r>
              <a:rPr b="1" i="1"/>
              <a:t>Phase II</a:t>
            </a:r>
            <a:r>
              <a:rPr b="1"/>
              <a:t> Planned population</a:t>
            </a:r>
          </a:p>
          <a:p>
            <a:pPr lvl="0" indent="0" marL="0">
              <a:buNone/>
            </a:pPr>
            <a:r>
              <a:rPr b="1">
                <a:hlinkClick r:id="rId3"/>
              </a:rPr>
              <a:t>https://osf.io/6h8dx</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17. Discussion</a:t>
            </a:r>
          </a:p>
        </p:txBody>
      </p:sp>
      <p:sp>
        <p:nvSpPr>
          <p:cNvPr id="3" name="Content Placeholder 2"/>
          <p:cNvSpPr>
            <a:spLocks noGrp="1"/>
          </p:cNvSpPr>
          <p:nvPr>
            <p:ph idx="1"/>
          </p:nvPr>
        </p:nvSpPr>
        <p:spPr/>
        <p:txBody>
          <a:bodyPr/>
          <a:lstStyle/>
          <a:p>
            <a:pPr lvl="0" indent="0" marL="0">
              <a:buNone/>
            </a:pPr>
            <a:r>
              <a:rPr/>
              <a:t>From the different features we extracted, topological validity across the repetitions appeared to be the one leading to the largest Area Under the Curve. The optimal cutoff was exactly 1.5, leading to a sensitivity () and specificity ().</a:t>
            </a:r>
          </a:p>
          <a:p>
            <a:pPr lvl="0" indent="0" marL="0">
              <a:buNone/>
            </a:pPr>
            <a:r>
              <a:rPr/>
              <a:t>The optimal criterion ineeds to be informed about the order between inducers (i.e. to construct the polygons) and interestingly suggests that synthetic inducer are structurally mapped following topological rules analogous to geographical space structures. Hence suggesting a spatial nature for the synthetic forms of space sequence synesthetes.</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18. Supplementary: Permute repetitions</a:t>
            </a:r>
          </a:p>
        </p:txBody>
      </p:sp>
      <p:sp>
        <p:nvSpPr>
          <p:cNvPr id="4" name="Text Placeholder 3"/>
          <p:cNvSpPr>
            <a:spLocks noGrp="1"/>
          </p:cNvSpPr>
          <p:nvPr>
            <p:ph idx="2" sz="half" type="body"/>
          </p:nvPr>
        </p:nvSpPr>
        <p:spPr/>
        <p:txBody>
          <a:bodyPr/>
          <a:lstStyle/>
          <a:p>
            <a:pPr lvl="0" indent="0" marL="0">
              <a:buNone/>
            </a:pPr>
            <a:r>
              <a:rPr/>
              <a:t>Until now the form based features are computed by chronologically ordered repetitions. For example, Monday is repeated three times per ID. The cooridinates for monday presented the first time will alawys be used to form the segment/polygon with the tuesday presented the first time. However, for consistency, this should be independent from chronological order. To circumvent this, we can permute the repetitions per conditions. I predict the permuted averages of the same features should give rise to better AUC.</a:t>
            </a:r>
          </a:p>
          <a:p>
            <a:pPr lvl="0" indent="0">
              <a:buNone/>
            </a:pPr>
            <a:r>
              <a:rPr>
                <a:latin typeface="Courier"/>
              </a:rPr>
              <a:t>
  |                                                                            
  |                                                                      |   0%</a:t>
            </a:r>
          </a:p>
          <a:p>
            <a:pPr lvl="0" indent="0">
              <a:buNone/>
            </a:pPr>
            <a:r>
              <a:rPr>
                <a:latin typeface="Courier"/>
              </a:rPr>
              <a:t>
  |                                                                            
  |                                                                      |   1%
  |                                                                            
  |=                                                                     |   1%
  |                                                                            
  |=                                                                     |   2%
  |                                                                            
  |==                                                                    |   2%
  |                                                                            
  |==                                                                    |   3%
  |                                                                            
  |==                                                                    |   4%
  |                                                                            
  |===                                                                   |   4%
  |                                                                            
  |===                                                                   |   5%
  |                                                                            
  |====                                                                  |   5%
  |                                                                            
  |====                                                                  |   6%
  |                                                                            
  |=====                                                                 |   6%
  |                                                                            
  |=====                                                                 |   7%
  |                                                                            
  |=====                                                                 |   8%
  |                                                                            
  |======                                                                |   8%
  |                                                                            
  |======                                                                |   9%
  |                                                                            
  |=======                                                               |   9%
  |                                                                            
  |=======                                                               |  10%
  |                                                                            
  |=======                                                               |  11%
  |                                                                            
  |========                                                              |  11%
  |                                                                            
  |========                                                              |  12%
  |                                                                            
  |=========                                                             |  12%
  |                                                                            
  |=========                                                             |  13%
  |                                                                            
  |=========                                                             |  14%
  |                                                                            
  |==========                                                            |  14%
  |                                                                            
  |==========                                                            |  15%
  |                                                                            
  |===========                                                           |  15%
  |                                                                            
  |===========                                                           |  16%
  |                                                                            
  |============                                                          |  16%
  |                                                                            
  |============                                                          |  17%
  |                                                                            
  |============                                                          |  18%
  |                                                                            
  |=============                                                         |  18%
  |                                                                            
  |=============                                                         |  19%
  |                                                                            
  |==============                                                        |  19%
  |                                                                            
  |==============                                                        |  20%
  |                                                                            
  |==============                                                        |  21%
  |                                                                            
  |===============                                                       |  21%
  |                                                                            
  |===============                                                       |  22%
  |                                                                            
  |================                                                      |  22%
  |                                                                            
  |================                                                      |  23%
  |                                                                            
  |================                                                      |  24%
  |                                                                            
  |=================                                                     |  24%
  |                                                                            
  |=================                                                     |  25%
  |                                                                            
  |==================                                                    |  25%
  |                                                                            
  |==================                                                    |  26%
  |                                                                            
  |===================                                                   |  26%
  |                                                                            
  |===================                                                   |  27%
  |                                                                            
  |===================                                                   |  28%
  |                                                                            
  |====================                                                  |  28%
  |                                                                            
  |====================                                                  |  29%
  |                                                                            
  |=====================                                                 |  29%
  |                                                                            
  |=====================                                                 |  30%
  |                                                                            
  |=====================                                                 |  31%
  |                                                                            
  |======================                                                |  31%
  |                                                                            
  |======================                                                |  32%
  |                                                                            
  |=======================                                               |  32%
  |                                                                            
  |=======================                                               |  33%
  |                                                                            
  |=======================                                               |  34%
  |                                                                            
  |========================                                              |  34%
  |                                                                            
  |========================                                              |  35%
  |                                                                            
  |=========================                                             |  35%
  |                                                                            
  |=========================                                             |  36%
  |                                                                            
  |==========================                                            |  36%
  |                                                                            
  |==========================                                            |  37%
  |                                                                            
  |==========================                                            |  38%
  |                                                                            
  |===========================                                           |  38%
  |                                                                            
  |===========================                                           |  39%
  |                                                                            
  |============================                                          |  39%
  |                                                                            
  |============================                                          |  40%
  |                                                                            
  |============================                                          |  41%
  |                                                                            
  |=============================                                         |  41%
  |                                                                            
  |=============================                                         |  42%
  |                                                                            
  |==============================                                        |  42%
  |                                                                            
  |==============================                                        |  43%
  |                                                                            
  |==============================                                        |  44%
  |                                                                            
  |===============================                                       |  44%
  |                                                                            
  |===============================                                       |  45%
  |                                                                            
  |================================                                      |  45%
  |                                                                            
  |================================                                      |  46%
  |                                                                            
  |=================================                                     |  46%
  |                                                                            
  |=================================                                     |  47%
  |                                                                            
  |=================================                                     |  48%
  |                                                                            
  |==================================                                    |  48%
  |                                                                            
  |==================================                                    |  49%
  |                                                                            
  |===================================                                   |  49%
  |                                                                            
  |===================================                                   |  50%
  |                                                                            
  |===================================                                   |  51%
  |                                                                            
  |====================================                                  |  51%
  |                                                                            
  |====================================                                  |  52%
  |                                                                            
  |=====================================                                 |  52%
  |                                                                            
  |=====================================                                 |  53%
  |                                                                            
  |=====================================                                 |  54%
  |                                                                            
  |======================================                                |  54%
  |                                                                            
  |======================================                                |  55%
  |                                                                            
  |=======================================                               |  55%
  |                                                                            
  |=======================================                               |  56%
  |                                                                            
  |========================================                              |  56%
  |                                                                            
  |========================================                              |  57%
  |                                                                            
  |========================================                              |  58%
  |                                                                            
  |=========================================                             |  58%
  |                                                                            
  |=========================================                             |  59%
  |                                                                            
  |==========================================                            |  59%
  |                                                                            
  |==========================================                            |  60%
  |                                                                            
  |==========================================                            |  61%
  |                                                                            
  |===========================================                           |  61%
  |                                                                            
  |===========================================                           |  62%
  |                                                                            
  |============================================                          |  62%
  |                                                                            
  |============================================                          |  63%
  |                                                                            
  |============================================                          |  64%
  |                                                                            
  |=============================================                         |  64%
  |                                                                            
  |=============================================                         |  65%
  |                                                                            
  |==============================================                        |  65%
  |                                                                            
  |==============================================                        |  66%
  |                                                                            
  |===============================================                       |  66%
  |                                                                            
  |===============================================                       |  67%
  |                                                                            
  |===============================================                       |  68%
  |                                                                            
  |================================================                      |  68%
  |                                                                            
  |================================================                      |  69%
  |                                                                            
  |=================================================                     |  69%
  |                                                                            
  |=================================================                     |  70%
  |                                                                            
  |=================================================                     |  71%
  |                                                                            
  |==================================================                    |  71%
  |                                                                            
  |==================================================                    |  72%
  |                                                                            
  |===================================================                   |  72%
  |                                                                            
  |===================================================                   |  73%
  |                                                                            
  |===================================================                   |  74%
  |                                                                            
  |====================================================                  |  74%
  |                                                                            
  |====================================================                  |  75%
  |                                                                            
  |=====================================================                 |  75%
  |                                                                            
  |=====================================================                 |  76%
  |                                                                            
  |======================================================                |  76%
  |                                                                            
  |======================================================                |  77%
  |                                                                            
  |======================================================                |  78%
  |                                                                            
  |=======================================================               |  78%
  |                                                                            
  |=======================================================               |  79%
  |                                                                            
  |========================================================              |  79%
  |                                                                            
  |========================================================              |  80%
  |                                                                            
  |========================================================              |  81%
  |                                                                            
  |=========================================================             |  81%
  |                                                                            
  |=========================================================             |  82%
  |                                                                            
  |==========================================================            |  82%
  |                                                                            
  |==========================================================            |  83%
  |                                                                            
  |==========================================================            |  84%
  |                                                                            
  |===========================================================           |  84%
  |                                                                            
  |===========================================================           |  85%
  |                                                                            
  |============================================================          |  85%
  |                                                                            
  |============================================================          |  86%
  |                                                                            
  |=============================================================         |  86%
  |                                                                            
  |=============================================================         |  87%
  |                                                                            
  |=============================================================         |  88%
  |                                                                            
  |==============================================================        |  88%
  |                                                                            
  |==============================================================        |  89%
  |                                                                            
  |===============================================================       |  89%
  |                                                                            
  |===============================================================       |  90%
  |                                                                            
  |===============================================================       |  91%
  |                                                                            
  |================================================================      |  91%
  |                                                                            
  |================================================================      |  92%
  |                                                                            
  |=================================================================     |  92%
  |                                                                            
  |=================================================================     |  93%
  |                                                                            
  |=================================================================     |  94%
  |                                                                            
  |==================================================================    |  94%
  |                                                                            
  |==================================================================    |  95%
  |                                                                            
  |===================================================================   |  95%
  |                                                                            
  |===================================================================   |  96%
  |                                                                            
  |====================================================================  |  96%
  |                                                                            
  |====================================================================  |  97%
  |                                                                            
  |====================================================================  |  98%
  |                                                                            
  |===================================================================== |  98%
  |                                                                            
  |===================================================================== |  99%
  |                                                                            
  |======================================================================|  99%
  |                                                                            
  |======================================================================| 100%</a:t>
            </a:r>
          </a:p>
          <a:p>
            <a:pPr lvl="0" indent="0">
              <a:buNone/>
            </a:pPr>
            <a:r>
              <a:rPr>
                <a:latin typeface="Courier"/>
              </a:rPr>
              <a:t>$ROC_properties
    Feature     AUC threshold sensitivity specificity      ppv      npv
1 M_perm_ID 74.4145  1.412222    81.48148    61.17216 69.54023 75.22523
    ci_low ci_high
1 70.27045 78.5585
$Coningency_table
      Test : Ctl    Test : Syn   
  Ctl "167 (61.2%)" "106 (38.8%)"
  Syn "55 (18.5%)"  "242 (81.5%)"
$Descr_table
# A tibble: 2 × 4
  group     n  Mean    SD
  &lt;fct&gt; &lt;int&gt; &lt;dbl&gt; &lt;dbl&gt;
1 Ctl       1  8.93  9.72
2 Syn       1  1.81  4.57
$ROC_curve
Call:
roc.formula(formula = data[[group_col]] ~ data[[feature]], data = data,     direction = Dirhere, percent = TRUE, ci = TRUE, boot.n = 100,     ci.alpha = 0.9, stratified = FALSE, plot = FALSE, auc.polygon = TRUE,     max.auc.polygon = TRUE, grid = TRUE, print.auc = TRUE, show.thres = TRUE,     print.thres = "best", print.thres.best.method = "youden")
Data: data[[feature]] in 273 controls (data[[group_col]] Ctl) &gt; 297 cases (data[[group_col]] Syn).
Area under the curve: 74.41%
95% CI: 70.27%-78.56% (DeLong)</a:t>
            </a:r>
          </a:p>
        </p:txBody>
      </p:sp>
      <p:pic>
        <p:nvPicPr>
          <p:cNvPr descr="2.Pre-registeredReport_V4_minimal_files/figure-pptx/unnamed-chunk-23-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a:buNone/>
            </a:pPr>
            <a:r>
              <a:rPr>
                <a:latin typeface="Courier"/>
              </a:rPr>
              <a:t>            Feature     AUC threshold sensitivity specificity      ppv npv
4 SelfInter_persegm 67.8459  1.166667    82.10526    49.25373 69.64286  66
    ci_low  ci_high
4 62.89078 72.80094</a:t>
            </a:r>
          </a:p>
          <a:p>
            <a:pPr lvl="0" indent="0">
              <a:buNone/>
            </a:pPr>
            <a:r>
              <a:rPr>
                <a:latin typeface="Courier"/>
              </a:rPr>
              <a:t>    Feature     AUC threshold sensitivity specificity      ppv      npv
1 M_perm_ID 74.4145  1.412222    81.48148    61.17216 69.54023 75.22523
    ci_low ci_high
1 70.27045 78.5585</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19. Supplementary: Conditions</a:t>
            </a:r>
          </a:p>
        </p:txBody>
      </p:sp>
      <p:sp>
        <p:nvSpPr>
          <p:cNvPr id="4" name="Text Placeholder 3"/>
          <p:cNvSpPr>
            <a:spLocks noGrp="1"/>
          </p:cNvSpPr>
          <p:nvPr>
            <p:ph idx="2" sz="half" type="body"/>
          </p:nvPr>
        </p:nvSpPr>
        <p:spPr/>
        <p:txBody>
          <a:bodyPr/>
          <a:lstStyle/>
          <a:p>
            <a:pPr lvl="0" indent="0" marL="0">
              <a:spcBef>
                <a:spcPts val="3000"/>
              </a:spcBef>
              <a:buNone/>
            </a:pPr>
            <a:r>
              <a:rPr b="1"/>
              <a:t>19.1 Per Conditions</a:t>
            </a:r>
          </a:p>
        </p:txBody>
      </p:sp>
      <p:pic>
        <p:nvPicPr>
          <p:cNvPr descr="2.Pre-registeredReport_V4_minimal_files/figure-pptx/PerCondition-1.png" id="0" name="Picture 1"/>
          <p:cNvPicPr>
            <a:picLocks noGrp="1" noChangeAspect="1"/>
          </p:cNvPicPr>
          <p:nvPr/>
        </p:nvPicPr>
        <p:blipFill>
          <a:blip r:embed="rId2"/>
          <a:stretch>
            <a:fillRect/>
          </a:stretch>
        </p:blipFill>
        <p:spPr bwMode="auto">
          <a:xfrm>
            <a:off x="3568700" y="355600"/>
            <a:ext cx="5105400" cy="4089400"/>
          </a:xfrm>
          <a:prstGeom prst="rect">
            <a:avLst/>
          </a:prstGeom>
          <a:noFill/>
          <a:ln w="9525">
            <a:noFill/>
            <a:headEnd/>
            <a:tailEnd/>
          </a:ln>
        </p:spPr>
      </p:pic>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indent="0" marL="0">
              <a:spcBef>
                <a:spcPts val="3000"/>
              </a:spcBef>
              <a:buNone/>
            </a:pPr>
            <a:r>
              <a:rPr b="1"/>
              <a:t>19.2 Summary table Per cond</a:t>
            </a:r>
          </a:p>
        </p:txBody>
      </p:sp>
      <p:graphicFrame>
        <p:nvGraphicFramePr>
          <p:cNvPr id="6" name="Content Placeholder 5"/>
          <p:cNvGraphicFramePr>
            <a:graphicFrameLocks noGrp="1"/>
          </p:cNvGraphicFramePr>
          <p:nvPr>
            <p:ph idx="1"/>
          </p:nvPr>
        </p:nvGraphicFramePr>
        <p:xfrm>
          <a:off x="3568700" y="203200"/>
          <a:ext cx="5105400" cy="4381500"/>
        </p:xfrm>
        <a:graphic>
          <a:graphicData uri="http://schemas.openxmlformats.org/drawingml/2006/table">
            <a:tbl>
              <a:tblPr firstRow="1" bandRow="1">
                <a:tableStyleId>{5C22544A-7EE6-4342-B048-85BDC9FD1C3A}</a:tableStyleId>
              </a:tblPr>
              <a:tblGrid>
                <a:gridCol w="139700"/>
                <a:gridCol w="1371600"/>
                <a:gridCol w="368300"/>
                <a:gridCol w="495300"/>
                <a:gridCol w="546100"/>
                <a:gridCol w="546100"/>
                <a:gridCol w="406400"/>
                <a:gridCol w="406400"/>
                <a:gridCol w="406400"/>
                <a:gridCol w="406400"/>
              </a:tblGrid>
              <a:tr h="0">
                <a:tc>
                  <a:txBody>
                    <a:bodyPr/>
                    <a:lstStyle/>
                    <a:p>
                      <a:endParaRPr/>
                    </a:p>
                  </a:txBody>
                  <a:tcPr/>
                </a:tc>
                <a:tc>
                  <a:txBody>
                    <a:bodyPr/>
                    <a:lstStyle/>
                    <a:p>
                      <a:pPr lvl="0" indent="0" marL="0" algn="l">
                        <a:buNone/>
                      </a:pPr>
                      <a:r>
                        <a:rPr/>
                        <a:t>Feature</a:t>
                      </a:r>
                    </a:p>
                  </a:txBody>
                  <a:tcPr/>
                </a:tc>
                <a:tc>
                  <a:txBody>
                    <a:bodyPr/>
                    <a:lstStyle/>
                    <a:p>
                      <a:pPr lvl="0" indent="0" marL="0" algn="r">
                        <a:buNone/>
                      </a:pPr>
                      <a:r>
                        <a:rPr/>
                        <a:t>AUC</a:t>
                      </a:r>
                    </a:p>
                  </a:txBody>
                  <a:tcPr/>
                </a:tc>
                <a:tc>
                  <a:txBody>
                    <a:bodyPr/>
                    <a:lstStyle/>
                    <a:p>
                      <a:pPr lvl="0" indent="0" marL="0" algn="r">
                        <a:buNone/>
                      </a:pPr>
                      <a:r>
                        <a:rPr/>
                        <a:t>threshold</a:t>
                      </a:r>
                    </a:p>
                  </a:txBody>
                  <a:tcPr/>
                </a:tc>
                <a:tc>
                  <a:txBody>
                    <a:bodyPr/>
                    <a:lstStyle/>
                    <a:p>
                      <a:pPr lvl="0" indent="0" marL="0" algn="r">
                        <a:buNone/>
                      </a:pPr>
                      <a:r>
                        <a:rPr/>
                        <a:t>sensitivity</a:t>
                      </a:r>
                    </a:p>
                  </a:txBody>
                  <a:tcPr/>
                </a:tc>
                <a:tc>
                  <a:txBody>
                    <a:bodyPr/>
                    <a:lstStyle/>
                    <a:p>
                      <a:pPr lvl="0" indent="0" marL="0" algn="r">
                        <a:buNone/>
                      </a:pPr>
                      <a:r>
                        <a:rPr/>
                        <a:t>specificity</a:t>
                      </a:r>
                    </a:p>
                  </a:txBody>
                  <a:tcPr/>
                </a:tc>
                <a:tc>
                  <a:txBody>
                    <a:bodyPr/>
                    <a:lstStyle/>
                    <a:p>
                      <a:pPr lvl="0" indent="0" marL="0" algn="r">
                        <a:buNone/>
                      </a:pPr>
                      <a:r>
                        <a:rPr/>
                        <a:t>ppv</a:t>
                      </a:r>
                    </a:p>
                  </a:txBody>
                  <a:tcPr/>
                </a:tc>
                <a:tc>
                  <a:txBody>
                    <a:bodyPr/>
                    <a:lstStyle/>
                    <a:p>
                      <a:pPr lvl="0" indent="0" marL="0" algn="r">
                        <a:buNone/>
                      </a:pPr>
                      <a:r>
                        <a:rPr/>
                        <a:t>npv</a:t>
                      </a:r>
                    </a:p>
                  </a:txBody>
                  <a:tcPr/>
                </a:tc>
                <a:tc>
                  <a:txBody>
                    <a:bodyPr/>
                    <a:lstStyle/>
                    <a:p>
                      <a:pPr lvl="0" indent="0" marL="0" algn="r">
                        <a:buNone/>
                      </a:pPr>
                      <a:r>
                        <a:rPr/>
                        <a:t>ci_low</a:t>
                      </a:r>
                    </a:p>
                  </a:txBody>
                  <a:tcPr/>
                </a:tc>
                <a:tc>
                  <a:txBody>
                    <a:bodyPr/>
                    <a:lstStyle/>
                    <a:p>
                      <a:pPr lvl="0" indent="0" marL="0" algn="r">
                        <a:buNone/>
                      </a:pPr>
                      <a:r>
                        <a:rPr/>
                        <a:t>ci_high</a:t>
                      </a:r>
                    </a:p>
                  </a:txBody>
                  <a:tcPr/>
                </a:tc>
              </a:tr>
              <a:tr h="0">
                <a:tc>
                  <a:txBody>
                    <a:bodyPr/>
                    <a:lstStyle/>
                    <a:p>
                      <a:pPr lvl="0" indent="0" marL="0" algn="l">
                        <a:buNone/>
                      </a:pPr>
                      <a:r>
                        <a:rPr/>
                        <a:t>7</a:t>
                      </a:r>
                    </a:p>
                  </a:txBody>
                </a:tc>
                <a:tc>
                  <a:txBody>
                    <a:bodyPr/>
                    <a:lstStyle/>
                    <a:p>
                      <a:pPr lvl="0" indent="0" marL="0" algn="l">
                        <a:buNone/>
                      </a:pPr>
                      <a:r>
                        <a:rPr/>
                        <a:t>SelfInter_persegmCond_month</a:t>
                      </a:r>
                    </a:p>
                  </a:txBody>
                </a:tc>
                <a:tc>
                  <a:txBody>
                    <a:bodyPr/>
                    <a:lstStyle/>
                    <a:p>
                      <a:pPr lvl="0" indent="0" marL="0" algn="r">
                        <a:buNone/>
                      </a:pPr>
                      <a:r>
                        <a:rPr/>
                        <a:t>77.8277</a:t>
                      </a:r>
                    </a:p>
                  </a:txBody>
                </a:tc>
                <a:tc>
                  <a:txBody>
                    <a:bodyPr/>
                    <a:lstStyle/>
                    <a:p>
                      <a:pPr lvl="0" indent="0" marL="0" algn="r">
                        <a:buNone/>
                      </a:pPr>
                      <a:r>
                        <a:rPr/>
                        <a:t>30.0000000</a:t>
                      </a:r>
                    </a:p>
                  </a:txBody>
                </a:tc>
                <a:tc>
                  <a:txBody>
                    <a:bodyPr/>
                    <a:lstStyle/>
                    <a:p>
                      <a:pPr lvl="0" indent="0" marL="0" algn="r">
                        <a:buNone/>
                      </a:pPr>
                      <a:r>
                        <a:rPr/>
                        <a:t>79.79798</a:t>
                      </a:r>
                    </a:p>
                  </a:txBody>
                </a:tc>
                <a:tc>
                  <a:txBody>
                    <a:bodyPr/>
                    <a:lstStyle/>
                    <a:p>
                      <a:pPr lvl="0" indent="0" marL="0" algn="r">
                        <a:buNone/>
                      </a:pPr>
                      <a:r>
                        <a:rPr/>
                        <a:t>68.86447</a:t>
                      </a:r>
                    </a:p>
                  </a:txBody>
                </a:tc>
                <a:tc>
                  <a:txBody>
                    <a:bodyPr/>
                    <a:lstStyle/>
                    <a:p>
                      <a:pPr lvl="0" indent="0" marL="0" algn="r">
                        <a:buNone/>
                      </a:pPr>
                      <a:r>
                        <a:rPr/>
                        <a:t>73.60248</a:t>
                      </a:r>
                    </a:p>
                  </a:txBody>
                </a:tc>
                <a:tc>
                  <a:txBody>
                    <a:bodyPr/>
                    <a:lstStyle/>
                    <a:p>
                      <a:pPr lvl="0" indent="0" marL="0" algn="r">
                        <a:buNone/>
                      </a:pPr>
                      <a:r>
                        <a:rPr/>
                        <a:t>75.80645</a:t>
                      </a:r>
                    </a:p>
                  </a:txBody>
                </a:tc>
                <a:tc>
                  <a:txBody>
                    <a:bodyPr/>
                    <a:lstStyle/>
                    <a:p>
                      <a:pPr lvl="0" indent="0" marL="0" algn="r">
                        <a:buNone/>
                      </a:pPr>
                      <a:r>
                        <a:rPr/>
                        <a:t>77.20136</a:t>
                      </a:r>
                    </a:p>
                  </a:txBody>
                </a:tc>
                <a:tc>
                  <a:txBody>
                    <a:bodyPr/>
                    <a:lstStyle/>
                    <a:p>
                      <a:pPr lvl="0" indent="0" marL="0" algn="r">
                        <a:buNone/>
                      </a:pPr>
                      <a:r>
                        <a:rPr/>
                        <a:t>78.45410</a:t>
                      </a:r>
                    </a:p>
                  </a:txBody>
                </a:tc>
              </a:tr>
              <a:tr h="0">
                <a:tc>
                  <a:txBody>
                    <a:bodyPr/>
                    <a:lstStyle/>
                    <a:p>
                      <a:pPr lvl="0" indent="0" marL="0" algn="l">
                        <a:buNone/>
                      </a:pPr>
                      <a:r>
                        <a:rPr/>
                        <a:t>4</a:t>
                      </a:r>
                    </a:p>
                  </a:txBody>
                </a:tc>
                <a:tc>
                  <a:txBody>
                    <a:bodyPr/>
                    <a:lstStyle/>
                    <a:p>
                      <a:pPr lvl="0" indent="0" marL="0" algn="l">
                        <a:buNone/>
                      </a:pPr>
                      <a:r>
                        <a:rPr/>
                        <a:t>GA_isValidStructCond_month</a:t>
                      </a:r>
                    </a:p>
                  </a:txBody>
                </a:tc>
                <a:tc>
                  <a:txBody>
                    <a:bodyPr/>
                    <a:lstStyle/>
                    <a:p>
                      <a:pPr lvl="0" indent="0" marL="0" algn="r">
                        <a:buNone/>
                      </a:pPr>
                      <a:r>
                        <a:rPr/>
                        <a:t>74.2634</a:t>
                      </a:r>
                    </a:p>
                  </a:txBody>
                </a:tc>
                <a:tc>
                  <a:txBody>
                    <a:bodyPr/>
                    <a:lstStyle/>
                    <a:p>
                      <a:pPr lvl="0" indent="0" marL="0" algn="r">
                        <a:buNone/>
                      </a:pPr>
                      <a:r>
                        <a:rPr/>
                        <a:t>0.1666667</a:t>
                      </a:r>
                    </a:p>
                  </a:txBody>
                </a:tc>
                <a:tc>
                  <a:txBody>
                    <a:bodyPr/>
                    <a:lstStyle/>
                    <a:p>
                      <a:pPr lvl="0" indent="0" marL="0" algn="r">
                        <a:buNone/>
                      </a:pPr>
                      <a:r>
                        <a:rPr/>
                        <a:t>84.61538</a:t>
                      </a:r>
                    </a:p>
                  </a:txBody>
                </a:tc>
                <a:tc>
                  <a:txBody>
                    <a:bodyPr/>
                    <a:lstStyle/>
                    <a:p>
                      <a:pPr lvl="0" indent="0" marL="0" algn="r">
                        <a:buNone/>
                      </a:pPr>
                      <a:r>
                        <a:rPr/>
                        <a:t>59.93266</a:t>
                      </a:r>
                    </a:p>
                  </a:txBody>
                </a:tc>
                <a:tc>
                  <a:txBody>
                    <a:bodyPr/>
                    <a:lstStyle/>
                    <a:p>
                      <a:pPr lvl="0" indent="0" marL="0" algn="r">
                        <a:buNone/>
                      </a:pPr>
                      <a:r>
                        <a:rPr/>
                        <a:t>66.00000</a:t>
                      </a:r>
                    </a:p>
                  </a:txBody>
                </a:tc>
                <a:tc>
                  <a:txBody>
                    <a:bodyPr/>
                    <a:lstStyle/>
                    <a:p>
                      <a:pPr lvl="0" indent="0" marL="0" algn="r">
                        <a:buNone/>
                      </a:pPr>
                      <a:r>
                        <a:rPr/>
                        <a:t>80.90909</a:t>
                      </a:r>
                    </a:p>
                  </a:txBody>
                </a:tc>
                <a:tc>
                  <a:txBody>
                    <a:bodyPr/>
                    <a:lstStyle/>
                    <a:p>
                      <a:pPr lvl="0" indent="0" marL="0" algn="r">
                        <a:buNone/>
                      </a:pPr>
                      <a:r>
                        <a:rPr/>
                        <a:t>72.26509</a:t>
                      </a:r>
                    </a:p>
                  </a:txBody>
                </a:tc>
                <a:tc>
                  <a:txBody>
                    <a:bodyPr/>
                    <a:lstStyle/>
                    <a:p>
                      <a:pPr lvl="0" indent="0" marL="0" algn="r">
                        <a:buNone/>
                      </a:pPr>
                      <a:r>
                        <a:rPr/>
                        <a:t>76.26170</a:t>
                      </a:r>
                    </a:p>
                  </a:txBody>
                </a:tc>
              </a:tr>
              <a:tr h="0">
                <a:tc>
                  <a:txBody>
                    <a:bodyPr/>
                    <a:lstStyle/>
                    <a:p>
                      <a:pPr lvl="0" indent="0" marL="0" algn="l">
                        <a:buNone/>
                      </a:pPr>
                      <a:r>
                        <a:rPr/>
                        <a:t>9</a:t>
                      </a:r>
                    </a:p>
                  </a:txBody>
                </a:tc>
                <a:tc>
                  <a:txBody>
                    <a:bodyPr/>
                    <a:lstStyle/>
                    <a:p>
                      <a:pPr lvl="0" indent="0" marL="0" algn="l">
                        <a:buNone/>
                      </a:pPr>
                      <a:r>
                        <a:rPr/>
                        <a:t>SelfInter_persegmCond_number</a:t>
                      </a:r>
                    </a:p>
                  </a:txBody>
                </a:tc>
                <a:tc>
                  <a:txBody>
                    <a:bodyPr/>
                    <a:lstStyle/>
                    <a:p>
                      <a:pPr lvl="0" indent="0" marL="0" algn="r">
                        <a:buNone/>
                      </a:pPr>
                      <a:r>
                        <a:rPr/>
                        <a:t>73.2323</a:t>
                      </a:r>
                    </a:p>
                  </a:txBody>
                </a:tc>
                <a:tc>
                  <a:txBody>
                    <a:bodyPr/>
                    <a:lstStyle/>
                    <a:p>
                      <a:pPr lvl="0" indent="0" marL="0" algn="r">
                        <a:buNone/>
                      </a:pPr>
                      <a:r>
                        <a:rPr/>
                        <a:t>25.0000000</a:t>
                      </a:r>
                    </a:p>
                  </a:txBody>
                </a:tc>
                <a:tc>
                  <a:txBody>
                    <a:bodyPr/>
                    <a:lstStyle/>
                    <a:p>
                      <a:pPr lvl="0" indent="0" marL="0" algn="r">
                        <a:buNone/>
                      </a:pPr>
                      <a:r>
                        <a:rPr/>
                        <a:t>72.72727</a:t>
                      </a:r>
                    </a:p>
                  </a:txBody>
                </a:tc>
                <a:tc>
                  <a:txBody>
                    <a:bodyPr/>
                    <a:lstStyle/>
                    <a:p>
                      <a:pPr lvl="0" indent="0" marL="0" algn="r">
                        <a:buNone/>
                      </a:pPr>
                      <a:r>
                        <a:rPr/>
                        <a:t>65.56777</a:t>
                      </a:r>
                    </a:p>
                  </a:txBody>
                </a:tc>
                <a:tc>
                  <a:txBody>
                    <a:bodyPr/>
                    <a:lstStyle/>
                    <a:p>
                      <a:pPr lvl="0" indent="0" marL="0" algn="r">
                        <a:buNone/>
                      </a:pPr>
                      <a:r>
                        <a:rPr/>
                        <a:t>69.67742</a:t>
                      </a:r>
                    </a:p>
                  </a:txBody>
                </a:tc>
                <a:tc>
                  <a:txBody>
                    <a:bodyPr/>
                    <a:lstStyle/>
                    <a:p>
                      <a:pPr lvl="0" indent="0" marL="0" algn="r">
                        <a:buNone/>
                      </a:pPr>
                      <a:r>
                        <a:rPr/>
                        <a:t>68.84615</a:t>
                      </a:r>
                    </a:p>
                  </a:txBody>
                </a:tc>
                <a:tc>
                  <a:txBody>
                    <a:bodyPr/>
                    <a:lstStyle/>
                    <a:p>
                      <a:pPr lvl="0" indent="0" marL="0" algn="r">
                        <a:buNone/>
                      </a:pPr>
                      <a:r>
                        <a:rPr/>
                        <a:t>72.49721</a:t>
                      </a:r>
                    </a:p>
                  </a:txBody>
                </a:tc>
                <a:tc>
                  <a:txBody>
                    <a:bodyPr/>
                    <a:lstStyle/>
                    <a:p>
                      <a:pPr lvl="0" indent="0" marL="0" algn="r">
                        <a:buNone/>
                      </a:pPr>
                      <a:r>
                        <a:rPr/>
                        <a:t>73.96743</a:t>
                      </a:r>
                    </a:p>
                  </a:txBody>
                </a:tc>
              </a:tr>
              <a:tr h="0">
                <a:tc>
                  <a:txBody>
                    <a:bodyPr/>
                    <a:lstStyle/>
                    <a:p>
                      <a:pPr lvl="0" indent="0" marL="0" algn="l">
                        <a:buNone/>
                      </a:pPr>
                      <a:r>
                        <a:rPr/>
                        <a:t>3</a:t>
                      </a:r>
                    </a:p>
                  </a:txBody>
                </a:tc>
                <a:tc>
                  <a:txBody>
                    <a:bodyPr/>
                    <a:lstStyle/>
                    <a:p>
                      <a:pPr lvl="0" indent="0" marL="0" algn="l">
                        <a:buNone/>
                      </a:pPr>
                      <a:r>
                        <a:rPr/>
                        <a:t>Consistency_zs_Cond_number</a:t>
                      </a:r>
                    </a:p>
                  </a:txBody>
                </a:tc>
                <a:tc>
                  <a:txBody>
                    <a:bodyPr/>
                    <a:lstStyle/>
                    <a:p>
                      <a:pPr lvl="0" indent="0" marL="0" algn="r">
                        <a:buNone/>
                      </a:pPr>
                      <a:r>
                        <a:rPr/>
                        <a:t>69.3066</a:t>
                      </a:r>
                    </a:p>
                  </a:txBody>
                </a:tc>
                <a:tc>
                  <a:txBody>
                    <a:bodyPr/>
                    <a:lstStyle/>
                    <a:p>
                      <a:pPr lvl="0" indent="0" marL="0" algn="r">
                        <a:buNone/>
                      </a:pPr>
                      <a:r>
                        <a:rPr/>
                        <a:t>0.7336641</a:t>
                      </a:r>
                    </a:p>
                  </a:txBody>
                </a:tc>
                <a:tc>
                  <a:txBody>
                    <a:bodyPr/>
                    <a:lstStyle/>
                    <a:p>
                      <a:pPr lvl="0" indent="0" marL="0" algn="r">
                        <a:buNone/>
                      </a:pPr>
                      <a:r>
                        <a:rPr/>
                        <a:t>79.46128</a:t>
                      </a:r>
                    </a:p>
                  </a:txBody>
                </a:tc>
                <a:tc>
                  <a:txBody>
                    <a:bodyPr/>
                    <a:lstStyle/>
                    <a:p>
                      <a:pPr lvl="0" indent="0" marL="0" algn="r">
                        <a:buNone/>
                      </a:pPr>
                      <a:r>
                        <a:rPr/>
                        <a:t>59.70696</a:t>
                      </a:r>
                    </a:p>
                  </a:txBody>
                </a:tc>
                <a:tc>
                  <a:txBody>
                    <a:bodyPr/>
                    <a:lstStyle/>
                    <a:p>
                      <a:pPr lvl="0" indent="0" marL="0" algn="r">
                        <a:buNone/>
                      </a:pPr>
                      <a:r>
                        <a:rPr/>
                        <a:t>68.20809</a:t>
                      </a:r>
                    </a:p>
                  </a:txBody>
                </a:tc>
                <a:tc>
                  <a:txBody>
                    <a:bodyPr/>
                    <a:lstStyle/>
                    <a:p>
                      <a:pPr lvl="0" indent="0" marL="0" algn="r">
                        <a:buNone/>
                      </a:pPr>
                      <a:r>
                        <a:rPr/>
                        <a:t>72.76786</a:t>
                      </a:r>
                    </a:p>
                  </a:txBody>
                </a:tc>
                <a:tc>
                  <a:txBody>
                    <a:bodyPr/>
                    <a:lstStyle/>
                    <a:p>
                      <a:pPr lvl="0" indent="0" marL="0" algn="r">
                        <a:buNone/>
                      </a:pPr>
                      <a:r>
                        <a:rPr/>
                        <a:t>68.47900</a:t>
                      </a:r>
                    </a:p>
                  </a:txBody>
                </a:tc>
                <a:tc>
                  <a:txBody>
                    <a:bodyPr/>
                    <a:lstStyle/>
                    <a:p>
                      <a:pPr lvl="0" indent="0" marL="0" algn="r">
                        <a:buNone/>
                      </a:pPr>
                      <a:r>
                        <a:rPr/>
                        <a:t>70.13424</a:t>
                      </a:r>
                    </a:p>
                  </a:txBody>
                </a:tc>
              </a:tr>
              <a:tr h="0">
                <a:tc>
                  <a:txBody>
                    <a:bodyPr/>
                    <a:lstStyle/>
                    <a:p>
                      <a:pPr lvl="0" indent="0" marL="0" algn="l">
                        <a:buNone/>
                      </a:pPr>
                      <a:r>
                        <a:rPr/>
                        <a:t>8</a:t>
                      </a:r>
                    </a:p>
                  </a:txBody>
                </a:tc>
                <a:tc>
                  <a:txBody>
                    <a:bodyPr/>
                    <a:lstStyle/>
                    <a:p>
                      <a:pPr lvl="0" indent="0" marL="0" algn="l">
                        <a:buNone/>
                      </a:pPr>
                      <a:r>
                        <a:rPr/>
                        <a:t>SelfInter_persegmCond_weekday</a:t>
                      </a:r>
                    </a:p>
                  </a:txBody>
                </a:tc>
                <a:tc>
                  <a:txBody>
                    <a:bodyPr/>
                    <a:lstStyle/>
                    <a:p>
                      <a:pPr lvl="0" indent="0" marL="0" algn="r">
                        <a:buNone/>
                      </a:pPr>
                      <a:r>
                        <a:rPr/>
                        <a:t>68.6042</a:t>
                      </a:r>
                    </a:p>
                  </a:txBody>
                </a:tc>
                <a:tc>
                  <a:txBody>
                    <a:bodyPr/>
                    <a:lstStyle/>
                    <a:p>
                      <a:pPr lvl="0" indent="0" marL="0" algn="r">
                        <a:buNone/>
                      </a:pPr>
                      <a:r>
                        <a:rPr/>
                        <a:t>59.5000000</a:t>
                      </a:r>
                    </a:p>
                  </a:txBody>
                </a:tc>
                <a:tc>
                  <a:txBody>
                    <a:bodyPr/>
                    <a:lstStyle/>
                    <a:p>
                      <a:pPr lvl="0" indent="0" marL="0" algn="r">
                        <a:buNone/>
                      </a:pPr>
                      <a:r>
                        <a:rPr/>
                        <a:t>93.26599</a:t>
                      </a:r>
                    </a:p>
                  </a:txBody>
                </a:tc>
                <a:tc>
                  <a:txBody>
                    <a:bodyPr/>
                    <a:lstStyle/>
                    <a:p>
                      <a:pPr lvl="0" indent="0" marL="0" algn="r">
                        <a:buNone/>
                      </a:pPr>
                      <a:r>
                        <a:rPr/>
                        <a:t>41.02564</a:t>
                      </a:r>
                    </a:p>
                  </a:txBody>
                </a:tc>
                <a:tc>
                  <a:txBody>
                    <a:bodyPr/>
                    <a:lstStyle/>
                    <a:p>
                      <a:pPr lvl="0" indent="0" marL="0" algn="r">
                        <a:buNone/>
                      </a:pPr>
                      <a:r>
                        <a:rPr/>
                        <a:t>63.24201</a:t>
                      </a:r>
                    </a:p>
                  </a:txBody>
                </a:tc>
                <a:tc>
                  <a:txBody>
                    <a:bodyPr/>
                    <a:lstStyle/>
                    <a:p>
                      <a:pPr lvl="0" indent="0" marL="0" algn="r">
                        <a:buNone/>
                      </a:pPr>
                      <a:r>
                        <a:rPr/>
                        <a:t>84.84848</a:t>
                      </a:r>
                    </a:p>
                  </a:txBody>
                </a:tc>
                <a:tc>
                  <a:txBody>
                    <a:bodyPr/>
                    <a:lstStyle/>
                    <a:p>
                      <a:pPr lvl="0" indent="0" marL="0" algn="r">
                        <a:buNone/>
                      </a:pPr>
                      <a:r>
                        <a:rPr/>
                        <a:t>67.69484</a:t>
                      </a:r>
                    </a:p>
                  </a:txBody>
                </a:tc>
                <a:tc>
                  <a:txBody>
                    <a:bodyPr/>
                    <a:lstStyle/>
                    <a:p>
                      <a:pPr lvl="0" indent="0" marL="0" algn="r">
                        <a:buNone/>
                      </a:pPr>
                      <a:r>
                        <a:rPr/>
                        <a:t>69.51363</a:t>
                      </a:r>
                    </a:p>
                  </a:txBody>
                </a:tc>
              </a:tr>
              <a:tr h="0">
                <a:tc>
                  <a:txBody>
                    <a:bodyPr/>
                    <a:lstStyle/>
                    <a:p>
                      <a:pPr lvl="0" indent="0" marL="0" algn="l">
                        <a:buNone/>
                      </a:pPr>
                      <a:r>
                        <a:rPr/>
                        <a:t>1</a:t>
                      </a:r>
                    </a:p>
                  </a:txBody>
                </a:tc>
                <a:tc>
                  <a:txBody>
                    <a:bodyPr/>
                    <a:lstStyle/>
                    <a:p>
                      <a:pPr lvl="0" indent="0" marL="0" algn="l">
                        <a:buNone/>
                      </a:pPr>
                      <a:r>
                        <a:rPr/>
                        <a:t>Consistency_zs_Cond_month</a:t>
                      </a:r>
                    </a:p>
                  </a:txBody>
                </a:tc>
                <a:tc>
                  <a:txBody>
                    <a:bodyPr/>
                    <a:lstStyle/>
                    <a:p>
                      <a:pPr lvl="0" indent="0" marL="0" algn="r">
                        <a:buNone/>
                      </a:pPr>
                      <a:r>
                        <a:rPr/>
                        <a:t>68.2601</a:t>
                      </a:r>
                    </a:p>
                  </a:txBody>
                </a:tc>
                <a:tc>
                  <a:txBody>
                    <a:bodyPr/>
                    <a:lstStyle/>
                    <a:p>
                      <a:pPr lvl="0" indent="0" marL="0" algn="r">
                        <a:buNone/>
                      </a:pPr>
                      <a:r>
                        <a:rPr/>
                        <a:t>0.7376572</a:t>
                      </a:r>
                    </a:p>
                  </a:txBody>
                </a:tc>
                <a:tc>
                  <a:txBody>
                    <a:bodyPr/>
                    <a:lstStyle/>
                    <a:p>
                      <a:pPr lvl="0" indent="0" marL="0" algn="r">
                        <a:buNone/>
                      </a:pPr>
                      <a:r>
                        <a:rPr/>
                        <a:t>75.42088</a:t>
                      </a:r>
                    </a:p>
                  </a:txBody>
                </a:tc>
                <a:tc>
                  <a:txBody>
                    <a:bodyPr/>
                    <a:lstStyle/>
                    <a:p>
                      <a:pPr lvl="0" indent="0" marL="0" algn="r">
                        <a:buNone/>
                      </a:pPr>
                      <a:r>
                        <a:rPr/>
                        <a:t>65.93407</a:t>
                      </a:r>
                    </a:p>
                  </a:txBody>
                </a:tc>
                <a:tc>
                  <a:txBody>
                    <a:bodyPr/>
                    <a:lstStyle/>
                    <a:p>
                      <a:pPr lvl="0" indent="0" marL="0" algn="r">
                        <a:buNone/>
                      </a:pPr>
                      <a:r>
                        <a:rPr/>
                        <a:t>70.66246</a:t>
                      </a:r>
                    </a:p>
                  </a:txBody>
                </a:tc>
                <a:tc>
                  <a:txBody>
                    <a:bodyPr/>
                    <a:lstStyle/>
                    <a:p>
                      <a:pPr lvl="0" indent="0" marL="0" algn="r">
                        <a:buNone/>
                      </a:pPr>
                      <a:r>
                        <a:rPr/>
                        <a:t>71.14625</a:t>
                      </a:r>
                    </a:p>
                  </a:txBody>
                </a:tc>
                <a:tc>
                  <a:txBody>
                    <a:bodyPr/>
                    <a:lstStyle/>
                    <a:p>
                      <a:pPr lvl="0" indent="0" marL="0" algn="r">
                        <a:buNone/>
                      </a:pPr>
                      <a:r>
                        <a:rPr/>
                        <a:t>67.47714</a:t>
                      </a:r>
                    </a:p>
                  </a:txBody>
                </a:tc>
                <a:tc>
                  <a:txBody>
                    <a:bodyPr/>
                    <a:lstStyle/>
                    <a:p>
                      <a:pPr lvl="0" indent="0" marL="0" algn="r">
                        <a:buNone/>
                      </a:pPr>
                      <a:r>
                        <a:rPr/>
                        <a:t>69.04313</a:t>
                      </a:r>
                    </a:p>
                  </a:txBody>
                </a:tc>
              </a:tr>
              <a:tr h="0">
                <a:tc>
                  <a:txBody>
                    <a:bodyPr/>
                    <a:lstStyle/>
                    <a:p>
                      <a:pPr lvl="0" indent="0" marL="0" algn="l">
                        <a:buNone/>
                      </a:pPr>
                      <a:r>
                        <a:rPr/>
                        <a:t>2</a:t>
                      </a:r>
                    </a:p>
                  </a:txBody>
                </a:tc>
                <a:tc>
                  <a:txBody>
                    <a:bodyPr/>
                    <a:lstStyle/>
                    <a:p>
                      <a:pPr lvl="0" indent="0" marL="0" algn="l">
                        <a:buNone/>
                      </a:pPr>
                      <a:r>
                        <a:rPr/>
                        <a:t>Consistency_zs_Cond_weekday</a:t>
                      </a:r>
                    </a:p>
                  </a:txBody>
                </a:tc>
                <a:tc>
                  <a:txBody>
                    <a:bodyPr/>
                    <a:lstStyle/>
                    <a:p>
                      <a:pPr lvl="0" indent="0" marL="0" algn="r">
                        <a:buNone/>
                      </a:pPr>
                      <a:r>
                        <a:rPr/>
                        <a:t>67.0509</a:t>
                      </a:r>
                    </a:p>
                  </a:txBody>
                </a:tc>
                <a:tc>
                  <a:txBody>
                    <a:bodyPr/>
                    <a:lstStyle/>
                    <a:p>
                      <a:pPr lvl="0" indent="0" marL="0" algn="r">
                        <a:buNone/>
                      </a:pPr>
                      <a:r>
                        <a:rPr/>
                        <a:t>0.5399420</a:t>
                      </a:r>
                    </a:p>
                  </a:txBody>
                </a:tc>
                <a:tc>
                  <a:txBody>
                    <a:bodyPr/>
                    <a:lstStyle/>
                    <a:p>
                      <a:pPr lvl="0" indent="0" marL="0" algn="r">
                        <a:buNone/>
                      </a:pPr>
                      <a:r>
                        <a:rPr/>
                        <a:t>77.44108</a:t>
                      </a:r>
                    </a:p>
                  </a:txBody>
                </a:tc>
                <a:tc>
                  <a:txBody>
                    <a:bodyPr/>
                    <a:lstStyle/>
                    <a:p>
                      <a:pPr lvl="0" indent="0" marL="0" algn="r">
                        <a:buNone/>
                      </a:pPr>
                      <a:r>
                        <a:rPr/>
                        <a:t>58.24176</a:t>
                      </a:r>
                    </a:p>
                  </a:txBody>
                </a:tc>
                <a:tc>
                  <a:txBody>
                    <a:bodyPr/>
                    <a:lstStyle/>
                    <a:p>
                      <a:pPr lvl="0" indent="0" marL="0" algn="r">
                        <a:buNone/>
                      </a:pPr>
                      <a:r>
                        <a:rPr/>
                        <a:t>66.86047</a:t>
                      </a:r>
                    </a:p>
                  </a:txBody>
                </a:tc>
                <a:tc>
                  <a:txBody>
                    <a:bodyPr/>
                    <a:lstStyle/>
                    <a:p>
                      <a:pPr lvl="0" indent="0" marL="0" algn="r">
                        <a:buNone/>
                      </a:pPr>
                      <a:r>
                        <a:rPr/>
                        <a:t>70.35398</a:t>
                      </a:r>
                    </a:p>
                  </a:txBody>
                </a:tc>
                <a:tc>
                  <a:txBody>
                    <a:bodyPr/>
                    <a:lstStyle/>
                    <a:p>
                      <a:pPr lvl="0" indent="0" marL="0" algn="r">
                        <a:buNone/>
                      </a:pPr>
                      <a:r>
                        <a:rPr/>
                        <a:t>66.03741</a:t>
                      </a:r>
                    </a:p>
                  </a:txBody>
                </a:tc>
                <a:tc>
                  <a:txBody>
                    <a:bodyPr/>
                    <a:lstStyle/>
                    <a:p>
                      <a:pPr lvl="0" indent="0" marL="0" algn="r">
                        <a:buNone/>
                      </a:pPr>
                      <a:r>
                        <a:rPr/>
                        <a:t>68.06429</a:t>
                      </a:r>
                    </a:p>
                  </a:txBody>
                </a:tc>
              </a:tr>
              <a:tr h="0">
                <a:tc>
                  <a:txBody>
                    <a:bodyPr/>
                    <a:lstStyle/>
                    <a:p>
                      <a:pPr lvl="0" indent="0" marL="0" algn="l">
                        <a:buNone/>
                      </a:pPr>
                      <a:r>
                        <a:rPr/>
                        <a:t>5</a:t>
                      </a:r>
                    </a:p>
                  </a:txBody>
                </a:tc>
                <a:tc>
                  <a:txBody>
                    <a:bodyPr/>
                    <a:lstStyle/>
                    <a:p>
                      <a:pPr lvl="0" indent="0" marL="0" algn="l">
                        <a:buNone/>
                      </a:pPr>
                      <a:r>
                        <a:rPr/>
                        <a:t>GA_isValidStructCond_weekday</a:t>
                      </a:r>
                    </a:p>
                  </a:txBody>
                </a:tc>
                <a:tc>
                  <a:txBody>
                    <a:bodyPr/>
                    <a:lstStyle/>
                    <a:p>
                      <a:pPr lvl="0" indent="0" marL="0" algn="r">
                        <a:buNone/>
                      </a:pPr>
                      <a:r>
                        <a:rPr/>
                        <a:t>66.6556</a:t>
                      </a:r>
                    </a:p>
                  </a:txBody>
                </a:tc>
                <a:tc>
                  <a:txBody>
                    <a:bodyPr/>
                    <a:lstStyle/>
                    <a:p>
                      <a:pPr lvl="0" indent="0" marL="0" algn="r">
                        <a:buNone/>
                      </a:pPr>
                      <a:r>
                        <a:rPr/>
                        <a:t>0.5000000</a:t>
                      </a:r>
                    </a:p>
                  </a:txBody>
                </a:tc>
                <a:tc>
                  <a:txBody>
                    <a:bodyPr/>
                    <a:lstStyle/>
                    <a:p>
                      <a:pPr lvl="0" indent="0" marL="0" algn="r">
                        <a:buNone/>
                      </a:pPr>
                      <a:r>
                        <a:rPr/>
                        <a:t>88.64469</a:t>
                      </a:r>
                    </a:p>
                  </a:txBody>
                </a:tc>
                <a:tc>
                  <a:txBody>
                    <a:bodyPr/>
                    <a:lstStyle/>
                    <a:p>
                      <a:pPr lvl="0" indent="0" marL="0" algn="r">
                        <a:buNone/>
                      </a:pPr>
                      <a:r>
                        <a:rPr/>
                        <a:t>36.70034</a:t>
                      </a:r>
                    </a:p>
                  </a:txBody>
                </a:tc>
                <a:tc>
                  <a:txBody>
                    <a:bodyPr/>
                    <a:lstStyle/>
                    <a:p>
                      <a:pPr lvl="0" indent="0" marL="0" algn="r">
                        <a:buNone/>
                      </a:pPr>
                      <a:r>
                        <a:rPr/>
                        <a:t>56.27907</a:t>
                      </a:r>
                    </a:p>
                  </a:txBody>
                </a:tc>
                <a:tc>
                  <a:txBody>
                    <a:bodyPr/>
                    <a:lstStyle/>
                    <a:p>
                      <a:pPr lvl="0" indent="0" marL="0" algn="r">
                        <a:buNone/>
                      </a:pPr>
                      <a:r>
                        <a:rPr/>
                        <a:t>77.85714</a:t>
                      </a:r>
                    </a:p>
                  </a:txBody>
                </a:tc>
                <a:tc>
                  <a:txBody>
                    <a:bodyPr/>
                    <a:lstStyle/>
                    <a:p>
                      <a:pPr lvl="0" indent="0" marL="0" algn="r">
                        <a:buNone/>
                      </a:pPr>
                      <a:r>
                        <a:rPr/>
                        <a:t>64.31845</a:t>
                      </a:r>
                    </a:p>
                  </a:txBody>
                </a:tc>
                <a:tc>
                  <a:txBody>
                    <a:bodyPr/>
                    <a:lstStyle/>
                    <a:p>
                      <a:pPr lvl="0" indent="0" marL="0" algn="r">
                        <a:buNone/>
                      </a:pPr>
                      <a:r>
                        <a:rPr/>
                        <a:t>68.99268</a:t>
                      </a:r>
                    </a:p>
                  </a:txBody>
                </a:tc>
              </a:tr>
              <a:tr h="0">
                <a:tc>
                  <a:txBody>
                    <a:bodyPr/>
                    <a:lstStyle/>
                    <a:p>
                      <a:pPr lvl="0" indent="0" marL="0" algn="l">
                        <a:buNone/>
                      </a:pPr>
                      <a:r>
                        <a:rPr/>
                        <a:t>6</a:t>
                      </a:r>
                    </a:p>
                  </a:txBody>
                </a:tc>
                <a:tc>
                  <a:txBody>
                    <a:bodyPr/>
                    <a:lstStyle/>
                    <a:p>
                      <a:pPr lvl="0" indent="0" marL="0" algn="l">
                        <a:buNone/>
                      </a:pPr>
                      <a:r>
                        <a:rPr/>
                        <a:t>GA_isValidStructCond_number</a:t>
                      </a:r>
                    </a:p>
                  </a:txBody>
                </a:tc>
                <a:tc>
                  <a:txBody>
                    <a:bodyPr/>
                    <a:lstStyle/>
                    <a:p>
                      <a:pPr lvl="0" indent="0" marL="0" algn="r">
                        <a:buNone/>
                      </a:pPr>
                      <a:r>
                        <a:rPr/>
                        <a:t>59.6743</a:t>
                      </a:r>
                    </a:p>
                  </a:txBody>
                </a:tc>
                <a:tc>
                  <a:txBody>
                    <a:bodyPr/>
                    <a:lstStyle/>
                    <a:p>
                      <a:pPr lvl="0" indent="0" marL="0" algn="r">
                        <a:buNone/>
                      </a:pPr>
                      <a:r>
                        <a:rPr/>
                        <a:t>0.1666667</a:t>
                      </a:r>
                    </a:p>
                  </a:txBody>
                </a:tc>
                <a:tc>
                  <a:txBody>
                    <a:bodyPr/>
                    <a:lstStyle/>
                    <a:p>
                      <a:pPr lvl="0" indent="0" marL="0" algn="r">
                        <a:buNone/>
                      </a:pPr>
                      <a:r>
                        <a:rPr/>
                        <a:t>81.31868</a:t>
                      </a:r>
                    </a:p>
                  </a:txBody>
                </a:tc>
                <a:tc>
                  <a:txBody>
                    <a:bodyPr/>
                    <a:lstStyle/>
                    <a:p>
                      <a:pPr lvl="0" indent="0" marL="0" algn="r">
                        <a:buNone/>
                      </a:pPr>
                      <a:r>
                        <a:rPr/>
                        <a:t>37.71044</a:t>
                      </a:r>
                    </a:p>
                  </a:txBody>
                </a:tc>
                <a:tc>
                  <a:txBody>
                    <a:bodyPr/>
                    <a:lstStyle/>
                    <a:p>
                      <a:pPr lvl="0" indent="0" marL="0" algn="r">
                        <a:buNone/>
                      </a:pPr>
                      <a:r>
                        <a:rPr/>
                        <a:t>54.54545</a:t>
                      </a:r>
                    </a:p>
                  </a:txBody>
                </a:tc>
                <a:tc>
                  <a:txBody>
                    <a:bodyPr/>
                    <a:lstStyle/>
                    <a:p>
                      <a:pPr lvl="0" indent="0" marL="0" algn="r">
                        <a:buNone/>
                      </a:pPr>
                      <a:r>
                        <a:rPr/>
                        <a:t>68.71166</a:t>
                      </a:r>
                    </a:p>
                  </a:txBody>
                </a:tc>
                <a:tc>
                  <a:txBody>
                    <a:bodyPr/>
                    <a:lstStyle/>
                    <a:p>
                      <a:pPr lvl="0" indent="0" marL="0" algn="r">
                        <a:buNone/>
                      </a:pPr>
                      <a:r>
                        <a:rPr/>
                        <a:t>57.57482</a:t>
                      </a:r>
                    </a:p>
                  </a:txBody>
                </a:tc>
                <a:tc>
                  <a:txBody>
                    <a:bodyPr/>
                    <a:lstStyle/>
                    <a:p>
                      <a:pPr lvl="0" indent="0" marL="0" algn="r">
                        <a:buNone/>
                      </a:pPr>
                      <a:r>
                        <a:rPr/>
                        <a:t>61.77373</a:t>
                      </a:r>
                    </a:p>
                  </a:txBody>
                </a:tc>
              </a:tr>
            </a:tbl>
          </a:graphicData>
        </a:graphic>
      </p:graphicFrame>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20. Graph</a:t>
            </a:r>
          </a:p>
        </p:txBody>
      </p:sp>
      <p:pic>
        <p:nvPicPr>
          <p:cNvPr descr="2.Pre-registeredReport_V4_minimal_files/figure-pptx/unnamed-chunk-26-1.png" id="0" name="Picture 1"/>
          <p:cNvPicPr>
            <a:picLocks noGrp="1" noChangeAspect="1"/>
          </p:cNvPicPr>
          <p:nvPr/>
        </p:nvPicPr>
        <p:blipFill>
          <a:blip r:embed="rId2"/>
          <a:stretch>
            <a:fillRect/>
          </a:stretch>
        </p:blipFill>
        <p:spPr bwMode="auto">
          <a:xfrm>
            <a:off x="2451100" y="1193800"/>
            <a:ext cx="4241800" cy="3390900"/>
          </a:xfrm>
          <a:prstGeom prst="rect">
            <a:avLst/>
          </a:prstGeom>
          <a:noFill/>
          <a:ln w="9525">
            <a:noFill/>
            <a:headEnd/>
            <a:tailEnd/>
          </a:ln>
        </p:spPr>
      </p:pic>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21. References</a:t>
            </a:r>
          </a:p>
        </p:txBody>
      </p:sp>
      <p:sp>
        <p:nvSpPr>
          <p:cNvPr id="3" name="Content Placeholder 2"/>
          <p:cNvSpPr>
            <a:spLocks noGrp="1"/>
          </p:cNvSpPr>
          <p:nvPr>
            <p:ph idx="1"/>
          </p:nvPr>
        </p:nvSpPr>
        <p:spPr/>
        <p:txBody>
          <a:bodyPr/>
          <a:lstStyle/>
          <a:p>
            <a:pPr lvl="0" indent="0" marL="0">
              <a:buNone/>
            </a:pPr>
            <a:r>
              <a:rPr/>
              <a:t>Brang, David, Luke E. Miller, Marguerite McQuire, V. S. Ramachandran, and Seana Coulson. 2013. “Enhanced Mental Rotation Ability in Time-Space Synesthesia.” </a:t>
            </a:r>
            <a:r>
              <a:rPr i="1"/>
              <a:t>Cognitive Processing</a:t>
            </a:r>
            <a:r>
              <a:rPr/>
              <a:t> 14 (4): 429–34. </a:t>
            </a:r>
            <a:r>
              <a:rPr>
                <a:hlinkClick r:id="rId2"/>
              </a:rPr>
              <a:t>https://doi.org/10.1007/s10339-013-0561-5</a:t>
            </a:r>
            <a:r>
              <a:rPr/>
              <a:t>.</a:t>
            </a:r>
          </a:p>
          <a:p>
            <a:pPr lvl="0" indent="0" marL="0">
              <a:buNone/>
            </a:pPr>
            <a:r>
              <a:rPr/>
              <a:t>Deroy, Ophelia, and Charles Spence. 2013. “Why We Are Not All Synesthetes (Not Even Weakly So).” </a:t>
            </a:r>
            <a:r>
              <a:rPr i="1"/>
              <a:t>Psychonomic Bulletin &amp; Review</a:t>
            </a:r>
            <a:r>
              <a:rPr/>
              <a:t> 20 (4): 643–64. </a:t>
            </a:r>
            <a:r>
              <a:rPr>
                <a:hlinkClick r:id="rId3"/>
              </a:rPr>
              <a:t>https://doi.org/10.3758/s13423-013-0387-2</a:t>
            </a:r>
            <a:r>
              <a:rPr/>
              <a:t>.</a:t>
            </a:r>
          </a:p>
          <a:p>
            <a:pPr lvl="0" indent="0" marL="0">
              <a:buNone/>
            </a:pPr>
            <a:r>
              <a:rPr/>
              <a:t>Galton, Francis. 1880. “Visualised Numerals.” </a:t>
            </a:r>
            <a:r>
              <a:rPr i="1"/>
              <a:t>Nature</a:t>
            </a:r>
            <a:r>
              <a:rPr/>
              <a:t> 21 (533): 252–56. </a:t>
            </a:r>
            <a:r>
              <a:rPr>
                <a:hlinkClick r:id="rId4"/>
              </a:rPr>
              <a:t>https://doi.org/10.1038/021252a0</a:t>
            </a:r>
            <a:r>
              <a:rPr/>
              <a:t>.</a:t>
            </a:r>
          </a:p>
          <a:p>
            <a:pPr lvl="0" indent="0" marL="0">
              <a:buNone/>
            </a:pPr>
            <a:r>
              <a:rPr/>
              <a:t>Pebesma, Edzer. 2018. “Simple Features for R: Standardized Support for Spatial Vector Data.” </a:t>
            </a:r>
            <a:r>
              <a:rPr i="1"/>
              <a:t>The R Journal</a:t>
            </a:r>
            <a:r>
              <a:rPr/>
              <a:t> 10 (1): 439–46. </a:t>
            </a:r>
            <a:r>
              <a:rPr>
                <a:hlinkClick r:id="rId5"/>
              </a:rPr>
              <a:t>https://doi.org/10.32614/RJ-2018-009</a:t>
            </a:r>
            <a:r>
              <a:rPr/>
              <a:t>.</a:t>
            </a:r>
          </a:p>
          <a:p>
            <a:pPr lvl="0" indent="0" marL="0">
              <a:buNone/>
            </a:pPr>
            <a:r>
              <a:rPr/>
              <a:t>Piazza, M., P. Pinel, and S. Dehaene. 2006. “Objective Correlates of an Unusual Subjective Experience: A Single-Case Study of Numberform Synaesthesia.” </a:t>
            </a:r>
            <a:r>
              <a:rPr i="1"/>
              <a:t>Cognitive Neuropsychology</a:t>
            </a:r>
            <a:r>
              <a:rPr/>
              <a:t> 23 (8): 1162–73. </a:t>
            </a:r>
            <a:r>
              <a:rPr>
                <a:hlinkClick r:id="rId6"/>
              </a:rPr>
              <a:t>https://doi.org/10.1080/02643290600780080</a:t>
            </a:r>
            <a:r>
              <a:rPr/>
              <a:t>.</a:t>
            </a:r>
          </a:p>
          <a:p>
            <a:pPr lvl="0" indent="0" marL="0">
              <a:buNone/>
            </a:pPr>
            <a:r>
              <a:rPr/>
              <a:t>Root, Nicholas, Michiko Asano, Helena Melero, Chai-Youn Kim, Anton V. Sidoroff-Dorso, Argiro Vatakis, Kazuhiko Yokosawa, Vilayanur Ramachandran, and Romke Rouw. 2021. “Do the Colors of Your Letters Depend on Your Language? Language-Dependent and Universal Influences on Grapheme-Color Synesthesia in Seven Languages.” </a:t>
            </a:r>
            <a:r>
              <a:rPr i="1"/>
              <a:t>Consciousness and Cognition</a:t>
            </a:r>
            <a:r>
              <a:rPr/>
              <a:t> 95 (October): 103192. </a:t>
            </a:r>
            <a:r>
              <a:rPr>
                <a:hlinkClick r:id="rId7"/>
              </a:rPr>
              <a:t>https://doi.org/10.1016/j.concog.2021.103192</a:t>
            </a:r>
            <a:r>
              <a:rPr/>
              <a:t>.</a:t>
            </a:r>
          </a:p>
          <a:p>
            <a:pPr lvl="0" indent="0" marL="0">
              <a:buNone/>
            </a:pPr>
            <a:r>
              <a:rPr/>
              <a:t>Root, Nicholas, Ana Chkhaidze, Helena Melero, Anton Sidoroff-Dorso, Gregor Volberg, Yijia Zhang, and Romke Rouw. 2025. “How “Diagnostic” Criteria Interact to Shape Synesthetic Behavior: The Role of Self-Report and Testretest Consistency in Synesthesia Research.” </a:t>
            </a:r>
            <a:r>
              <a:rPr i="1"/>
              <a:t>Consciousness and Cognition</a:t>
            </a:r>
            <a:r>
              <a:rPr/>
              <a:t> 129 (March): 103819. </a:t>
            </a:r>
            <a:r>
              <a:rPr>
                <a:hlinkClick r:id="rId8"/>
              </a:rPr>
              <a:t>https://doi.org/10.1016/j.concog.2025.103819</a:t>
            </a:r>
            <a:r>
              <a:rPr/>
              <a:t>.</a:t>
            </a:r>
          </a:p>
          <a:p>
            <a:pPr lvl="0" indent="0" marL="0">
              <a:buNone/>
            </a:pPr>
            <a:r>
              <a:rPr/>
              <a:t>Rothen, Nicolas, Kristin Jünemann, Andy D. Mealor, Vera Burckhardt, and Jamie Ward. 2016. “The Sensitivity and Specificity of a Diagnostic Test of Sequence-Space Synesthesia.” </a:t>
            </a:r>
            <a:r>
              <a:rPr i="1"/>
              <a:t>Behavior Research Methods</a:t>
            </a:r>
            <a:r>
              <a:rPr/>
              <a:t> 48 (4): 1476–81. </a:t>
            </a:r>
            <a:r>
              <a:rPr>
                <a:hlinkClick r:id="rId9"/>
              </a:rPr>
              <a:t>https://doi.org/10.3758/s13428-015-0656-2</a:t>
            </a:r>
            <a:r>
              <a:rPr/>
              <a:t>.</a:t>
            </a:r>
          </a:p>
          <a:p>
            <a:pPr lvl="0" indent="0" marL="0">
              <a:buNone/>
            </a:pPr>
            <a:r>
              <a:rPr/>
              <a:t>Rothen, Nicolas, Anil K. Seth, Christoph Witzel, and Jamie Ward. 2013. “Diagnosing Synaesthesia with Online Colour Pickers: Maximising Sensitivity and Specificity.” </a:t>
            </a:r>
            <a:r>
              <a:rPr i="1"/>
              <a:t>Journal of Neuroscience Methods</a:t>
            </a:r>
            <a:r>
              <a:rPr/>
              <a:t> 215 (1): 156–60. </a:t>
            </a:r>
            <a:r>
              <a:rPr>
                <a:hlinkClick r:id="rId10"/>
              </a:rPr>
              <a:t>https://doi.org/10.1016/j.jneumeth.2013.02.009</a:t>
            </a:r>
            <a:r>
              <a:rPr/>
              <a:t>.</a:t>
            </a:r>
          </a:p>
          <a:p>
            <a:pPr lvl="0" indent="0" marL="0">
              <a:buNone/>
            </a:pPr>
            <a:r>
              <a:rPr/>
              <a:t>Sagiv, N, J Simner, J Collins, B Butterworth, and J Ward. 2006. “What Is the Relationship Between Synaesthesia and Visuo-Spatial Number Forms?” </a:t>
            </a:r>
            <a:r>
              <a:rPr i="1"/>
              <a:t>Cognition</a:t>
            </a:r>
            <a:r>
              <a:rPr/>
              <a:t> 101 (1): 114–28. </a:t>
            </a:r>
            <a:r>
              <a:rPr>
                <a:hlinkClick r:id="rId11"/>
              </a:rPr>
              <a:t>https://doi.org/10.1016/j.cognition.2005.09.004</a:t>
            </a:r>
            <a:r>
              <a:rPr/>
              <a:t>.</a:t>
            </a:r>
          </a:p>
          <a:p>
            <a:pPr lvl="0" indent="0" marL="0">
              <a:buNone/>
            </a:pPr>
            <a:r>
              <a:rPr/>
              <a:t>Seron, Xavier, Mauro Pesenti, Marie-Pascale Noël, Gérard Deloche, and Jacques-André Cornet. 1992. “Images of numbers, or “when 98 is upper left and 6 sky blue”.” </a:t>
            </a:r>
            <a:r>
              <a:rPr i="1"/>
              <a:t>Cognition</a:t>
            </a:r>
            <a:r>
              <a:rPr/>
              <a:t>, Numerical Cognition, 44 (1): 159–96. </a:t>
            </a:r>
            <a:r>
              <a:rPr>
                <a:hlinkClick r:id="rId12"/>
              </a:rPr>
              <a:t>https://doi.org/10.1016/0010-0277(92)90053-K</a:t>
            </a:r>
            <a:r>
              <a:rPr/>
              <a:t>.</a:t>
            </a:r>
          </a:p>
          <a:p>
            <a:pPr lvl="0" indent="0" marL="0">
              <a:buNone/>
            </a:pPr>
            <a:r>
              <a:rPr/>
              <a:t>Van Petersen, Eline, Mareike Altgassen, Rob Van Lier, and Tessa M. Van Leeuwen. 2020b. “Enhanced Spatial Navigation Skills in Sequence-Space Synesthetes.” </a:t>
            </a:r>
            <a:r>
              <a:rPr i="1"/>
              <a:t>Cortex</a:t>
            </a:r>
            <a:r>
              <a:rPr/>
              <a:t> 130 (September): 49–63. </a:t>
            </a:r>
            <a:r>
              <a:rPr>
                <a:hlinkClick r:id="rId13"/>
              </a:rPr>
              <a:t>https://doi.org/10.1016/j.cortex.2020.04.034</a:t>
            </a:r>
            <a:r>
              <a:rPr/>
              <a:t>.</a:t>
            </a:r>
          </a:p>
          <a:p>
            <a:pPr lvl="0" indent="0" marL="0">
              <a:buNone/>
            </a:pPr>
            <a:r>
              <a:rPr/>
              <a:t>———. 2020a. “Enhanced Spatial Navigation Skills in Sequence-Space Synesthetes.” </a:t>
            </a:r>
            <a:r>
              <a:rPr i="1"/>
              <a:t>Cortex</a:t>
            </a:r>
            <a:r>
              <a:rPr/>
              <a:t> 130 (September): 49–63. </a:t>
            </a:r>
            <a:r>
              <a:rPr>
                <a:hlinkClick r:id="rId14"/>
              </a:rPr>
              <a:t>https://doi.org/10.1016/j.cortex.2020.04.034</a:t>
            </a:r>
            <a:r>
              <a:rPr/>
              <a:t>.</a:t>
            </a:r>
          </a:p>
          <a:p>
            <a:pPr lvl="0" indent="0" marL="0">
              <a:buNone/>
            </a:pPr>
            <a:r>
              <a:rPr/>
              <a:t>Ward, Jamie. n.d. “Optimizing a Measure of Consistency for Sequence-Space Synaesthesia.” </a:t>
            </a:r>
            <a:r>
              <a:rPr>
                <a:hlinkClick r:id="rId15"/>
              </a:rPr>
              <a:t>https://doi.org/10.31234/osf.io/5cnr7</a:t>
            </a:r>
            <a:r>
              <a:rPr/>
              <a:t>.</a:t>
            </a:r>
          </a:p>
          <a:p>
            <a:pPr lvl="0" indent="0" marL="0">
              <a:buNone/>
            </a:pPr>
            <a:r>
              <a:rPr/>
              <a:t>Ward, Jamie, Alberta Ipser, Eva Phanvanova, Paris Brown, Iris Bunte, and Julia Simner. 2018. “The Prevalence and Cognitive Profile of Sequence-Space Synaesthesia.” </a:t>
            </a:r>
            <a:r>
              <a:rPr i="1"/>
              <a:t>Consciousness and Cognition</a:t>
            </a:r>
            <a:r>
              <a:rPr/>
              <a:t> 61 (May): 79–93. </a:t>
            </a:r>
            <a:r>
              <a:rPr>
                <a:hlinkClick r:id="rId16"/>
              </a:rPr>
              <a:t>https://doi.org/10.1016/j.concog.2018.03.012</a:t>
            </a:r>
            <a:r>
              <a:rPr/>
              <a:t>.</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Notes</a:t>
            </a:r>
          </a:p>
        </p:txBody>
      </p:sp>
      <p:sp>
        <p:nvSpPr>
          <p:cNvPr id="3" name="Content Placeholder 2"/>
          <p:cNvSpPr>
            <a:spLocks noGrp="1"/>
          </p:cNvSpPr>
          <p:nvPr>
            <p:ph idx="1"/>
          </p:nvPr>
        </p:nvSpPr>
        <p:spPr/>
        <p:txBody>
          <a:bodyPr/>
          <a:lstStyle/>
          <a:p>
            <a:pPr lvl="0" indent="0" marL="0">
              <a:buNone/>
            </a:pPr>
            <a:r>
              <a:rPr sz="1800"/>
              <a:t>1. Of which we replicate the original results (Rothen et al. 2016) in a separate document</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Pre-registered report: Space Sequence Synesthesia Diagnostic using form mapping</dc:title>
  <dc:creator/>
  <cp:keywords/>
  <dcterms:created xsi:type="dcterms:W3CDTF">2025-11-06T13:19:08Z</dcterms:created>
  <dcterms:modified xsi:type="dcterms:W3CDTF">2025-11-06T13:19:08Z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bibliography">
    <vt:lpwstr>references.bib</vt:lpwstr>
  </property>
  <property fmtid="{D5CDD505-2E9C-101B-9397-08002B2CF9AE}" pid="4" name="date">
    <vt:lpwstr>2025-11-06</vt:lpwstr>
  </property>
  <property fmtid="{D5CDD505-2E9C-101B-9397-08002B2CF9AE}" pid="5" name="editor_options">
    <vt:lpwstr/>
  </property>
  <property fmtid="{D5CDD505-2E9C-101B-9397-08002B2CF9AE}" pid="6" name="header-includes">
    <vt:lpwstr/>
  </property>
  <property fmtid="{D5CDD505-2E9C-101B-9397-08002B2CF9AE}" pid="7" name="include-after">
    <vt:lpwstr/>
  </property>
  <property fmtid="{D5CDD505-2E9C-101B-9397-08002B2CF9AE}" pid="8" name="include-before">
    <vt:lpwstr/>
  </property>
  <property fmtid="{D5CDD505-2E9C-101B-9397-08002B2CF9AE}" pid="9" name="labels">
    <vt:lpwstr/>
  </property>
  <property fmtid="{D5CDD505-2E9C-101B-9397-08002B2CF9AE}" pid="10" name="link-citations">
    <vt:lpwstr>True</vt:lpwstr>
  </property>
  <property fmtid="{D5CDD505-2E9C-101B-9397-08002B2CF9AE}" pid="11" name="toc-title">
    <vt:lpwstr>Table of contents</vt:lpwstr>
  </property>
</Properties>
</file>